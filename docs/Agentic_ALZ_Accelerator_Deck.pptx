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Agentic Azure Landing Zone Accelerator — an enterprise-grade multi-agent framework for deploying Azure Landing Zones aligned with Cloud Adoption Framework and APEX patterns.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Azure Landing Zone deployments today are complex, slow, and error-prone. 8 CAF design areas, 10+ subscriptions, manual IaC, and security as an afterthought. Day-2 drift goes undetected without continuous monitoring.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Multi-agent AI workflow aligned with CAF + APEX patterns. 10 specialized agents with 6 human approval gates. Dual IaC support (Bicep + Terraform). Security-first with non-negotiable baseline enforcement. Day-2 continuous monitoring and auto-remediation. GitHub CI/CD with OIDC — no stored secrets.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pillars: AI Orchestrates (agents handle repetitive complex tasks), Humans Decide (6 approval gates with adversarial Challenger reviews), Azure Executes (what-if previews before any changes are applied).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8 Cloud Adoption Framework design areas are mapped to IaC modules. Each area has dedicated Bicep and Terraform modules with parameterized configurations.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agent is a Semantic Kernel function-calling agent with specialized tools and MCP server access. Agents communicate via structured messages through the Orchestrator (Conductor).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 1-3.5 are shared across Bicep and Terraform tracks. Steps 4-6 branch by IaC tool. Steps 8-9 run continuously for Day-2 operations. 6 approval gates are positioned throughout the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Gates are non-negotiable. The Challenger agent performs adversarial reviews at gates 1, 2, 4, and 5. Complexity tier determines challenger depth (1x-3x passes). No deployment proceeds without explicit human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MCP (Model Context Protocol) servers give agents real-time access to Azure APIs via a standardized protocol. Each server exposes tools that agents can call for pricing, compliance, deployment, and monitoring.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Management must be first because all other LZs send logs there. Security is 4th because it monitors everything. Strict sequential ordering prevents circular dependencies.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Management is deployed first because all other landing zones depend on it for centralized logging and monitoring. Log Analytics Workspace with 365-day retention is the foundation for compliance and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Hub-spoke or Azure Virtual WAN topology is configurable. Azure Firewall Premium provides TLS inspection, IDPS, and URL filtering. 20 Private DNS Zones cover all common Azure PaaS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identity modes supported: Active Directory Domain Services (ADDS), Azure Active Directory Domain Services (AADDS), and Hybrid. Production requires minimum 2 domain controllers for HA. PIM enforces just-in-time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as a separate subscription enforces separation of duties between SecOps and platform ops. Dedicated Sentinel workspace with 730-day retention for forensic investigations.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Application landing zones are config-driven from subscriptions.json. Fully customizable — rename, add, or remove via JSON configuration. Each archetype (Corp, Online, Sandbox) has different network and policy profiles.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validate_security_baseline.py script runs at pre-commit, CI, and deployment. Extended checks cover Redis, FTPS, remote debug, Cosmos, PostgreSQL, and 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 governance is built into the pipeline — no budget means no merge. Real-time cost estimation via Azure Pricing MCP server. Per-environment budgets are parameterized and enforced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23 jobs across 6 workflows use vars.RUNNER_LABEL for self-hosted runner support. Set once via gh variable set RUNNER_LABEL. OIDC authentication — no stored secrets.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Design Documents are auto-generated after every deployment. Uploaded as pipeline artifacts (90-day retention) and saved to docs/tdd/. Uses official Azure architecture icons.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 Excel checklist with networking, security, and identity teams to gather inputs in parallel before running the bootstrap workflow. 3 tabs cover all configuration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End-to-end deployment from zero to a fully operational multi-subscription Azure Landing Zone with monitoring. Typical timeline: 2-4 weeks including stakeholder reviews at each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slide recapping the key numbers: 10 agents, 6 gates, 8 CAF areas, 5 MCP servers, 6 CI/CD workflows, 2 IaC engines. Dual IaC (Bicep + Terraform), 6 non-negotiable security rules, Day-2 monitoring + auto-remediation. Config-driven, fully customizable.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920240"/>
          </a:xfrm>
          <a:prstGeom prst="rect">
            <a:avLst/>
          </a:prstGeom>
          <a:solidFill>
            <a:srgbClr val="1223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920240"/>
            <a:ext cx="9144000" cy="54864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Azure Landing Zone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Accelerator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FA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Orchestrates  ·  Humans Decide  ·  Azure Executes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|  Stakeholder Presentation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840480"/>
            <a:ext cx="2194560" cy="914400"/>
          </a:xfrm>
          <a:prstGeom prst="rect">
            <a:avLst/>
          </a:prstGeom>
          <a:solidFill>
            <a:srgbClr val="162B50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8587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8B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43708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3840480"/>
            <a:ext cx="2194560" cy="914400"/>
          </a:xfrm>
          <a:prstGeom prst="rect">
            <a:avLst/>
          </a:prstGeom>
          <a:solidFill>
            <a:srgbClr val="162B50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38587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8B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00400" y="43708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0" y="3840480"/>
            <a:ext cx="2194560" cy="914400"/>
          </a:xfrm>
          <a:prstGeom prst="rect">
            <a:avLst/>
          </a:prstGeom>
          <a:solidFill>
            <a:srgbClr val="162B50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38587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8B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760720" y="43708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 Design Areas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2011680" cy="32004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6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8BC0">
              <a:alpha val="3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1051560"/>
            <a:ext cx="8138160" cy="64008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1051560"/>
            <a:ext cx="54864" cy="640080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051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8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Complexity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743200" y="105156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CAF design areas, 10+ subscriptions — massive coordination overhead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1801368"/>
            <a:ext cx="8138160" cy="64008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13" name="Shape 10"/>
          <p:cNvSpPr/>
          <p:nvPr/>
        </p:nvSpPr>
        <p:spPr>
          <a:xfrm>
            <a:off x="502920" y="1801368"/>
            <a:ext cx="54864" cy="640080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180136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8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IaC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743200" y="1801368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Hand-crafted Bicep/Terraform is error-prone and slow to author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02920" y="2551176"/>
            <a:ext cx="8138160" cy="64008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17" name="Shape 14"/>
          <p:cNvSpPr/>
          <p:nvPr/>
        </p:nvSpPr>
        <p:spPr>
          <a:xfrm>
            <a:off x="502920" y="2551176"/>
            <a:ext cx="54864" cy="640080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2551176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8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Gaps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743200" y="2551176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and security are often afterthoughts, bolted on late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02920" y="3300984"/>
            <a:ext cx="8138160" cy="64008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21" name="Shape 18"/>
          <p:cNvSpPr/>
          <p:nvPr/>
        </p:nvSpPr>
        <p:spPr>
          <a:xfrm>
            <a:off x="502920" y="3300984"/>
            <a:ext cx="54864" cy="640080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330098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8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Monitoring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2743200" y="3300984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Post-deployment, no continuous compliance verification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02920" y="4050792"/>
            <a:ext cx="8138160" cy="64008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25" name="Shape 22"/>
          <p:cNvSpPr/>
          <p:nvPr/>
        </p:nvSpPr>
        <p:spPr>
          <a:xfrm>
            <a:off x="502920" y="4050792"/>
            <a:ext cx="54864" cy="640080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26" name="Text 23"/>
          <p:cNvSpPr/>
          <p:nvPr/>
        </p:nvSpPr>
        <p:spPr>
          <a:xfrm>
            <a:off x="777240" y="405079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8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Day-2 Drift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2743200" y="4050792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drift goes undetected — silent compliance erosion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2011680" cy="32004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6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8BC0">
              <a:alpha val="3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1051560"/>
            <a:ext cx="3931920" cy="105156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1051560"/>
            <a:ext cx="54864" cy="1051560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1143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AA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 AI Workflow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5800" y="15087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CAF + APEX patterns — 10 specialized agents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2286000"/>
            <a:ext cx="3931920" cy="105156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13" name="Shape 10"/>
          <p:cNvSpPr/>
          <p:nvPr/>
        </p:nvSpPr>
        <p:spPr>
          <a:xfrm>
            <a:off x="502920" y="2286000"/>
            <a:ext cx="54864" cy="1051560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2377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AA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Human Approval Gates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85800" y="27432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critical decision requires explicit human sign-off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3520440"/>
            <a:ext cx="3931920" cy="105156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17" name="Shape 14"/>
          <p:cNvSpPr/>
          <p:nvPr/>
        </p:nvSpPr>
        <p:spPr>
          <a:xfrm>
            <a:off x="502920" y="3520440"/>
            <a:ext cx="54864" cy="1051560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8" name="Text 15"/>
          <p:cNvSpPr/>
          <p:nvPr/>
        </p:nvSpPr>
        <p:spPr>
          <a:xfrm>
            <a:off x="685800" y="3611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AA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Dual IaC Support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85800" y="39776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Bicep + Terraform — choose per org, both fully supported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663440" y="1051560"/>
            <a:ext cx="3931920" cy="105156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21" name="Shape 18"/>
          <p:cNvSpPr/>
          <p:nvPr/>
        </p:nvSpPr>
        <p:spPr>
          <a:xfrm>
            <a:off x="4663440" y="1051560"/>
            <a:ext cx="54864" cy="1051560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22" name="Text 19"/>
          <p:cNvSpPr/>
          <p:nvPr/>
        </p:nvSpPr>
        <p:spPr>
          <a:xfrm>
            <a:off x="4846320" y="1143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AA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Security-First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846320" y="15087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 baseline enforced at every stage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663440" y="2286000"/>
            <a:ext cx="3931920" cy="105156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25" name="Shape 22"/>
          <p:cNvSpPr/>
          <p:nvPr/>
        </p:nvSpPr>
        <p:spPr>
          <a:xfrm>
            <a:off x="4663440" y="2286000"/>
            <a:ext cx="54864" cy="1051560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26" name="Text 23"/>
          <p:cNvSpPr/>
          <p:nvPr/>
        </p:nvSpPr>
        <p:spPr>
          <a:xfrm>
            <a:off x="4846320" y="2377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AA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Day-2 Operations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846320" y="27432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+ automatic remediation of drift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663440" y="3520440"/>
            <a:ext cx="3931920" cy="105156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29" name="Shape 26"/>
          <p:cNvSpPr/>
          <p:nvPr/>
        </p:nvSpPr>
        <p:spPr>
          <a:xfrm>
            <a:off x="4663440" y="3520440"/>
            <a:ext cx="54864" cy="1051560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30" name="Text 27"/>
          <p:cNvSpPr/>
          <p:nvPr/>
        </p:nvSpPr>
        <p:spPr>
          <a:xfrm>
            <a:off x="4846320" y="3611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AA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CI/CD + OIDC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4846320" y="39776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stored secrets — federated identity for all deployments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Philosophy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2011680" cy="32004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6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8BC0">
              <a:alpha val="3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1097280"/>
            <a:ext cx="2606040" cy="320040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1097280"/>
            <a:ext cx="2606040" cy="54864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10" name="Shape 7"/>
          <p:cNvSpPr/>
          <p:nvPr/>
        </p:nvSpPr>
        <p:spPr>
          <a:xfrm>
            <a:off x="1463040" y="1417320"/>
            <a:ext cx="640080" cy="640080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11" name="Text 8"/>
          <p:cNvSpPr/>
          <p:nvPr/>
        </p:nvSpPr>
        <p:spPr>
          <a:xfrm>
            <a:off x="146304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85800" y="2286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Orchestrates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85800" y="27889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handle repetitive, complex tasks 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gathering, code generation,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checks, and drift detection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337560" y="1097280"/>
            <a:ext cx="2606040" cy="320040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15" name="Shape 12"/>
          <p:cNvSpPr/>
          <p:nvPr/>
        </p:nvSpPr>
        <p:spPr>
          <a:xfrm>
            <a:off x="3337560" y="1097280"/>
            <a:ext cx="2606040" cy="54864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6" name="Shape 13"/>
          <p:cNvSpPr/>
          <p:nvPr/>
        </p:nvSpPr>
        <p:spPr>
          <a:xfrm>
            <a:off x="4297680" y="1417320"/>
            <a:ext cx="640080" cy="64008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7" name="Text 14"/>
          <p:cNvSpPr/>
          <p:nvPr/>
        </p:nvSpPr>
        <p:spPr>
          <a:xfrm>
            <a:off x="429768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3520440" y="2286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Humans Decide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520440" y="27889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approval gates ensure human oversight.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Challenger agent reviews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critical decision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172200" y="1097280"/>
            <a:ext cx="2606040" cy="320040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21" name="Shape 18"/>
          <p:cNvSpPr/>
          <p:nvPr/>
        </p:nvSpPr>
        <p:spPr>
          <a:xfrm>
            <a:off x="6172200" y="1097280"/>
            <a:ext cx="2606040" cy="54864"/>
          </a:xfrm>
          <a:prstGeom prst="rect">
            <a:avLst/>
          </a:prstGeom>
          <a:solidFill>
            <a:srgbClr val="F5C542"/>
          </a:solidFill>
          <a:ln/>
        </p:spPr>
      </p:sp>
      <p:sp>
        <p:nvSpPr>
          <p:cNvPr id="22" name="Shape 19"/>
          <p:cNvSpPr/>
          <p:nvPr/>
        </p:nvSpPr>
        <p:spPr>
          <a:xfrm>
            <a:off x="7132320" y="1417320"/>
            <a:ext cx="640080" cy="640080"/>
          </a:xfrm>
          <a:prstGeom prst="ellipse">
            <a:avLst/>
          </a:prstGeom>
          <a:solidFill>
            <a:srgbClr val="F5C542"/>
          </a:solidFill>
          <a:ln/>
        </p:spPr>
      </p:sp>
      <p:sp>
        <p:nvSpPr>
          <p:cNvPr id="23" name="Text 20"/>
          <p:cNvSpPr/>
          <p:nvPr/>
        </p:nvSpPr>
        <p:spPr>
          <a:xfrm>
            <a:off x="713232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355080" y="2286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Executes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355080" y="27889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previews before any change is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applied. Real deployment only after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of the preview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CAF Design Area Alignment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2011680" cy="32004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6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8BC0">
              <a:alpha val="30000"/>
            </a:srgbClr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813816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377440"/>
                <a:gridCol w="5212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#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CAF Design Area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IaC Module Scope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 &amp; Tenant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 Group hierarchy, subscription vending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&amp; Access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DS / AAD DS, PIM, RBAC role assignments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Organization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 hierarchy, naming, tagging policy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Topology &amp; Connectivity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Hub-spoke / Virtual WAN, Firewall, DNS, ExpressRoute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Defender for Cloud, Sentinel, Security Key Vault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Analytics, Automation, Backup, Update Manager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Policy, budgets, cost alerts, compliance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Automation &amp; DevOps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Actions, OIDC, bootstrap, CI/CD pipelines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Roster — 10 Specialized Agents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2011680" cy="32004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6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8BC0">
              <a:alpha val="30000"/>
            </a:srgbClr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05840"/>
          <a:ext cx="81381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5212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Agent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Codename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Purpose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Conductor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workflow coordination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Scribe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Gather &amp; validate requirements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WAF alignment + cost estimation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Warden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&amp; security baseline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IaC Planner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 planning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Generator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Bicep / Terraform generation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Envoy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with what-if preview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Chronicler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As-built TDD generation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Sentinel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&amp; drift detection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Auto-fix &amp; rollback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Adversarial review at gates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APEX Workflow — 9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2011680" cy="32004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6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8BC0">
              <a:alpha val="3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20040" y="1463040"/>
            <a:ext cx="822960" cy="1005840"/>
          </a:xfrm>
          <a:prstGeom prst="rect">
            <a:avLst/>
          </a:prstGeom>
          <a:solidFill>
            <a:srgbClr val="2E8BC0"/>
          </a:solidFill>
          <a:ln w="12700">
            <a:solidFill>
              <a:srgbClr val="4FAA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53619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320040" y="19659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43000" y="173736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99BB"/>
                </a:solidFill>
              </a:rPr>
              <a:t>&gt;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271016" y="1463040"/>
            <a:ext cx="822960" cy="1005840"/>
          </a:xfrm>
          <a:prstGeom prst="rect">
            <a:avLst/>
          </a:prstGeom>
          <a:solidFill>
            <a:srgbClr val="2E8BC0"/>
          </a:solidFill>
          <a:ln w="12700">
            <a:solidFill>
              <a:srgbClr val="4FAAD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71016" y="153619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271016" y="19659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093976" y="173736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99BB"/>
                </a:solidFill>
              </a:rPr>
              <a:t>&gt;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221992" y="1463040"/>
            <a:ext cx="822960" cy="1005840"/>
          </a:xfrm>
          <a:prstGeom prst="rect">
            <a:avLst/>
          </a:prstGeom>
          <a:solidFill>
            <a:srgbClr val="162B50"/>
          </a:solidFill>
          <a:ln w="12700">
            <a:solidFill>
              <a:srgbClr val="7A99B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221992" y="153619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8B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2221992" y="19659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044952" y="173736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99BB"/>
                </a:solidFill>
              </a:rPr>
              <a:t>&gt;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172968" y="1463040"/>
            <a:ext cx="822960" cy="1005840"/>
          </a:xfrm>
          <a:prstGeom prst="rect">
            <a:avLst/>
          </a:prstGeom>
          <a:solidFill>
            <a:srgbClr val="2E8BC0"/>
          </a:solidFill>
          <a:ln w="12700">
            <a:solidFill>
              <a:srgbClr val="4FAAD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172968" y="153619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3172968" y="19659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995928" y="173736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99BB"/>
                </a:solidFill>
              </a:rPr>
              <a:t>&gt;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123944" y="1463040"/>
            <a:ext cx="822960" cy="1005840"/>
          </a:xfrm>
          <a:prstGeom prst="rect">
            <a:avLst/>
          </a:prstGeom>
          <a:solidFill>
            <a:srgbClr val="2E8BC0"/>
          </a:solidFill>
          <a:ln w="12700">
            <a:solidFill>
              <a:srgbClr val="4FAAD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23944" y="153619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4123944" y="19659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946904" y="173736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99BB"/>
                </a:solidFill>
              </a:rPr>
              <a:t>&gt;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074920" y="1463040"/>
            <a:ext cx="822960" cy="1005840"/>
          </a:xfrm>
          <a:prstGeom prst="rect">
            <a:avLst/>
          </a:prstGeom>
          <a:solidFill>
            <a:srgbClr val="2E8BC0"/>
          </a:solidFill>
          <a:ln w="12700">
            <a:solidFill>
              <a:srgbClr val="4FAAD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074920" y="153619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5074920" y="19659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897880" y="173736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99BB"/>
                </a:solidFill>
              </a:rPr>
              <a:t>&gt;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025896" y="1463040"/>
            <a:ext cx="822960" cy="1005840"/>
          </a:xfrm>
          <a:prstGeom prst="rect">
            <a:avLst/>
          </a:prstGeom>
          <a:solidFill>
            <a:srgbClr val="162B50"/>
          </a:solidFill>
          <a:ln w="12700">
            <a:solidFill>
              <a:srgbClr val="7A99B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025896" y="153619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8B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6025896" y="19659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848856" y="173736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99BB"/>
                </a:solidFill>
              </a:rPr>
              <a:t>&gt;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976872" y="1463040"/>
            <a:ext cx="822960" cy="1005840"/>
          </a:xfrm>
          <a:prstGeom prst="rect">
            <a:avLst/>
          </a:prstGeom>
          <a:solidFill>
            <a:srgbClr val="162B50"/>
          </a:solidFill>
          <a:ln w="12700">
            <a:solidFill>
              <a:srgbClr val="7A99B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976872" y="153619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8B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000" dirty="0"/>
          </a:p>
        </p:txBody>
      </p:sp>
      <p:sp>
        <p:nvSpPr>
          <p:cNvPr id="38" name="Text 35"/>
          <p:cNvSpPr/>
          <p:nvPr/>
        </p:nvSpPr>
        <p:spPr>
          <a:xfrm>
            <a:off x="6976872" y="19659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7799832" y="173736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99BB"/>
                </a:solidFill>
              </a:rPr>
              <a:t>&gt;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7927848" y="1463040"/>
            <a:ext cx="822960" cy="1005840"/>
          </a:xfrm>
          <a:prstGeom prst="rect">
            <a:avLst/>
          </a:prstGeom>
          <a:solidFill>
            <a:srgbClr val="2E8BC0"/>
          </a:solidFill>
          <a:ln w="12700">
            <a:solidFill>
              <a:srgbClr val="4FAAD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927848" y="153619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000" dirty="0"/>
          </a:p>
        </p:txBody>
      </p:sp>
      <p:sp>
        <p:nvSpPr>
          <p:cNvPr id="42" name="Text 39"/>
          <p:cNvSpPr/>
          <p:nvPr/>
        </p:nvSpPr>
        <p:spPr>
          <a:xfrm>
            <a:off x="7927848" y="19659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Remediate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502920" y="2834640"/>
            <a:ext cx="274320" cy="274320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44" name="Text 41"/>
          <p:cNvSpPr/>
          <p:nvPr/>
        </p:nvSpPr>
        <p:spPr>
          <a:xfrm>
            <a:off x="82296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Approval Gate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2743200" y="2834640"/>
            <a:ext cx="274320" cy="274320"/>
          </a:xfrm>
          <a:prstGeom prst="rect">
            <a:avLst/>
          </a:prstGeom>
          <a:solidFill>
            <a:srgbClr val="162B50"/>
          </a:solidFill>
          <a:ln w="12700">
            <a:solidFill>
              <a:srgbClr val="7A99B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06324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Agent Step (no gate)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320040" y="3383280"/>
            <a:ext cx="2852928" cy="36576"/>
          </a:xfrm>
          <a:prstGeom prst="rect">
            <a:avLst/>
          </a:prstGeom>
          <a:solidFill>
            <a:srgbClr val="4FAADB"/>
          </a:solidFill>
          <a:ln/>
        </p:spPr>
      </p:sp>
      <p:sp>
        <p:nvSpPr>
          <p:cNvPr id="48" name="Text 45"/>
          <p:cNvSpPr/>
          <p:nvPr/>
        </p:nvSpPr>
        <p:spPr>
          <a:xfrm>
            <a:off x="320040" y="3474720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A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(Steps 1–3)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3172968" y="3383280"/>
            <a:ext cx="2852928" cy="36576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50" name="Text 47"/>
          <p:cNvSpPr/>
          <p:nvPr/>
        </p:nvSpPr>
        <p:spPr>
          <a:xfrm>
            <a:off x="3172968" y="3474720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Branch (4–6)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6025896" y="3383280"/>
            <a:ext cx="2852928" cy="36576"/>
          </a:xfrm>
          <a:prstGeom prst="rect">
            <a:avLst/>
          </a:prstGeom>
          <a:solidFill>
            <a:srgbClr val="F5C542"/>
          </a:solidFill>
          <a:ln/>
        </p:spPr>
      </p:sp>
      <p:sp>
        <p:nvSpPr>
          <p:cNvPr id="52" name="Text 49"/>
          <p:cNvSpPr/>
          <p:nvPr/>
        </p:nvSpPr>
        <p:spPr>
          <a:xfrm>
            <a:off x="6025896" y="3474720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Day-2 (7–9)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502920" y="39319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8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Challenger agent reviews at Gates 1, 2, 4, 5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8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8 &amp; 9 loop continuously for Day-2 operations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8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tier determines challenger review depth (1x – 3x passes)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Approval Gates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2011680" cy="32004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6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8BC0">
              <a:alpha val="30000"/>
            </a:srgbClr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81381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828800"/>
                <a:gridCol w="329184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Gate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Position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Action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Challenger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Requirements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scope &amp; requirements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Architecture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architecture &amp; WAF alignment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Governance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policy &amp; security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Code 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generated IaC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Deploy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what-if deployment preview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Remediation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auto-remediation actions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384048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Challenger Reviews: 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1, 2, 4, 5 include adversarial review by the Challenger agent, which stress-tests proposals for security gaps, cost overruns, and WAF violations.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Server Integration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2011680" cy="32004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6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8BC0">
              <a:alpha val="30000"/>
            </a:srgbClr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81381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38328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MCP Server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Purpose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Agents Using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Pricing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cost estimation &amp; forecasting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Oracle, Warden, Forge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Resource Graph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queries, drift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Sentinel, Mender, Oracle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Policy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state, policy definitions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Warden, Sentinel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Deployment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Bicep/TF deploy, what-if previews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Envoy, Forge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Monitor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score, metrics, alerts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Sentinel, Mender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374904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Protocol: 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provides a uniform interface for all agent-to-Azure interactions. Agents discover available tools at runtime and invoke them with structured parameters.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Landing Zones — Deployment Order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2011680" cy="32004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6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8BC0">
              <a:alpha val="3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1188720"/>
            <a:ext cx="1920240" cy="256032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1188720"/>
            <a:ext cx="1920240" cy="54864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10" name="Shape 7"/>
          <p:cNvSpPr/>
          <p:nvPr/>
        </p:nvSpPr>
        <p:spPr>
          <a:xfrm>
            <a:off x="1143000" y="1463040"/>
            <a:ext cx="594360" cy="594360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9436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Management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94360" y="2651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Analytics, Sentinel,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Automation, Backup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423160" y="21945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9BB"/>
                </a:solidFill>
              </a:rPr>
              <a:t>&gt;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2606040" y="1188720"/>
            <a:ext cx="1920240" cy="256032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16" name="Shape 13"/>
          <p:cNvSpPr/>
          <p:nvPr/>
        </p:nvSpPr>
        <p:spPr>
          <a:xfrm>
            <a:off x="2606040" y="1188720"/>
            <a:ext cx="1920240" cy="54864"/>
          </a:xfrm>
          <a:prstGeom prst="rect">
            <a:avLst/>
          </a:prstGeom>
          <a:solidFill>
            <a:srgbClr val="4FAADB"/>
          </a:solidFill>
          <a:ln/>
        </p:spPr>
      </p:sp>
      <p:sp>
        <p:nvSpPr>
          <p:cNvPr id="17" name="Shape 14"/>
          <p:cNvSpPr/>
          <p:nvPr/>
        </p:nvSpPr>
        <p:spPr>
          <a:xfrm>
            <a:off x="3246120" y="1463040"/>
            <a:ext cx="594360" cy="594360"/>
          </a:xfrm>
          <a:prstGeom prst="ellipse">
            <a:avLst/>
          </a:prstGeom>
          <a:solidFill>
            <a:srgbClr val="4FAADB"/>
          </a:solidFill>
          <a:ln/>
        </p:spPr>
      </p:sp>
      <p:sp>
        <p:nvSpPr>
          <p:cNvPr id="18" name="Text 15"/>
          <p:cNvSpPr/>
          <p:nvPr/>
        </p:nvSpPr>
        <p:spPr>
          <a:xfrm>
            <a:off x="324612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269748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Connectivity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2697480" y="2651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networking, Firewall,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DNS, ExpressRoute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26280" y="21945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9BB"/>
                </a:solidFill>
              </a:rPr>
              <a:t>&gt;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4709160" y="1188720"/>
            <a:ext cx="1920240" cy="256032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23" name="Shape 20"/>
          <p:cNvSpPr/>
          <p:nvPr/>
        </p:nvSpPr>
        <p:spPr>
          <a:xfrm>
            <a:off x="4709160" y="1188720"/>
            <a:ext cx="1920240" cy="54864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24" name="Shape 21"/>
          <p:cNvSpPr/>
          <p:nvPr/>
        </p:nvSpPr>
        <p:spPr>
          <a:xfrm>
            <a:off x="5349240" y="1463040"/>
            <a:ext cx="594360" cy="59436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25" name="Text 22"/>
          <p:cNvSpPr/>
          <p:nvPr/>
        </p:nvSpPr>
        <p:spPr>
          <a:xfrm>
            <a:off x="534924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480060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Identity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4800600" y="2651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DS, Entra ID,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 roles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629400" y="21945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9BB"/>
                </a:solidFill>
              </a:rPr>
              <a:t>&gt;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6812280" y="1188720"/>
            <a:ext cx="1920240" cy="256032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30" name="Shape 27"/>
          <p:cNvSpPr/>
          <p:nvPr/>
        </p:nvSpPr>
        <p:spPr>
          <a:xfrm>
            <a:off x="6812280" y="1188720"/>
            <a:ext cx="1920240" cy="54864"/>
          </a:xfrm>
          <a:prstGeom prst="rect">
            <a:avLst/>
          </a:prstGeom>
          <a:solidFill>
            <a:srgbClr val="F5C542"/>
          </a:solidFill>
          <a:ln/>
        </p:spPr>
      </p:sp>
      <p:sp>
        <p:nvSpPr>
          <p:cNvPr id="31" name="Shape 28"/>
          <p:cNvSpPr/>
          <p:nvPr/>
        </p:nvSpPr>
        <p:spPr>
          <a:xfrm>
            <a:off x="7452360" y="1463040"/>
            <a:ext cx="594360" cy="594360"/>
          </a:xfrm>
          <a:prstGeom prst="ellipse">
            <a:avLst/>
          </a:prstGeom>
          <a:solidFill>
            <a:srgbClr val="F5C542"/>
          </a:solidFill>
          <a:ln/>
        </p:spPr>
      </p:sp>
      <p:sp>
        <p:nvSpPr>
          <p:cNvPr id="32" name="Text 29"/>
          <p:cNvSpPr/>
          <p:nvPr/>
        </p:nvSpPr>
        <p:spPr>
          <a:xfrm>
            <a:off x="745236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690372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6903720" y="2651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SecOps, Defender,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SOAR playbooks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02920" y="411480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 strict order: Management first (all LZs send logs here) → Security last (monitors everything)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LZ — Management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2011680" cy="32004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6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8BC0">
              <a:alpha val="3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1051560"/>
            <a:ext cx="8138160" cy="77724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1051560"/>
            <a:ext cx="54864" cy="777240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097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AA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 Analytics Workspace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1417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365-day retention, centralized logging for all LZs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1965960"/>
            <a:ext cx="8138160" cy="77724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13" name="Shape 10"/>
          <p:cNvSpPr/>
          <p:nvPr/>
        </p:nvSpPr>
        <p:spPr>
          <a:xfrm>
            <a:off x="502920" y="1965960"/>
            <a:ext cx="54864" cy="777240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2011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AA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 Sentinel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77240" y="2331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SIEM/SOAR with 4 data connectors (Azure Activity, AAD Sign-in, Office 365, Security)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2880360"/>
            <a:ext cx="8138160" cy="77724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17" name="Shape 14"/>
          <p:cNvSpPr/>
          <p:nvPr/>
        </p:nvSpPr>
        <p:spPr>
          <a:xfrm>
            <a:off x="502920" y="2880360"/>
            <a:ext cx="54864" cy="777240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29260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AA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 Account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77240" y="3246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 for operational tasks, Update Manager for OS patching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02920" y="3794760"/>
            <a:ext cx="8138160" cy="77724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21" name="Shape 18"/>
          <p:cNvSpPr/>
          <p:nvPr/>
        </p:nvSpPr>
        <p:spPr>
          <a:xfrm>
            <a:off x="502920" y="3794760"/>
            <a:ext cx="54864" cy="777240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38404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AA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Recovery Services Vault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77240" y="4160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backup for VMs, SQL, file shares — geo-redundant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LZ — Connectivity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2011680" cy="32004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6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8BC0">
              <a:alpha val="3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1051560"/>
            <a:ext cx="8138160" cy="64008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1051560"/>
            <a:ext cx="54864" cy="640080"/>
          </a:xfrm>
          <a:prstGeom prst="rect">
            <a:avLst/>
          </a:prstGeom>
          <a:solidFill>
            <a:srgbClr val="4FAADB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051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AA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Hub-Spoke / Virtual WAN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474720" y="10515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topology — choose based on scale and routing needs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1801368"/>
            <a:ext cx="8138160" cy="64008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13" name="Shape 10"/>
          <p:cNvSpPr/>
          <p:nvPr/>
        </p:nvSpPr>
        <p:spPr>
          <a:xfrm>
            <a:off x="502920" y="1801368"/>
            <a:ext cx="54864" cy="640080"/>
          </a:xfrm>
          <a:prstGeom prst="rect">
            <a:avLst/>
          </a:prstGeom>
          <a:solidFill>
            <a:srgbClr val="4FAADB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180136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AA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Firewall Premium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474720" y="180136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inspection, IDPS, URL filtering, threat intelligence feed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2551176"/>
            <a:ext cx="8138160" cy="64008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17" name="Shape 14"/>
          <p:cNvSpPr/>
          <p:nvPr/>
        </p:nvSpPr>
        <p:spPr>
          <a:xfrm>
            <a:off x="502920" y="2551176"/>
            <a:ext cx="54864" cy="640080"/>
          </a:xfrm>
          <a:prstGeom prst="rect">
            <a:avLst/>
          </a:prstGeom>
          <a:solidFill>
            <a:srgbClr val="4FAADB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255117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AA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ExpressRoute / VPN Gateways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474720" y="2551176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connectivity with dual gateways for redundancy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02920" y="3300984"/>
            <a:ext cx="8138160" cy="64008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21" name="Shape 18"/>
          <p:cNvSpPr/>
          <p:nvPr/>
        </p:nvSpPr>
        <p:spPr>
          <a:xfrm>
            <a:off x="502920" y="3300984"/>
            <a:ext cx="54864" cy="640080"/>
          </a:xfrm>
          <a:prstGeom prst="rect">
            <a:avLst/>
          </a:prstGeom>
          <a:solidFill>
            <a:srgbClr val="4FAADB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330098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AA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Bastion + DDoS Protection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474720" y="330098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VM access without public IPs, Standard DDoS plan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02920" y="4050792"/>
            <a:ext cx="8138160" cy="64008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25" name="Shape 22"/>
          <p:cNvSpPr/>
          <p:nvPr/>
        </p:nvSpPr>
        <p:spPr>
          <a:xfrm>
            <a:off x="502920" y="4050792"/>
            <a:ext cx="54864" cy="640080"/>
          </a:xfrm>
          <a:prstGeom prst="rect">
            <a:avLst/>
          </a:prstGeom>
          <a:solidFill>
            <a:srgbClr val="4FAADB"/>
          </a:solidFill>
          <a:ln/>
        </p:spPr>
      </p:sp>
      <p:sp>
        <p:nvSpPr>
          <p:cNvPr id="26" name="Text 23"/>
          <p:cNvSpPr/>
          <p:nvPr/>
        </p:nvSpPr>
        <p:spPr>
          <a:xfrm>
            <a:off x="777240" y="405079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AA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Private DNS Zones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3474720" y="405079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coverage for Azure PaaS (SQL, Storage, KeyVault, ACR, etc.)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LZ — Identity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2011680" cy="32004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6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8BC0">
              <a:alpha val="3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1051560"/>
            <a:ext cx="2606040" cy="256032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1051560"/>
            <a:ext cx="2606040" cy="54864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280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AA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 DS (Active Directory)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182880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domain controllers in Azure IaaS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DCs minimum for production (Availability Zones)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Site-to-site replication with on-premises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37560" y="1051560"/>
            <a:ext cx="2606040" cy="256032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13" name="Shape 10"/>
          <p:cNvSpPr/>
          <p:nvPr/>
        </p:nvSpPr>
        <p:spPr>
          <a:xfrm>
            <a:off x="3337560" y="1051560"/>
            <a:ext cx="2606040" cy="54864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14" name="Text 11"/>
          <p:cNvSpPr/>
          <p:nvPr/>
        </p:nvSpPr>
        <p:spPr>
          <a:xfrm>
            <a:off x="3474720" y="1280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AA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AAD DS (Managed)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474720" y="182880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Azure-managed domain services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DC management overhead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cloud-native workloads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72200" y="1051560"/>
            <a:ext cx="2606040" cy="256032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17" name="Shape 14"/>
          <p:cNvSpPr/>
          <p:nvPr/>
        </p:nvSpPr>
        <p:spPr>
          <a:xfrm>
            <a:off x="6172200" y="1051560"/>
            <a:ext cx="2606040" cy="54864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18" name="Text 15"/>
          <p:cNvSpPr/>
          <p:nvPr/>
        </p:nvSpPr>
        <p:spPr>
          <a:xfrm>
            <a:off x="6309360" y="12801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AA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309360" y="1828800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Connect sync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on-prem AD with cloud identity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across all environments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02920" y="3840480"/>
            <a:ext cx="8138160" cy="73152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21" name="Shape 18"/>
          <p:cNvSpPr/>
          <p:nvPr/>
        </p:nvSpPr>
        <p:spPr>
          <a:xfrm>
            <a:off x="502920" y="3840480"/>
            <a:ext cx="54864" cy="731520"/>
          </a:xfrm>
          <a:prstGeom prst="rect">
            <a:avLst/>
          </a:prstGeom>
          <a:solidFill>
            <a:srgbClr val="F5C542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38404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Privileged Identity Management (PIM)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3931920" y="38404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Just-in-time, time-limited access for privileged roles. Approval workflow for Global Admin, Security Admin, and custom roles.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LZ — Security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2011680" cy="32004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6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8BC0">
              <a:alpha val="3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1051560"/>
            <a:ext cx="8138160" cy="64008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1051560"/>
            <a:ext cx="54864" cy="640080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051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Dedicated Sentinel Workspace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474720" y="10515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730-day retention for forensic investigations, separate from platform logs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1801368"/>
            <a:ext cx="8138160" cy="64008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13" name="Shape 10"/>
          <p:cNvSpPr/>
          <p:nvPr/>
        </p:nvSpPr>
        <p:spPr>
          <a:xfrm>
            <a:off x="502920" y="1801368"/>
            <a:ext cx="54864" cy="640080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180136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 Defender for Cloud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474720" y="180136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plans enabled: Servers, App Service, SQL, Storage, KeyVault, ARM, DNS, Containers, Kubernetes, and more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2920" y="2551176"/>
            <a:ext cx="8138160" cy="64008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17" name="Shape 14"/>
          <p:cNvSpPr/>
          <p:nvPr/>
        </p:nvSpPr>
        <p:spPr>
          <a:xfrm>
            <a:off x="502920" y="2551176"/>
            <a:ext cx="54864" cy="640080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255117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SOAR Playbooks (4)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474720" y="2551176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IP, Isolate VM, Revoke Session, Enrich Threat Intelligence — automated incident response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02920" y="3300984"/>
            <a:ext cx="8138160" cy="64008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21" name="Shape 18"/>
          <p:cNvSpPr/>
          <p:nvPr/>
        </p:nvSpPr>
        <p:spPr>
          <a:xfrm>
            <a:off x="502920" y="3300984"/>
            <a:ext cx="54864" cy="640080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330098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Threat Intelligence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474720" y="330098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TI feed + STIX/TAXII integration for third-party threat feeds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02920" y="4050792"/>
            <a:ext cx="8138160" cy="64008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25" name="Shape 22"/>
          <p:cNvSpPr/>
          <p:nvPr/>
        </p:nvSpPr>
        <p:spPr>
          <a:xfrm>
            <a:off x="502920" y="4050792"/>
            <a:ext cx="54864" cy="640080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26" name="Text 23"/>
          <p:cNvSpPr/>
          <p:nvPr/>
        </p:nvSpPr>
        <p:spPr>
          <a:xfrm>
            <a:off x="777240" y="405079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Key Vault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3474720" y="405079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endpoint only — no public network access. Stores SOC secrets and automation credentials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Landing Zones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2011680" cy="32004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6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8BC0">
              <a:alpha val="30000"/>
            </a:srgbClr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81381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4846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App Landing Zone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Archetype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Key Features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 ERP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connectivity, hub-spoke peering, full policy 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 CRM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connectivity, hub-spoke peering, full policy 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Web Portal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Public-facing, WAF + App Gateway, DDoS protection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API Gateway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Management, rate limiting, OAuth integration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 S/4HANA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SAP-certified VMs, ANF storage, accelerated networking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Sandbox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Sandbox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$500/mo budget cap, relaxed policies, no prod peering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411480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Config-driven: Edit subscriptions.json to add/remove/rename landing zones. The pipeline handles the rest.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Baseline — 6 Non-Negotiable Rules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2011680" cy="32004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6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8BC0">
              <a:alpha val="30000"/>
            </a:srgbClr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81381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5120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Rule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Requirement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Enforcement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TLS 1.2 minimum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Bicep + Terraform param validation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HTTPS-only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+ code generation constraint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public blob access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account default deny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Identity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service principal secrets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AD-only SQL authentication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Server AAD admin enforced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public network (prod)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endpoints for all PaaS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3749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Enforced at 5 Points: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02920" y="4114800"/>
            <a:ext cx="146304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02920" y="4114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965960" y="41148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9BB"/>
                </a:solidFill>
              </a:rPr>
              <a:t>&gt;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2148840" y="4114800"/>
            <a:ext cx="146304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148840" y="4114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Preflight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611880" y="41148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9BB"/>
                </a:solidFill>
              </a:rPr>
              <a:t>&gt;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794760" y="4114800"/>
            <a:ext cx="146304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794760" y="4114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Pre-commit Hook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257800" y="41148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9BB"/>
                </a:solidFill>
              </a:rPr>
              <a:t>&gt;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440680" y="4114800"/>
            <a:ext cx="146304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440680" y="4114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903720" y="41148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9BB"/>
                </a:solidFill>
              </a:rPr>
              <a:t>&gt;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7086600" y="4114800"/>
            <a:ext cx="146304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086600" y="4114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Governance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2011680" cy="32004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6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8BC0">
              <a:alpha val="3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1097280"/>
            <a:ext cx="2606040" cy="182880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1097280"/>
            <a:ext cx="2606040" cy="54864"/>
          </a:xfrm>
          <a:prstGeom prst="rect">
            <a:avLst/>
          </a:prstGeom>
          <a:solidFill>
            <a:srgbClr val="F5C542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2801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C5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80%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502920" y="18288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Warning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2194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to cost owners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email + Teams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37560" y="1097280"/>
            <a:ext cx="2606040" cy="182880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14" name="Shape 11"/>
          <p:cNvSpPr/>
          <p:nvPr/>
        </p:nvSpPr>
        <p:spPr>
          <a:xfrm>
            <a:off x="3337560" y="1097280"/>
            <a:ext cx="2606040" cy="54864"/>
          </a:xfrm>
          <a:prstGeom prst="rect">
            <a:avLst/>
          </a:prstGeom>
          <a:solidFill>
            <a:srgbClr val="F0A830"/>
          </a:solidFill>
          <a:ln/>
        </p:spPr>
      </p:sp>
      <p:sp>
        <p:nvSpPr>
          <p:cNvPr id="15" name="Text 12"/>
          <p:cNvSpPr/>
          <p:nvPr/>
        </p:nvSpPr>
        <p:spPr>
          <a:xfrm>
            <a:off x="3337560" y="12801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A8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3337560" y="18288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474720" y="2194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to platform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+ budget freeze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72200" y="1097280"/>
            <a:ext cx="2606040" cy="182880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19" name="Shape 16"/>
          <p:cNvSpPr/>
          <p:nvPr/>
        </p:nvSpPr>
        <p:spPr>
          <a:xfrm>
            <a:off x="6172200" y="1097280"/>
            <a:ext cx="2606040" cy="54864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20" name="Text 17"/>
          <p:cNvSpPr/>
          <p:nvPr/>
        </p:nvSpPr>
        <p:spPr>
          <a:xfrm>
            <a:off x="6172200" y="12801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52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120%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6172200" y="18288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Emergency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309360" y="2194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Auto-shutdown of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non-essential resources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02920" y="3200400"/>
            <a:ext cx="8138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Budget, No Merge: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 must include a cost estimate. Budget parameters are required for all environments.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Estimation: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Pricing MCP server provides cost estimates during architecture and code generation phases.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Per-Environment Budgets: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Dev, staging, and production each have parameterized budget thresholds.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 Pipeline — 6 GitHub Actions Workflows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2011680" cy="32004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6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8BC0">
              <a:alpha val="30000"/>
            </a:srgbClr>
          </a:solidFill>
          <a:ln/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81381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645920"/>
                <a:gridCol w="347472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#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Workflow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Purpose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Trigger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Bootstrap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One-time MG hierarchy + OIDC setup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Deploy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 platform LZ deployment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to main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Deploy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Config-driven, parallel app LZs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to main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+ drift detection (24/7)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 (cron)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 Validate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Lint, security, cost, what-if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 request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Reusable Deploy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 shared workflow (called by 2,3)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workflow_call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365760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authentication (no stored secrets)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runner support (vars.RUNNER_LABEL)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As-built TDD auto-generation after each deployment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gates integrated via GitHub Environments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As-Built TDD Generator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2011680" cy="32004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6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8BC0">
              <a:alpha val="3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1051560"/>
            <a:ext cx="3931920" cy="73152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1051560"/>
            <a:ext cx="54864" cy="731520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10698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AA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 Page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5800" y="139903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metadata, timestamps, environment details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1920240"/>
            <a:ext cx="3931920" cy="73152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13" name="Shape 10"/>
          <p:cNvSpPr/>
          <p:nvPr/>
        </p:nvSpPr>
        <p:spPr>
          <a:xfrm>
            <a:off x="502920" y="1920240"/>
            <a:ext cx="54864" cy="731520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19385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AA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Diagram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5800" y="226771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with official Azure icons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2920" y="2788920"/>
            <a:ext cx="3931920" cy="73152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17" name="Shape 14"/>
          <p:cNvSpPr/>
          <p:nvPr/>
        </p:nvSpPr>
        <p:spPr>
          <a:xfrm>
            <a:off x="502920" y="2788920"/>
            <a:ext cx="54864" cy="731520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18" name="Text 15"/>
          <p:cNvSpPr/>
          <p:nvPr/>
        </p:nvSpPr>
        <p:spPr>
          <a:xfrm>
            <a:off x="685800" y="28072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AA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 Inventory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85800" y="313639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list of deployed resources with properties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02920" y="3657600"/>
            <a:ext cx="3931920" cy="73152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21" name="Shape 18"/>
          <p:cNvSpPr/>
          <p:nvPr/>
        </p:nvSpPr>
        <p:spPr>
          <a:xfrm>
            <a:off x="502920" y="3657600"/>
            <a:ext cx="54864" cy="731520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22" name="Text 19"/>
          <p:cNvSpPr/>
          <p:nvPr/>
        </p:nvSpPr>
        <p:spPr>
          <a:xfrm>
            <a:off x="685800" y="36758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AA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 Topology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85800" y="400507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Hub-spoke / VWAN visualization with IP ranges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663440" y="1051560"/>
            <a:ext cx="3931920" cy="73152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25" name="Shape 22"/>
          <p:cNvSpPr/>
          <p:nvPr/>
        </p:nvSpPr>
        <p:spPr>
          <a:xfrm>
            <a:off x="4663440" y="1051560"/>
            <a:ext cx="54864" cy="731520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26" name="Text 23"/>
          <p:cNvSpPr/>
          <p:nvPr/>
        </p:nvSpPr>
        <p:spPr>
          <a:xfrm>
            <a:off x="4846320" y="10698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AA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Posture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846320" y="139903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score, policy compliance, baseline status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663440" y="1920240"/>
            <a:ext cx="3931920" cy="73152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29" name="Shape 26"/>
          <p:cNvSpPr/>
          <p:nvPr/>
        </p:nvSpPr>
        <p:spPr>
          <a:xfrm>
            <a:off x="4663440" y="1920240"/>
            <a:ext cx="54864" cy="731520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30" name="Text 27"/>
          <p:cNvSpPr/>
          <p:nvPr/>
        </p:nvSpPr>
        <p:spPr>
          <a:xfrm>
            <a:off x="4846320" y="19385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AA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 Status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846320" y="226771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assignments, exemptions, audit results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663440" y="2788920"/>
            <a:ext cx="3931920" cy="73152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33" name="Shape 30"/>
          <p:cNvSpPr/>
          <p:nvPr/>
        </p:nvSpPr>
        <p:spPr>
          <a:xfrm>
            <a:off x="4663440" y="2788920"/>
            <a:ext cx="54864" cy="731520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34" name="Text 31"/>
          <p:cNvSpPr/>
          <p:nvPr/>
        </p:nvSpPr>
        <p:spPr>
          <a:xfrm>
            <a:off x="4846320" y="28072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AA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Governance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846320" y="313639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utilization, forecasts, anomaly alerts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663440" y="3657600"/>
            <a:ext cx="3931920" cy="73152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37" name="Shape 34"/>
          <p:cNvSpPr/>
          <p:nvPr/>
        </p:nvSpPr>
        <p:spPr>
          <a:xfrm>
            <a:off x="4663440" y="3657600"/>
            <a:ext cx="54864" cy="731520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38" name="Text 35"/>
          <p:cNvSpPr/>
          <p:nvPr/>
        </p:nvSpPr>
        <p:spPr>
          <a:xfrm>
            <a:off x="4846320" y="36758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AA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Operational Model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4846320" y="400507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alerting, backup, patching schedule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Bootstrap Settings Checklist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2011680" cy="32004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6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8BC0">
              <a:alpha val="30000"/>
            </a:srgbClr>
          </a:solidFill>
          <a:ln/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81381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75488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Tab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Key Settings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Owner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8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Bootstrap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IaC choice (Bicep/TF), tenant ID, subscriptions,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OIDC config, approval gate contacts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Team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Bicep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Topology (hub-spoke/VWAN), Firewall SKU,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ranges, policies, Defender plans, budgets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Networking / Security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D5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as Bicep + state backend config,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Sovereign Landing Zone toggle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E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Networking / Security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329184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Gathering: </a:t>
            </a:r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 tabs to the right teams — Networking fills IP ranges, Security fills Defender plans, Identity fills PIM roles. Merge and validate before bootstrap.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Start — 5 Steps to Production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2011680" cy="32004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6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8BC0">
              <a:alpha val="3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94360" y="1051560"/>
            <a:ext cx="502920" cy="502920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280160" y="1005840"/>
            <a:ext cx="7315200" cy="658368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11" name="Text 8"/>
          <p:cNvSpPr/>
          <p:nvPr/>
        </p:nvSpPr>
        <p:spPr>
          <a:xfrm>
            <a:off x="1463040" y="100584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AA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 Checklist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474720" y="100584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out the Bootstrap Settings Excel workbook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all teams (networking, security, identity)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4360" y="1828800"/>
            <a:ext cx="502920" cy="502920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280160" y="1783080"/>
            <a:ext cx="7315200" cy="658368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16" name="Text 13"/>
          <p:cNvSpPr/>
          <p:nvPr/>
        </p:nvSpPr>
        <p:spPr>
          <a:xfrm>
            <a:off x="1463040" y="178308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AA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OIDC Setup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474720" y="178308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OIDC setup script to create federated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— no stored secrets needed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94360" y="2606040"/>
            <a:ext cx="502920" cy="502920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19" name="Text 16"/>
          <p:cNvSpPr/>
          <p:nvPr/>
        </p:nvSpPr>
        <p:spPr>
          <a:xfrm>
            <a:off x="59436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1280160" y="2560320"/>
            <a:ext cx="7315200" cy="658368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21" name="Text 18"/>
          <p:cNvSpPr/>
          <p:nvPr/>
        </p:nvSpPr>
        <p:spPr>
          <a:xfrm>
            <a:off x="1463040" y="256032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AA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Configure JSON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474720" y="256032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subscriptions.json with your app landing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— add, rename, or remove as needed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94360" y="3383280"/>
            <a:ext cx="502920" cy="502920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24" name="Text 21"/>
          <p:cNvSpPr/>
          <p:nvPr/>
        </p:nvSpPr>
        <p:spPr>
          <a:xfrm>
            <a:off x="59436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1280160" y="3337560"/>
            <a:ext cx="7315200" cy="658368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26" name="Text 23"/>
          <p:cNvSpPr/>
          <p:nvPr/>
        </p:nvSpPr>
        <p:spPr>
          <a:xfrm>
            <a:off x="1463040" y="333756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AA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 GitHub Config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3474720" y="333756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GitHub secrets + optional self-hosted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label via gh variable set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94360" y="4160520"/>
            <a:ext cx="502920" cy="502920"/>
          </a:xfrm>
          <a:prstGeom prst="ellipse">
            <a:avLst/>
          </a:prstGeom>
          <a:solidFill>
            <a:srgbClr val="2E8BC0"/>
          </a:solidFill>
          <a:ln/>
        </p:spPr>
      </p:sp>
      <p:sp>
        <p:nvSpPr>
          <p:cNvPr id="29" name="Text 26"/>
          <p:cNvSpPr/>
          <p:nvPr/>
        </p:nvSpPr>
        <p:spPr>
          <a:xfrm>
            <a:off x="59436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A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1280160" y="4114800"/>
            <a:ext cx="7315200" cy="658368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31" name="Text 28"/>
          <p:cNvSpPr/>
          <p:nvPr/>
        </p:nvSpPr>
        <p:spPr>
          <a:xfrm>
            <a:off x="1463040" y="411480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AA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3474720" y="411480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Bootstrap → Platform Deploy 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Deploy → Enable Monitor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223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63040"/>
            <a:ext cx="9144000" cy="54864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FA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Azure Landing Zone Accelerator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2606040" cy="1143000"/>
          </a:xfrm>
          <a:prstGeom prst="rect">
            <a:avLst/>
          </a:prstGeom>
          <a:solidFill>
            <a:srgbClr val="162B50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8288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B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roles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783080"/>
            <a:ext cx="2606040" cy="1143000"/>
          </a:xfrm>
          <a:prstGeom prst="rect">
            <a:avLst/>
          </a:prstGeom>
          <a:solidFill>
            <a:srgbClr val="162B50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8288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B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337560" y="2331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Approval Gates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6060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1783080"/>
            <a:ext cx="2606040" cy="1143000"/>
          </a:xfrm>
          <a:prstGeom prst="rect">
            <a:avLst/>
          </a:prstGeom>
          <a:solidFill>
            <a:srgbClr val="162B50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8288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B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172200" y="2331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CAF Areas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26060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alignment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108960"/>
            <a:ext cx="2606040" cy="1143000"/>
          </a:xfrm>
          <a:prstGeom prst="rect">
            <a:avLst/>
          </a:prstGeom>
          <a:solidFill>
            <a:srgbClr val="162B50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1546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B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02920" y="36576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Servers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39319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Azure access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3108960"/>
            <a:ext cx="2606040" cy="1143000"/>
          </a:xfrm>
          <a:prstGeom prst="rect">
            <a:avLst/>
          </a:prstGeom>
          <a:solidFill>
            <a:srgbClr val="162B50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1546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B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3337560" y="36576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 Workflows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37560" y="39319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OIDC-based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72200" y="3108960"/>
            <a:ext cx="2606040" cy="1143000"/>
          </a:xfrm>
          <a:prstGeom prst="rect">
            <a:avLst/>
          </a:prstGeom>
          <a:solidFill>
            <a:srgbClr val="162B50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31546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B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172200" y="36576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IaC Engines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72200" y="39319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Bicep + Terraform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45720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A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Orchestrates  ·  Humans Decide  ·  Azure Executes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Azure Landing Zone Accelerator</dc:title>
  <dc:subject>PptxGenJS Presentation</dc:subject>
  <dc:creator>Agentic ALZ Team</dc:creator>
  <cp:lastModifiedBy>Agentic ALZ Team</cp:lastModifiedBy>
  <cp:revision>1</cp:revision>
  <dcterms:created xsi:type="dcterms:W3CDTF">2026-04-14T15:38:27Z</dcterms:created>
  <dcterms:modified xsi:type="dcterms:W3CDTF">2026-04-14T15:38:27Z</dcterms:modified>
</cp:coreProperties>
</file>