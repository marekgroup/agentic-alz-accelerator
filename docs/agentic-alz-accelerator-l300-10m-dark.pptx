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Welcome. Today I will show you how we are using multi-agent AI to transform Azure Landing Zone deployments from weeks of manual effort into hours of guided, governed automation. This is not a demo of a single tool - it is an enterprise-grade orchestration system built on the APEX pattern that covers the full lifecycle from requirements through continuous Day-2 operations.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I am a Senior Cloud Solution Architect who recently joined Microsoft. My focus is on using AI to transform how we deliver Azure infrastructure at enterprise scale. You should care about this talk because manual landing zone deployments are slow, error-prone, and create immediate governance drift. The accelerator we built solves all three problems by using specialized AI agents that enforce compliance continuously - not just at deployment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Let me paint the problem. A typical enterprise landing zone deployment takes 4 to 8 weeks. Governance rules exist in wiki pages nobody reads. Documentation is always planned but never delivered. After go-live, nobody monitors for drift. And brownfield environments - the ones already in production - rarely get a proper WAF assessment. The accelerator addresses every one of these pain points with specialized AI agents.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The solution follows the APEX pattern - AI Orchestrates, Humans Decide, Azure Executes. We have 15 specialized agents, each owning a specific step in the workflow. There are 9 workflow steps plus a Step 0 for brownfield assessment. Six non-negotiable approval gates ensure humans stay in control. The system supports both greenfield deployments and brownfield environments that already exist. We use Azure Verified Modules first - falling back to native resources only when no AVM module exists.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Here is the full agent roster. The Conductor orchestrates everything. The Assessor handles brownfield environments. Scribe captures requirements mapped to all 8 CAF design areas. Oracle does WAF assessment with cost estimation. Warden enforces governance. Strategist selects AVM modules. Forge generates the IaC code. Envoy deploys with what-if preview. Then for Day-2: Sentinel monitors continuously and Mender auto-remediates. The Challenger is our adversarial reviewer - it challenges every output at approval gates with depth proportional to complexity.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The architecture is layered for separation of concerns. At the top, 15 agents handle high-level workflow steps. They invoke 60-plus skills - think of these as knowledge modules covering Azure services, CAF, WAF, and IaC patterns. Skills use 15 tools for actual Azure operations. Three MCP servers provide pricing, platform operations, and diagramming. Six runtime hooks act as guardrails - the tool-guardian blocks destructive operations, secrets-scanner prevents credential leaks. At the bottom, 18 GitHub Actions workflows handle CI/CD.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Security is non-negotiable. Six rules are enforced at code generation, deployment preflight, and continuous monitoring. TLS 1.2, HTTPS-only, no public blob access, Managed Identity, Azure AD-only SQL auth, and public network disabled in production. These are not optional - the Forge agent generates code with them baked in, the Envoy validates at deploy time, and the Sentinel monitors continuously. Cost governance requires budget alerts at 80, 100, and 120 percent on every deployment. The Challenger agent adversarially reviews outputs at four gates.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The CI/CD pipeline has 5 stages in a reusable workflow. Stage 1 resolves Azure access using Workload Identity Federation - no secrets stored. Stage 2 validates against the security baseline, cost governance rules, and runs linting. Stage 3 runs what-if for Bicep or plan for Terraform - you see exactly what will change. Stage 4 applies with timestamped deployment names for auditability. Stage 5 verifies by running a compliance scan and auto-generating the Technical Design Document. There are 18 total workflows covering bootstrap, platform deploy, app deploy, monitoring, and PR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Day-2 is where most landing zone projects fail. The Sentinel agent runs a full compliance, drift detection, and audit scan every day at 6 AM UTC. It checks security posture via Defender for Cloud secure score. Alerts route by severity - critical gets immediate action, high within 15 minutes, medium and low in a daily report. The Mender agent has 8 built-in remediation strategies for common policy violations. It auto-fixes critical and high severity issues but always takes a snapshot first for rollback. Medium and low severity escalate to human approval. This is true continuous compliance, not point-in-time.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Most enterprises are not greenfield. They have existing Azure environments that need assessment before transformation. Step 0 runs a full WAF five-pillar assessment using our WARA engine with 221 service-specific checks. It discovers the current state - resources, policies, RBAC assignments, networking topology, and security posture. It generates current-state architecture docs automatically, identifies gaps against CAF design areas, and produces a target-state architecture with a prioritized migration roadmap. The assessment findings feed directly into Step 1 requirements, so the full workflow is informed by reality, not assumptions. You can scope the assessment to a subscription, resource group, or entire management group.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Let me give you the numbers. 15 specialized agents, each with a defined role. Over 60 skills covering Azure services, frameworks, and patterns. 18 GitHub Actions workflows for full CI/CD automation. 221 WARA checks for brownfield assessment. 3 MCP servers providing pricing, platform operations, and diagramming. The key differentiators: AVM-first means we always use Azure Verified Modules. CAF-aligned means all 8 design areas are covered. Full lifecycle means we do not stop at deployment - Day-2 operations are built in. Auto-documentation means the Technical Design Document is generated automatically after every deployment. And you can choose Bicep or Terraform per landing zone.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Here is how to get started. The repo is on GitHub at MaRekGroup/agentic-alz-accelerator. Step one: clone it and open the interactive HTML guide - it walks through every agent, skill, and workflow. Step two: run a brownfield assessment on a sandbox subscription to see the WARA engine in action. Step three: deploy your first landing zone using the full agent orchestration. I am happy to do a deeper dive with your team or help you run a proof of concept.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32720" cy="1097280"/>
          </a:xfrm>
          <a:prstGeom prst="rect">
            <a:avLst/>
          </a:prstGeom>
          <a:noFill/>
        </p:spPr>
        <p:txBody>
          <a:bodyPr wrap="none">
            <a:spAutoFit/>
          </a:bodyPr>
          <a:lstStyle/>
          <a:p>
            <a:pPr algn="ctr"/>
            <a:r>
              <a:rPr sz="3600" b="1">
                <a:solidFill>
                  <a:srgbClr val="FFFFFF"/>
                </a:solidFill>
                <a:latin typeface="Segoe UI"/>
              </a:rPr>
              <a:t>Agentic Azure Enterprise Landing Zone Accelerator</a:t>
            </a:r>
          </a:p>
        </p:txBody>
      </p:sp>
      <p:sp>
        <p:nvSpPr>
          <p:cNvPr id="4" name="TextBox 3"/>
          <p:cNvSpPr txBox="1"/>
          <p:nvPr/>
        </p:nvSpPr>
        <p:spPr>
          <a:xfrm>
            <a:off x="1097280" y="2971800"/>
            <a:ext cx="9966960" cy="548640"/>
          </a:xfrm>
          <a:prstGeom prst="rect">
            <a:avLst/>
          </a:prstGeom>
          <a:noFill/>
        </p:spPr>
        <p:txBody>
          <a:bodyPr wrap="none">
            <a:spAutoFit/>
          </a:bodyPr>
          <a:lstStyle/>
          <a:p>
            <a:pPr algn="ctr"/>
            <a:r>
              <a:rPr sz="2000" b="0">
                <a:solidFill>
                  <a:srgbClr val="A0C4E8"/>
                </a:solidFill>
                <a:latin typeface="Segoe UI"/>
              </a:rPr>
              <a:t>AI Orchestrates - Humans Decide - Azure Executes</a:t>
            </a:r>
          </a:p>
        </p:txBody>
      </p:sp>
      <p:sp>
        <p:nvSpPr>
          <p:cNvPr id="5" name="TextBox 4"/>
          <p:cNvSpPr txBox="1"/>
          <p:nvPr/>
        </p:nvSpPr>
        <p:spPr>
          <a:xfrm>
            <a:off x="2103120" y="5989320"/>
            <a:ext cx="7955279" cy="274320"/>
          </a:xfrm>
          <a:prstGeom prst="rect">
            <a:avLst/>
          </a:prstGeom>
          <a:noFill/>
        </p:spPr>
        <p:txBody>
          <a:bodyPr wrap="none">
            <a:spAutoFit/>
          </a:bodyPr>
          <a:lstStyle/>
          <a:p>
            <a:pPr algn="ctr"/>
            <a:r>
              <a:rPr sz="1400" b="0">
                <a:solidFill>
                  <a:srgbClr val="A0C4E8"/>
                </a:solidFill>
                <a:latin typeface="Segoe UI"/>
              </a:rPr>
              <a:t>Microsoft | Azure Cloud Solution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About Me + Why This Talk Matters</a:t>
            </a:r>
          </a:p>
        </p:txBody>
      </p:sp>
      <p:sp>
        <p:nvSpPr>
          <p:cNvPr id="4" name="TextBox 3"/>
          <p:cNvSpPr txBox="1"/>
          <p:nvPr/>
        </p:nvSpPr>
        <p:spPr>
          <a:xfrm>
            <a:off x="640080" y="1143000"/>
            <a:ext cx="2286000" cy="365760"/>
          </a:xfrm>
          <a:prstGeom prst="rect">
            <a:avLst/>
          </a:prstGeom>
          <a:noFill/>
        </p:spPr>
        <p:txBody>
          <a:bodyPr wrap="none">
            <a:spAutoFit/>
          </a:bodyPr>
          <a:lstStyle/>
          <a:p>
            <a:r>
              <a:rPr sz="2000" b="1">
                <a:solidFill>
                  <a:srgbClr val="0078D4"/>
                </a:solidFill>
                <a:latin typeface="Segoe UI"/>
              </a:rPr>
              <a:t>About Me</a:t>
            </a:r>
          </a:p>
        </p:txBody>
      </p:sp>
      <p:sp>
        <p:nvSpPr>
          <p:cNvPr id="5" name="TextBox 4"/>
          <p:cNvSpPr txBox="1"/>
          <p:nvPr/>
        </p:nvSpPr>
        <p:spPr>
          <a:xfrm>
            <a:off x="6309360" y="1143000"/>
            <a:ext cx="2743200" cy="365760"/>
          </a:xfrm>
          <a:prstGeom prst="rect">
            <a:avLst/>
          </a:prstGeom>
          <a:noFill/>
        </p:spPr>
        <p:txBody>
          <a:bodyPr wrap="none">
            <a:spAutoFit/>
          </a:bodyPr>
          <a:lstStyle/>
          <a:p>
            <a:r>
              <a:rPr sz="2000" b="1">
                <a:solidFill>
                  <a:srgbClr val="0078D4"/>
                </a:solidFill>
                <a:latin typeface="Segoe UI"/>
              </a:rPr>
              <a:t>Why Attend</a:t>
            </a:r>
          </a:p>
        </p:txBody>
      </p:sp>
      <p:sp>
        <p:nvSpPr>
          <p:cNvPr id="6" name="TextBox 5"/>
          <p:cNvSpPr txBox="1"/>
          <p:nvPr/>
        </p:nvSpPr>
        <p:spPr>
          <a:xfrm>
            <a:off x="548640" y="1600200"/>
            <a:ext cx="5303520" cy="4754880"/>
          </a:xfrm>
          <a:prstGeom prst="rect">
            <a:avLst/>
          </a:prstGeom>
          <a:noFill/>
        </p:spPr>
        <p:txBody>
          <a:bodyPr wrap="square">
            <a:spAutoFit/>
          </a:bodyPr>
          <a:lstStyle/>
          <a:p>
            <a:pPr>
              <a:spcBef>
                <a:spcPts val="800"/>
              </a:spcBef>
              <a:spcAft>
                <a:spcPts val="400"/>
              </a:spcAft>
              <a:buChar char="•"/>
              <a:buSzPct val="100000"/>
            </a:pPr>
            <a:r>
              <a:rPr sz="1800" b="0">
                <a:solidFill>
                  <a:srgbClr val="D9E8F5"/>
                </a:solidFill>
                <a:latin typeface="Segoe UI"/>
              </a:rPr>
              <a:t>Senior Cloud Solution Architect, Microsoft</a:t>
            </a:r>
          </a:p>
          <a:p>
            <a:pPr>
              <a:spcBef>
                <a:spcPts val="800"/>
              </a:spcBef>
              <a:spcAft>
                <a:spcPts val="400"/>
              </a:spcAft>
              <a:buChar char="•"/>
              <a:buSzPct val="100000"/>
            </a:pPr>
            <a:r>
              <a:rPr sz="1800" b="0">
                <a:solidFill>
                  <a:srgbClr val="D9E8F5"/>
                </a:solidFill>
                <a:latin typeface="Segoe UI"/>
              </a:rPr>
              <a:t>Recently joined Microsoft</a:t>
            </a:r>
          </a:p>
          <a:p>
            <a:pPr>
              <a:spcBef>
                <a:spcPts val="800"/>
              </a:spcBef>
              <a:spcAft>
                <a:spcPts val="400"/>
              </a:spcAft>
              <a:buChar char="•"/>
              <a:buSzPct val="100000"/>
            </a:pPr>
            <a:r>
              <a:rPr sz="1800" b="0">
                <a:solidFill>
                  <a:srgbClr val="D9E8F5"/>
                </a:solidFill>
                <a:latin typeface="Segoe UI"/>
              </a:rPr>
              <a:t>Focus: Azure infrastructure automation + AI-driven operations</a:t>
            </a:r>
          </a:p>
        </p:txBody>
      </p:sp>
      <p:sp>
        <p:nvSpPr>
          <p:cNvPr id="7" name="TextBox 6"/>
          <p:cNvSpPr txBox="1"/>
          <p:nvPr/>
        </p:nvSpPr>
        <p:spPr>
          <a:xfrm>
            <a:off x="6217920" y="1600200"/>
            <a:ext cx="5303520" cy="4754880"/>
          </a:xfrm>
          <a:prstGeom prst="rect">
            <a:avLst/>
          </a:prstGeom>
          <a:noFill/>
        </p:spPr>
        <p:txBody>
          <a:bodyPr wrap="square">
            <a:spAutoFit/>
          </a:bodyPr>
          <a:lstStyle/>
          <a:p>
            <a:pPr>
              <a:spcBef>
                <a:spcPts val="800"/>
              </a:spcBef>
              <a:spcAft>
                <a:spcPts val="400"/>
              </a:spcAft>
              <a:buChar char="•"/>
              <a:buSzPct val="100000"/>
            </a:pPr>
            <a:r>
              <a:rPr sz="1800" b="0">
                <a:solidFill>
                  <a:srgbClr val="D9E8F5"/>
                </a:solidFill>
                <a:latin typeface="Segoe UI"/>
              </a:rPr>
              <a:t>Manual ALZ deployments take 4-8 weeks</a:t>
            </a:r>
          </a:p>
          <a:p>
            <a:pPr>
              <a:spcBef>
                <a:spcPts val="800"/>
              </a:spcBef>
              <a:spcAft>
                <a:spcPts val="400"/>
              </a:spcAft>
              <a:buChar char="•"/>
              <a:buSzPct val="100000"/>
            </a:pPr>
            <a:r>
              <a:rPr sz="1800" b="0">
                <a:solidFill>
                  <a:srgbClr val="D9E8F5"/>
                </a:solidFill>
                <a:latin typeface="Segoe UI"/>
              </a:rPr>
              <a:t>Governance drift starts on Day 1 after deploy</a:t>
            </a:r>
          </a:p>
          <a:p>
            <a:pPr>
              <a:spcBef>
                <a:spcPts val="800"/>
              </a:spcBef>
              <a:spcAft>
                <a:spcPts val="400"/>
              </a:spcAft>
              <a:buChar char="•"/>
              <a:buSzPct val="100000"/>
            </a:pPr>
            <a:r>
              <a:rPr sz="1800" b="0">
                <a:solidFill>
                  <a:srgbClr val="D9E8F5"/>
                </a:solidFill>
                <a:latin typeface="Segoe UI"/>
              </a:rPr>
              <a:t>This accelerator reduces to hours with continuous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The Challenge: Manual ALZ Deployment</a:t>
            </a:r>
          </a:p>
        </p:txBody>
      </p:sp>
      <p:sp>
        <p:nvSpPr>
          <p:cNvPr id="4" name="TextBox 3"/>
          <p:cNvSpPr txBox="1"/>
          <p:nvPr/>
        </p:nvSpPr>
        <p:spPr>
          <a:xfrm>
            <a:off x="731520" y="1417320"/>
            <a:ext cx="10515600" cy="4754880"/>
          </a:xfrm>
          <a:prstGeom prst="rect">
            <a:avLst/>
          </a:prstGeom>
          <a:noFill/>
        </p:spPr>
        <p:txBody>
          <a:bodyPr wrap="square">
            <a:spAutoFit/>
          </a:bodyPr>
          <a:lstStyle/>
          <a:p>
            <a:pPr>
              <a:spcBef>
                <a:spcPts val="800"/>
              </a:spcBef>
              <a:spcAft>
                <a:spcPts val="400"/>
              </a:spcAft>
              <a:buChar char="•"/>
              <a:buSzPct val="100000"/>
            </a:pPr>
            <a:r>
              <a:rPr sz="2000" b="0">
                <a:solidFill>
                  <a:srgbClr val="D9E8F5"/>
                </a:solidFill>
                <a:latin typeface="Segoe UI"/>
              </a:rPr>
              <a:t>4-8 weeks from requirements to production deployment</a:t>
            </a:r>
          </a:p>
          <a:p>
            <a:pPr>
              <a:spcBef>
                <a:spcPts val="800"/>
              </a:spcBef>
              <a:spcAft>
                <a:spcPts val="400"/>
              </a:spcAft>
              <a:buChar char="•"/>
              <a:buSzPct val="100000"/>
            </a:pPr>
            <a:r>
              <a:rPr sz="2000" b="0">
                <a:solidFill>
                  <a:srgbClr val="D9E8F5"/>
                </a:solidFill>
                <a:latin typeface="Segoe UI"/>
              </a:rPr>
              <a:t>Inconsistent governance - tribal knowledge, no enforcement</a:t>
            </a:r>
          </a:p>
          <a:p>
            <a:pPr>
              <a:spcBef>
                <a:spcPts val="800"/>
              </a:spcBef>
              <a:spcAft>
                <a:spcPts val="400"/>
              </a:spcAft>
              <a:buChar char="•"/>
              <a:buSzPct val="100000"/>
            </a:pPr>
            <a:r>
              <a:rPr sz="2000" b="0">
                <a:solidFill>
                  <a:srgbClr val="D9E8F5"/>
                </a:solidFill>
                <a:latin typeface="Segoe UI"/>
              </a:rPr>
              <a:t>Documentation debt - as-built docs are never written</a:t>
            </a:r>
          </a:p>
          <a:p>
            <a:pPr>
              <a:spcBef>
                <a:spcPts val="800"/>
              </a:spcBef>
              <a:spcAft>
                <a:spcPts val="400"/>
              </a:spcAft>
              <a:buChar char="•"/>
              <a:buSzPct val="100000"/>
            </a:pPr>
            <a:r>
              <a:rPr sz="2000" b="0">
                <a:solidFill>
                  <a:srgbClr val="D9E8F5"/>
                </a:solidFill>
                <a:latin typeface="Segoe UI"/>
              </a:rPr>
              <a:t>No Day-2 story - compliance drifts within days</a:t>
            </a:r>
          </a:p>
          <a:p>
            <a:pPr>
              <a:spcBef>
                <a:spcPts val="800"/>
              </a:spcBef>
              <a:spcAft>
                <a:spcPts val="400"/>
              </a:spcAft>
              <a:buChar char="•"/>
              <a:buSzPct val="100000"/>
            </a:pPr>
            <a:r>
              <a:rPr sz="2000" b="0">
                <a:solidFill>
                  <a:srgbClr val="D9E8F5"/>
                </a:solidFill>
                <a:latin typeface="Segoe UI"/>
              </a:rPr>
              <a:t>Skills gap - CAF + WAF + IaC + security expertise rarely in one team</a:t>
            </a:r>
          </a:p>
          <a:p>
            <a:pPr>
              <a:spcBef>
                <a:spcPts val="800"/>
              </a:spcBef>
              <a:spcAft>
                <a:spcPts val="400"/>
              </a:spcAft>
              <a:buChar char="•"/>
              <a:buSzPct val="100000"/>
            </a:pPr>
            <a:r>
              <a:rPr sz="2000" b="0">
                <a:solidFill>
                  <a:srgbClr val="D9E8F5"/>
                </a:solidFill>
                <a:latin typeface="Segoe UI"/>
              </a:rPr>
              <a:t>Brownfield blind spots - existing environments lack assessment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Solution: Multi-Agent APEX Workflow</a:t>
            </a:r>
          </a:p>
        </p:txBody>
      </p:sp>
      <p:sp>
        <p:nvSpPr>
          <p:cNvPr id="4" name="Rounded Rectangle 3"/>
          <p:cNvSpPr/>
          <p:nvPr/>
        </p:nvSpPr>
        <p:spPr>
          <a:xfrm>
            <a:off x="548640" y="1645920"/>
            <a:ext cx="3108960" cy="109728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r>
              <a:rPr sz="1400" b="0">
                <a:solidFill>
                  <a:srgbClr val="FFFFFF"/>
                </a:solidFill>
                <a:latin typeface="Segoe UI"/>
              </a:rPr>
              <a:t>15 Agents
Specialized roles</a:t>
            </a:r>
          </a:p>
        </p:txBody>
      </p:sp>
      <p:sp>
        <p:nvSpPr>
          <p:cNvPr id="5" name="Rounded Rectangle 4"/>
          <p:cNvSpPr/>
          <p:nvPr/>
        </p:nvSpPr>
        <p:spPr>
          <a:xfrm>
            <a:off x="4389120" y="1645920"/>
            <a:ext cx="3108960" cy="109728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r>
              <a:rPr sz="1400" b="0">
                <a:solidFill>
                  <a:srgbClr val="FFFFFF"/>
                </a:solidFill>
                <a:latin typeface="Segoe UI"/>
              </a:rPr>
              <a:t>9 Steps
+ Brownfield Step 0</a:t>
            </a:r>
          </a:p>
        </p:txBody>
      </p:sp>
      <p:sp>
        <p:nvSpPr>
          <p:cNvPr id="6" name="Rounded Rectangle 5"/>
          <p:cNvSpPr/>
          <p:nvPr/>
        </p:nvSpPr>
        <p:spPr>
          <a:xfrm>
            <a:off x="8229600" y="1645920"/>
            <a:ext cx="3108960" cy="109728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r>
              <a:rPr sz="1400" b="0">
                <a:solidFill>
                  <a:srgbClr val="FFFFFF"/>
                </a:solidFill>
                <a:latin typeface="Segoe UI"/>
              </a:rPr>
              <a:t>6 Gates
Non-negotiable approval</a:t>
            </a:r>
          </a:p>
        </p:txBody>
      </p:sp>
      <p:sp>
        <p:nvSpPr>
          <p:cNvPr id="7" name="TextBox 6"/>
          <p:cNvSpPr txBox="1"/>
          <p:nvPr/>
        </p:nvSpPr>
        <p:spPr>
          <a:xfrm>
            <a:off x="731520" y="3474720"/>
            <a:ext cx="10607040" cy="2103120"/>
          </a:xfrm>
          <a:prstGeom prst="rect">
            <a:avLst/>
          </a:prstGeom>
          <a:noFill/>
        </p:spPr>
        <p:txBody>
          <a:bodyPr wrap="square">
            <a:spAutoFit/>
          </a:bodyPr>
          <a:lstStyle/>
          <a:p>
            <a:pPr>
              <a:spcBef>
                <a:spcPts val="800"/>
              </a:spcBef>
              <a:spcAft>
                <a:spcPts val="400"/>
              </a:spcAft>
              <a:buChar char="•"/>
              <a:buSzPct val="100000"/>
            </a:pPr>
            <a:r>
              <a:rPr sz="1800" b="0">
                <a:solidFill>
                  <a:srgbClr val="D9E8F5"/>
                </a:solidFill>
                <a:latin typeface="Segoe UI"/>
              </a:rPr>
              <a:t>APEX Pattern: AI Orchestrates, Humans Decide, Azure Executes</a:t>
            </a:r>
          </a:p>
          <a:p>
            <a:pPr>
              <a:spcBef>
                <a:spcPts val="800"/>
              </a:spcBef>
              <a:spcAft>
                <a:spcPts val="400"/>
              </a:spcAft>
              <a:buChar char="•"/>
              <a:buSzPct val="100000"/>
            </a:pPr>
            <a:r>
              <a:rPr sz="1800" b="0">
                <a:solidFill>
                  <a:srgbClr val="D9E8F5"/>
                </a:solidFill>
                <a:latin typeface="Segoe UI"/>
              </a:rPr>
              <a:t>Full lifecycle: requirements through continuous Day-2 operations</a:t>
            </a:r>
          </a:p>
          <a:p>
            <a:pPr>
              <a:spcBef>
                <a:spcPts val="800"/>
              </a:spcBef>
              <a:spcAft>
                <a:spcPts val="400"/>
              </a:spcAft>
              <a:buChar char="•"/>
              <a:buSzPct val="100000"/>
            </a:pPr>
            <a:r>
              <a:rPr sz="1800" b="0">
                <a:solidFill>
                  <a:srgbClr val="D9E8F5"/>
                </a:solidFill>
                <a:latin typeface="Segoe UI"/>
              </a:rPr>
              <a:t>Supports both greenfield (new) and brownfield (existing) scenarios</a:t>
            </a:r>
          </a:p>
          <a:p>
            <a:pPr>
              <a:spcBef>
                <a:spcPts val="800"/>
              </a:spcBef>
              <a:spcAft>
                <a:spcPts val="400"/>
              </a:spcAft>
              <a:buChar char="•"/>
              <a:buSzPct val="100000"/>
            </a:pPr>
            <a:r>
              <a:rPr sz="1800" b="0">
                <a:solidFill>
                  <a:srgbClr val="D9E8F5"/>
                </a:solidFill>
                <a:latin typeface="Segoe UI"/>
              </a:rPr>
              <a:t>AVM-first approach - Azure Verified Modules for Bicep and Terraform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Agent Roster and Workflow</a:t>
            </a:r>
          </a:p>
        </p:txBody>
      </p:sp>
      <p:graphicFrame>
        <p:nvGraphicFramePr>
          <p:cNvPr id="4" name="Table 3"/>
          <p:cNvGraphicFramePr>
            <a:graphicFrameLocks noGrp="1"/>
          </p:cNvGraphicFramePr>
          <p:nvPr/>
        </p:nvGraphicFramePr>
        <p:xfrm>
          <a:off x="640080" y="1417320"/>
          <a:ext cx="10881360" cy="4718304"/>
        </p:xfrm>
        <a:graphic>
          <a:graphicData uri="http://schemas.openxmlformats.org/drawingml/2006/table">
            <a:tbl>
              <a:tblPr firstRow="1" bandRow="1">
                <a:tableStyleId>{5C22544A-7EE6-4342-B048-85BDC9FD1C3A}</a:tableStyleId>
              </a:tblPr>
              <a:tblGrid>
                <a:gridCol w="3627120"/>
                <a:gridCol w="3627120"/>
                <a:gridCol w="3627120"/>
              </a:tblGrid>
              <a:tr h="393192">
                <a:tc>
                  <a:txBody>
                    <a:bodyPr/>
                    <a:lstStyle/>
                    <a:p>
                      <a:pPr>
                        <a:defRPr b="1" sz="1400">
                          <a:solidFill>
                            <a:srgbClr val="FFFFFF"/>
                          </a:solidFill>
                          <a:latin typeface="Segoe UI"/>
                        </a:defRPr>
                      </a:pPr>
                      <a:r>
                        <a:t>Agent</a:t>
                      </a:r>
                    </a:p>
                  </a:txBody>
                  <a:tcPr>
                    <a:solidFill>
                      <a:srgbClr val="0078D4"/>
                    </a:solidFill>
                  </a:tcPr>
                </a:tc>
                <a:tc>
                  <a:txBody>
                    <a:bodyPr/>
                    <a:lstStyle/>
                    <a:p>
                      <a:pPr>
                        <a:defRPr b="1" sz="1400">
                          <a:solidFill>
                            <a:srgbClr val="FFFFFF"/>
                          </a:solidFill>
                          <a:latin typeface="Segoe UI"/>
                        </a:defRPr>
                      </a:pPr>
                      <a:r>
                        <a:t>Role</a:t>
                      </a:r>
                    </a:p>
                  </a:txBody>
                  <a:tcPr>
                    <a:solidFill>
                      <a:srgbClr val="0078D4"/>
                    </a:solidFill>
                  </a:tcPr>
                </a:tc>
                <a:tc>
                  <a:txBody>
                    <a:bodyPr/>
                    <a:lstStyle/>
                    <a:p>
                      <a:pPr>
                        <a:defRPr b="1" sz="1400">
                          <a:solidFill>
                            <a:srgbClr val="FFFFFF"/>
                          </a:solidFill>
                          <a:latin typeface="Segoe UI"/>
                        </a:defRPr>
                      </a:pPr>
                      <a:r>
                        <a:t>Step</a:t>
                      </a:r>
                    </a:p>
                  </a:txBody>
                  <a:tcPr>
                    <a:solidFill>
                      <a:srgbClr val="0078D4"/>
                    </a:solidFill>
                  </a:tcPr>
                </a:tc>
              </a:tr>
              <a:tr h="393192">
                <a:tc>
                  <a:txBody>
                    <a:bodyPr/>
                    <a:lstStyle/>
                    <a:p>
                      <a:pPr>
                        <a:defRPr sz="1300">
                          <a:solidFill>
                            <a:srgbClr val="FFFFFF"/>
                          </a:solidFill>
                          <a:latin typeface="Segoe UI"/>
                        </a:defRPr>
                      </a:pPr>
                      <a:r>
                        <a:t>Conductor</a:t>
                      </a:r>
                    </a:p>
                  </a:txBody>
                  <a:tcPr>
                    <a:solidFill>
                      <a:srgbClr val="002050"/>
                    </a:solidFill>
                  </a:tcPr>
                </a:tc>
                <a:tc>
                  <a:txBody>
                    <a:bodyPr/>
                    <a:lstStyle/>
                    <a:p>
                      <a:pPr>
                        <a:defRPr sz="1300">
                          <a:solidFill>
                            <a:srgbClr val="FFFFFF"/>
                          </a:solidFill>
                          <a:latin typeface="Segoe UI"/>
                        </a:defRPr>
                      </a:pPr>
                      <a:r>
                        <a:t>Master orchestration + routing</a:t>
                      </a:r>
                    </a:p>
                  </a:txBody>
                  <a:tcPr>
                    <a:solidFill>
                      <a:srgbClr val="002050"/>
                    </a:solidFill>
                  </a:tcPr>
                </a:tc>
                <a:tc>
                  <a:txBody>
                    <a:bodyPr/>
                    <a:lstStyle/>
                    <a:p>
                      <a:pPr>
                        <a:defRPr sz="1300">
                          <a:solidFill>
                            <a:srgbClr val="FFFFFF"/>
                          </a:solidFill>
                          <a:latin typeface="Segoe UI"/>
                        </a:defRPr>
                      </a:pPr>
                      <a:r>
                        <a:t>--</a:t>
                      </a:r>
                    </a:p>
                  </a:txBody>
                  <a:tcPr>
                    <a:solidFill>
                      <a:srgbClr val="002050"/>
                    </a:solidFill>
                  </a:tcPr>
                </a:tc>
              </a:tr>
              <a:tr h="393192">
                <a:tc>
                  <a:txBody>
                    <a:bodyPr/>
                    <a:lstStyle/>
                    <a:p>
                      <a:pPr>
                        <a:defRPr sz="1300">
                          <a:solidFill>
                            <a:srgbClr val="FFFFFF"/>
                          </a:solidFill>
                          <a:latin typeface="Segoe UI"/>
                        </a:defRPr>
                      </a:pPr>
                      <a:r>
                        <a:t>Assessor</a:t>
                      </a:r>
                    </a:p>
                  </a:txBody>
                  <a:tcPr>
                    <a:solidFill>
                      <a:srgbClr val="002B5C"/>
                    </a:solidFill>
                  </a:tcPr>
                </a:tc>
                <a:tc>
                  <a:txBody>
                    <a:bodyPr/>
                    <a:lstStyle/>
                    <a:p>
                      <a:pPr>
                        <a:defRPr sz="1300">
                          <a:solidFill>
                            <a:srgbClr val="FFFFFF"/>
                          </a:solidFill>
                          <a:latin typeface="Segoe UI"/>
                        </a:defRPr>
                      </a:pPr>
                      <a:r>
                        <a:t>Brownfield WAF assessment</a:t>
                      </a:r>
                    </a:p>
                  </a:txBody>
                  <a:tcPr>
                    <a:solidFill>
                      <a:srgbClr val="002B5C"/>
                    </a:solidFill>
                  </a:tcPr>
                </a:tc>
                <a:tc>
                  <a:txBody>
                    <a:bodyPr/>
                    <a:lstStyle/>
                    <a:p>
                      <a:pPr>
                        <a:defRPr sz="1300">
                          <a:solidFill>
                            <a:srgbClr val="FFFFFF"/>
                          </a:solidFill>
                          <a:latin typeface="Segoe UI"/>
                        </a:defRPr>
                      </a:pPr>
                      <a:r>
                        <a:t>0</a:t>
                      </a:r>
                    </a:p>
                  </a:txBody>
                  <a:tcPr>
                    <a:solidFill>
                      <a:srgbClr val="002B5C"/>
                    </a:solidFill>
                  </a:tcPr>
                </a:tc>
              </a:tr>
              <a:tr h="393192">
                <a:tc>
                  <a:txBody>
                    <a:bodyPr/>
                    <a:lstStyle/>
                    <a:p>
                      <a:pPr>
                        <a:defRPr sz="1300">
                          <a:solidFill>
                            <a:srgbClr val="FFFFFF"/>
                          </a:solidFill>
                          <a:latin typeface="Segoe UI"/>
                        </a:defRPr>
                      </a:pPr>
                      <a:r>
                        <a:t>Scribe</a:t>
                      </a:r>
                    </a:p>
                  </a:txBody>
                  <a:tcPr>
                    <a:solidFill>
                      <a:srgbClr val="002050"/>
                    </a:solidFill>
                  </a:tcPr>
                </a:tc>
                <a:tc>
                  <a:txBody>
                    <a:bodyPr/>
                    <a:lstStyle/>
                    <a:p>
                      <a:pPr>
                        <a:defRPr sz="1300">
                          <a:solidFill>
                            <a:srgbClr val="FFFFFF"/>
                          </a:solidFill>
                          <a:latin typeface="Segoe UI"/>
                        </a:defRPr>
                      </a:pPr>
                      <a:r>
                        <a:t>Requirements capture (8 CAF areas)</a:t>
                      </a:r>
                    </a:p>
                  </a:txBody>
                  <a:tcPr>
                    <a:solidFill>
                      <a:srgbClr val="002050"/>
                    </a:solidFill>
                  </a:tcPr>
                </a:tc>
                <a:tc>
                  <a:txBody>
                    <a:bodyPr/>
                    <a:lstStyle/>
                    <a:p>
                      <a:pPr>
                        <a:defRPr sz="1300">
                          <a:solidFill>
                            <a:srgbClr val="FFFFFF"/>
                          </a:solidFill>
                          <a:latin typeface="Segoe UI"/>
                        </a:defRPr>
                      </a:pPr>
                      <a:r>
                        <a:t>1</a:t>
                      </a:r>
                    </a:p>
                  </a:txBody>
                  <a:tcPr>
                    <a:solidFill>
                      <a:srgbClr val="002050"/>
                    </a:solidFill>
                  </a:tcPr>
                </a:tc>
              </a:tr>
              <a:tr h="393192">
                <a:tc>
                  <a:txBody>
                    <a:bodyPr/>
                    <a:lstStyle/>
                    <a:p>
                      <a:pPr>
                        <a:defRPr sz="1300">
                          <a:solidFill>
                            <a:srgbClr val="FFFFFF"/>
                          </a:solidFill>
                          <a:latin typeface="Segoe UI"/>
                        </a:defRPr>
                      </a:pPr>
                      <a:r>
                        <a:t>Oracle</a:t>
                      </a:r>
                    </a:p>
                  </a:txBody>
                  <a:tcPr>
                    <a:solidFill>
                      <a:srgbClr val="002B5C"/>
                    </a:solidFill>
                  </a:tcPr>
                </a:tc>
                <a:tc>
                  <a:txBody>
                    <a:bodyPr/>
                    <a:lstStyle/>
                    <a:p>
                      <a:pPr>
                        <a:defRPr sz="1300">
                          <a:solidFill>
                            <a:srgbClr val="FFFFFF"/>
                          </a:solidFill>
                          <a:latin typeface="Segoe UI"/>
                        </a:defRPr>
                      </a:pPr>
                      <a:r>
                        <a:t>WAF assessment + cost estimation</a:t>
                      </a:r>
                    </a:p>
                  </a:txBody>
                  <a:tcPr>
                    <a:solidFill>
                      <a:srgbClr val="002B5C"/>
                    </a:solidFill>
                  </a:tcPr>
                </a:tc>
                <a:tc>
                  <a:txBody>
                    <a:bodyPr/>
                    <a:lstStyle/>
                    <a:p>
                      <a:pPr>
                        <a:defRPr sz="1300">
                          <a:solidFill>
                            <a:srgbClr val="FFFFFF"/>
                          </a:solidFill>
                          <a:latin typeface="Segoe UI"/>
                        </a:defRPr>
                      </a:pPr>
                      <a:r>
                        <a:t>2</a:t>
                      </a:r>
                    </a:p>
                  </a:txBody>
                  <a:tcPr>
                    <a:solidFill>
                      <a:srgbClr val="002B5C"/>
                    </a:solidFill>
                  </a:tcPr>
                </a:tc>
              </a:tr>
              <a:tr h="393192">
                <a:tc>
                  <a:txBody>
                    <a:bodyPr/>
                    <a:lstStyle/>
                    <a:p>
                      <a:pPr>
                        <a:defRPr sz="1300">
                          <a:solidFill>
                            <a:srgbClr val="FFFFFF"/>
                          </a:solidFill>
                          <a:latin typeface="Segoe UI"/>
                        </a:defRPr>
                      </a:pPr>
                      <a:r>
                        <a:t>Warden</a:t>
                      </a:r>
                    </a:p>
                  </a:txBody>
                  <a:tcPr>
                    <a:solidFill>
                      <a:srgbClr val="002050"/>
                    </a:solidFill>
                  </a:tcPr>
                </a:tc>
                <a:tc>
                  <a:txBody>
                    <a:bodyPr/>
                    <a:lstStyle/>
                    <a:p>
                      <a:pPr>
                        <a:defRPr sz="1300">
                          <a:solidFill>
                            <a:srgbClr val="FFFFFF"/>
                          </a:solidFill>
                          <a:latin typeface="Segoe UI"/>
                        </a:defRPr>
                      </a:pPr>
                      <a:r>
                        <a:t>Policy discovery + security baseline</a:t>
                      </a:r>
                    </a:p>
                  </a:txBody>
                  <a:tcPr>
                    <a:solidFill>
                      <a:srgbClr val="002050"/>
                    </a:solidFill>
                  </a:tcPr>
                </a:tc>
                <a:tc>
                  <a:txBody>
                    <a:bodyPr/>
                    <a:lstStyle/>
                    <a:p>
                      <a:pPr>
                        <a:defRPr sz="1300">
                          <a:solidFill>
                            <a:srgbClr val="FFFFFF"/>
                          </a:solidFill>
                          <a:latin typeface="Segoe UI"/>
                        </a:defRPr>
                      </a:pPr>
                      <a:r>
                        <a:t>3.5</a:t>
                      </a:r>
                    </a:p>
                  </a:txBody>
                  <a:tcPr>
                    <a:solidFill>
                      <a:srgbClr val="002050"/>
                    </a:solidFill>
                  </a:tcPr>
                </a:tc>
              </a:tr>
              <a:tr h="393192">
                <a:tc>
                  <a:txBody>
                    <a:bodyPr/>
                    <a:lstStyle/>
                    <a:p>
                      <a:pPr>
                        <a:defRPr sz="1300">
                          <a:solidFill>
                            <a:srgbClr val="FFFFFF"/>
                          </a:solidFill>
                          <a:latin typeface="Segoe UI"/>
                        </a:defRPr>
                      </a:pPr>
                      <a:r>
                        <a:t>Strategist</a:t>
                      </a:r>
                    </a:p>
                  </a:txBody>
                  <a:tcPr>
                    <a:solidFill>
                      <a:srgbClr val="002B5C"/>
                    </a:solidFill>
                  </a:tcPr>
                </a:tc>
                <a:tc>
                  <a:txBody>
                    <a:bodyPr/>
                    <a:lstStyle/>
                    <a:p>
                      <a:pPr>
                        <a:defRPr sz="1300">
                          <a:solidFill>
                            <a:srgbClr val="FFFFFF"/>
                          </a:solidFill>
                          <a:latin typeface="Segoe UI"/>
                        </a:defRPr>
                      </a:pPr>
                      <a:r>
                        <a:t>AVM module selection + planning</a:t>
                      </a:r>
                    </a:p>
                  </a:txBody>
                  <a:tcPr>
                    <a:solidFill>
                      <a:srgbClr val="002B5C"/>
                    </a:solidFill>
                  </a:tcPr>
                </a:tc>
                <a:tc>
                  <a:txBody>
                    <a:bodyPr/>
                    <a:lstStyle/>
                    <a:p>
                      <a:pPr>
                        <a:defRPr sz="1300">
                          <a:solidFill>
                            <a:srgbClr val="FFFFFF"/>
                          </a:solidFill>
                          <a:latin typeface="Segoe UI"/>
                        </a:defRPr>
                      </a:pPr>
                      <a:r>
                        <a:t>4</a:t>
                      </a:r>
                    </a:p>
                  </a:txBody>
                  <a:tcPr>
                    <a:solidFill>
                      <a:srgbClr val="002B5C"/>
                    </a:solidFill>
                  </a:tcPr>
                </a:tc>
              </a:tr>
              <a:tr h="393192">
                <a:tc>
                  <a:txBody>
                    <a:bodyPr/>
                    <a:lstStyle/>
                    <a:p>
                      <a:pPr>
                        <a:defRPr sz="1300">
                          <a:solidFill>
                            <a:srgbClr val="FFFFFF"/>
                          </a:solidFill>
                          <a:latin typeface="Segoe UI"/>
                        </a:defRPr>
                      </a:pPr>
                      <a:r>
                        <a:t>Forge</a:t>
                      </a:r>
                    </a:p>
                  </a:txBody>
                  <a:tcPr>
                    <a:solidFill>
                      <a:srgbClr val="002050"/>
                    </a:solidFill>
                  </a:tcPr>
                </a:tc>
                <a:tc>
                  <a:txBody>
                    <a:bodyPr/>
                    <a:lstStyle/>
                    <a:p>
                      <a:pPr>
                        <a:defRPr sz="1300">
                          <a:solidFill>
                            <a:srgbClr val="FFFFFF"/>
                          </a:solidFill>
                          <a:latin typeface="Segoe UI"/>
                        </a:defRPr>
                      </a:pPr>
                      <a:r>
                        <a:t>Bicep/Terraform code generation</a:t>
                      </a:r>
                    </a:p>
                  </a:txBody>
                  <a:tcPr>
                    <a:solidFill>
                      <a:srgbClr val="002050"/>
                    </a:solidFill>
                  </a:tcPr>
                </a:tc>
                <a:tc>
                  <a:txBody>
                    <a:bodyPr/>
                    <a:lstStyle/>
                    <a:p>
                      <a:pPr>
                        <a:defRPr sz="1300">
                          <a:solidFill>
                            <a:srgbClr val="FFFFFF"/>
                          </a:solidFill>
                          <a:latin typeface="Segoe UI"/>
                        </a:defRPr>
                      </a:pPr>
                      <a:r>
                        <a:t>5</a:t>
                      </a:r>
                    </a:p>
                  </a:txBody>
                  <a:tcPr>
                    <a:solidFill>
                      <a:srgbClr val="002050"/>
                    </a:solidFill>
                  </a:tcPr>
                </a:tc>
              </a:tr>
              <a:tr h="393192">
                <a:tc>
                  <a:txBody>
                    <a:bodyPr/>
                    <a:lstStyle/>
                    <a:p>
                      <a:pPr>
                        <a:defRPr sz="1300">
                          <a:solidFill>
                            <a:srgbClr val="FFFFFF"/>
                          </a:solidFill>
                          <a:latin typeface="Segoe UI"/>
                        </a:defRPr>
                      </a:pPr>
                      <a:r>
                        <a:t>Envoy</a:t>
                      </a:r>
                    </a:p>
                  </a:txBody>
                  <a:tcPr>
                    <a:solidFill>
                      <a:srgbClr val="002B5C"/>
                    </a:solidFill>
                  </a:tcPr>
                </a:tc>
                <a:tc>
                  <a:txBody>
                    <a:bodyPr/>
                    <a:lstStyle/>
                    <a:p>
                      <a:pPr>
                        <a:defRPr sz="1300">
                          <a:solidFill>
                            <a:srgbClr val="FFFFFF"/>
                          </a:solidFill>
                          <a:latin typeface="Segoe UI"/>
                        </a:defRPr>
                      </a:pPr>
                      <a:r>
                        <a:t>Deploy with what-if preview</a:t>
                      </a:r>
                    </a:p>
                  </a:txBody>
                  <a:tcPr>
                    <a:solidFill>
                      <a:srgbClr val="002B5C"/>
                    </a:solidFill>
                  </a:tcPr>
                </a:tc>
                <a:tc>
                  <a:txBody>
                    <a:bodyPr/>
                    <a:lstStyle/>
                    <a:p>
                      <a:pPr>
                        <a:defRPr sz="1300">
                          <a:solidFill>
                            <a:srgbClr val="FFFFFF"/>
                          </a:solidFill>
                          <a:latin typeface="Segoe UI"/>
                        </a:defRPr>
                      </a:pPr>
                      <a:r>
                        <a:t>6</a:t>
                      </a:r>
                    </a:p>
                  </a:txBody>
                  <a:tcPr>
                    <a:solidFill>
                      <a:srgbClr val="002B5C"/>
                    </a:solidFill>
                  </a:tcPr>
                </a:tc>
              </a:tr>
              <a:tr h="393192">
                <a:tc>
                  <a:txBody>
                    <a:bodyPr/>
                    <a:lstStyle/>
                    <a:p>
                      <a:pPr>
                        <a:defRPr sz="1300">
                          <a:solidFill>
                            <a:srgbClr val="FFFFFF"/>
                          </a:solidFill>
                          <a:latin typeface="Segoe UI"/>
                        </a:defRPr>
                      </a:pPr>
                      <a:r>
                        <a:t>Sentinel</a:t>
                      </a:r>
                    </a:p>
                  </a:txBody>
                  <a:tcPr>
                    <a:solidFill>
                      <a:srgbClr val="002050"/>
                    </a:solidFill>
                  </a:tcPr>
                </a:tc>
                <a:tc>
                  <a:txBody>
                    <a:bodyPr/>
                    <a:lstStyle/>
                    <a:p>
                      <a:pPr>
                        <a:defRPr sz="1300">
                          <a:solidFill>
                            <a:srgbClr val="FFFFFF"/>
                          </a:solidFill>
                          <a:latin typeface="Segoe UI"/>
                        </a:defRPr>
                      </a:pPr>
                      <a:r>
                        <a:t>Continuous compliance monitoring</a:t>
                      </a:r>
                    </a:p>
                  </a:txBody>
                  <a:tcPr>
                    <a:solidFill>
                      <a:srgbClr val="002050"/>
                    </a:solidFill>
                  </a:tcPr>
                </a:tc>
                <a:tc>
                  <a:txBody>
                    <a:bodyPr/>
                    <a:lstStyle/>
                    <a:p>
                      <a:pPr>
                        <a:defRPr sz="1300">
                          <a:solidFill>
                            <a:srgbClr val="FFFFFF"/>
                          </a:solidFill>
                          <a:latin typeface="Segoe UI"/>
                        </a:defRPr>
                      </a:pPr>
                      <a:r>
                        <a:t>8</a:t>
                      </a:r>
                    </a:p>
                  </a:txBody>
                  <a:tcPr>
                    <a:solidFill>
                      <a:srgbClr val="002050"/>
                    </a:solidFill>
                  </a:tcPr>
                </a:tc>
              </a:tr>
              <a:tr h="393192">
                <a:tc>
                  <a:txBody>
                    <a:bodyPr/>
                    <a:lstStyle/>
                    <a:p>
                      <a:pPr>
                        <a:defRPr sz="1300">
                          <a:solidFill>
                            <a:srgbClr val="FFFFFF"/>
                          </a:solidFill>
                          <a:latin typeface="Segoe UI"/>
                        </a:defRPr>
                      </a:pPr>
                      <a:r>
                        <a:t>Mender</a:t>
                      </a:r>
                    </a:p>
                  </a:txBody>
                  <a:tcPr>
                    <a:solidFill>
                      <a:srgbClr val="002B5C"/>
                    </a:solidFill>
                  </a:tcPr>
                </a:tc>
                <a:tc>
                  <a:txBody>
                    <a:bodyPr/>
                    <a:lstStyle/>
                    <a:p>
                      <a:pPr>
                        <a:defRPr sz="1300">
                          <a:solidFill>
                            <a:srgbClr val="FFFFFF"/>
                          </a:solidFill>
                          <a:latin typeface="Segoe UI"/>
                        </a:defRPr>
                      </a:pPr>
                      <a:r>
                        <a:t>Auto-remediation with rollback</a:t>
                      </a:r>
                    </a:p>
                  </a:txBody>
                  <a:tcPr>
                    <a:solidFill>
                      <a:srgbClr val="002B5C"/>
                    </a:solidFill>
                  </a:tcPr>
                </a:tc>
                <a:tc>
                  <a:txBody>
                    <a:bodyPr/>
                    <a:lstStyle/>
                    <a:p>
                      <a:pPr>
                        <a:defRPr sz="1300">
                          <a:solidFill>
                            <a:srgbClr val="FFFFFF"/>
                          </a:solidFill>
                          <a:latin typeface="Segoe UI"/>
                        </a:defRPr>
                      </a:pPr>
                      <a:r>
                        <a:t>9</a:t>
                      </a:r>
                    </a:p>
                  </a:txBody>
                  <a:tcPr>
                    <a:solidFill>
                      <a:srgbClr val="002B5C"/>
                    </a:solidFill>
                  </a:tcPr>
                </a:tc>
              </a:tr>
              <a:tr h="393192">
                <a:tc>
                  <a:txBody>
                    <a:bodyPr/>
                    <a:lstStyle/>
                    <a:p>
                      <a:pPr>
                        <a:defRPr sz="1300">
                          <a:solidFill>
                            <a:srgbClr val="FFFFFF"/>
                          </a:solidFill>
                          <a:latin typeface="Segoe UI"/>
                        </a:defRPr>
                      </a:pPr>
                      <a:r>
                        <a:t>Challenger</a:t>
                      </a:r>
                    </a:p>
                  </a:txBody>
                  <a:tcPr>
                    <a:solidFill>
                      <a:srgbClr val="002050"/>
                    </a:solidFill>
                  </a:tcPr>
                </a:tc>
                <a:tc>
                  <a:txBody>
                    <a:bodyPr/>
                    <a:lstStyle/>
                    <a:p>
                      <a:pPr>
                        <a:defRPr sz="1300">
                          <a:solidFill>
                            <a:srgbClr val="FFFFFF"/>
                          </a:solidFill>
                          <a:latin typeface="Segoe UI"/>
                        </a:defRPr>
                      </a:pPr>
                      <a:r>
                        <a:t>Adversarial review at gates</a:t>
                      </a:r>
                    </a:p>
                  </a:txBody>
                  <a:tcPr>
                    <a:solidFill>
                      <a:srgbClr val="002050"/>
                    </a:solidFill>
                  </a:tcPr>
                </a:tc>
                <a:tc>
                  <a:txBody>
                    <a:bodyPr/>
                    <a:lstStyle/>
                    <a:p>
                      <a:pPr>
                        <a:defRPr sz="1300">
                          <a:solidFill>
                            <a:srgbClr val="FFFFFF"/>
                          </a:solidFill>
                          <a:latin typeface="Segoe UI"/>
                        </a:defRPr>
                      </a:pPr>
                      <a:r>
                        <a:t>Gates</a:t>
                      </a:r>
                    </a:p>
                  </a:txBody>
                  <a:tcPr>
                    <a:solidFill>
                      <a:srgbClr val="002050"/>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Layered Architecture</a:t>
            </a:r>
          </a:p>
        </p:txBody>
      </p:sp>
      <p:sp>
        <p:nvSpPr>
          <p:cNvPr id="4" name="Rectangle 3"/>
          <p:cNvSpPr/>
          <p:nvPr/>
        </p:nvSpPr>
        <p:spPr>
          <a:xfrm>
            <a:off x="548640" y="1371600"/>
            <a:ext cx="11064240" cy="6400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l"/>
            <a:r>
              <a:rPr sz="1800" b="1">
                <a:solidFill>
                  <a:srgbClr val="FFFFFF"/>
                </a:solidFill>
                <a:latin typeface="Segoe UI"/>
              </a:rPr>
              <a:t>Agents Layer: 15 specialized agents (Conductor, Scribe, Oracle, Forge, Sentinel...)</a:t>
            </a:r>
          </a:p>
        </p:txBody>
      </p:sp>
      <p:sp>
        <p:nvSpPr>
          <p:cNvPr id="5" name="Rectangle 4"/>
          <p:cNvSpPr/>
          <p:nvPr/>
        </p:nvSpPr>
        <p:spPr>
          <a:xfrm>
            <a:off x="548640" y="2103120"/>
            <a:ext cx="11064240" cy="6400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l"/>
            <a:r>
              <a:rPr sz="1800" b="1">
                <a:solidFill>
                  <a:srgbClr val="FFFFFF"/>
                </a:solidFill>
                <a:latin typeface="Segoe UI"/>
              </a:rPr>
              <a:t>Skills Layer: 60+ skills (Azure services, CAF, WAF, IaC patterns, security baseline)</a:t>
            </a:r>
          </a:p>
        </p:txBody>
      </p:sp>
      <p:sp>
        <p:nvSpPr>
          <p:cNvPr id="6" name="Rectangle 5"/>
          <p:cNvSpPr/>
          <p:nvPr/>
        </p:nvSpPr>
        <p:spPr>
          <a:xfrm>
            <a:off x="548640" y="2834640"/>
            <a:ext cx="11064240" cy="640080"/>
          </a:xfrm>
          <a:prstGeom prst="rect">
            <a:avLst/>
          </a:prstGeom>
          <a:solidFill>
            <a:srgbClr val="002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l"/>
            <a:r>
              <a:rPr sz="1800" b="1">
                <a:solidFill>
                  <a:srgbClr val="FFFFFF"/>
                </a:solidFill>
                <a:latin typeface="Segoe UI"/>
              </a:rPr>
              <a:t>Tools Layer: 15 tools (Azure CLI, Resource Graph, Policy, Defender, Cost Management)</a:t>
            </a:r>
          </a:p>
        </p:txBody>
      </p:sp>
      <p:sp>
        <p:nvSpPr>
          <p:cNvPr id="7" name="Rectangle 6"/>
          <p:cNvSpPr/>
          <p:nvPr/>
        </p:nvSpPr>
        <p:spPr>
          <a:xfrm>
            <a:off x="548640" y="3566160"/>
            <a:ext cx="11064240" cy="6400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l"/>
            <a:r>
              <a:rPr sz="1800" b="1">
                <a:solidFill>
                  <a:srgbClr val="FFFFFF"/>
                </a:solidFill>
                <a:latin typeface="Segoe UI"/>
              </a:rPr>
              <a:t>MCP Servers: 3 servers (azure-pricing: 18 tools, azure-platform: 27 tools, drawio)</a:t>
            </a:r>
          </a:p>
        </p:txBody>
      </p:sp>
      <p:sp>
        <p:nvSpPr>
          <p:cNvPr id="8" name="Rectangle 7"/>
          <p:cNvSpPr/>
          <p:nvPr/>
        </p:nvSpPr>
        <p:spPr>
          <a:xfrm>
            <a:off x="548640" y="4297680"/>
            <a:ext cx="11064240" cy="640080"/>
          </a:xfrm>
          <a:prstGeom prst="rect">
            <a:avLst/>
          </a:prstGeom>
          <a:solidFill>
            <a:srgbClr val="0020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l"/>
            <a:r>
              <a:rPr sz="1800" b="1">
                <a:solidFill>
                  <a:srgbClr val="FFFFFF"/>
                </a:solidFill>
                <a:latin typeface="Segoe UI"/>
              </a:rPr>
              <a:t>Hooks Layer: 6 runtime hooks (tool-guardian, secrets-scanner, governance-audit)</a:t>
            </a:r>
          </a:p>
        </p:txBody>
      </p:sp>
      <p:sp>
        <p:nvSpPr>
          <p:cNvPr id="9" name="Rectangle 8"/>
          <p:cNvSpPr/>
          <p:nvPr/>
        </p:nvSpPr>
        <p:spPr>
          <a:xfrm>
            <a:off x="548640" y="5029200"/>
            <a:ext cx="11064240" cy="6400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l"/>
            <a:r>
              <a:rPr sz="1800" b="1">
                <a:solidFill>
                  <a:srgbClr val="FFFFFF"/>
                </a:solidFill>
                <a:latin typeface="Segoe UI"/>
              </a:rPr>
              <a:t>CI/CD Layer: 18 GitHub Actions workflows (bootstrap, deploy, monitor, validate)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Security Baseline + Governance (Non-Negotiable)</a:t>
            </a:r>
          </a:p>
        </p:txBody>
      </p:sp>
      <p:sp>
        <p:nvSpPr>
          <p:cNvPr id="4" name="TextBox 3"/>
          <p:cNvSpPr txBox="1"/>
          <p:nvPr/>
        </p:nvSpPr>
        <p:spPr>
          <a:xfrm>
            <a:off x="548640" y="1554480"/>
            <a:ext cx="5303520" cy="4389120"/>
          </a:xfrm>
          <a:prstGeom prst="rect">
            <a:avLst/>
          </a:prstGeom>
          <a:noFill/>
        </p:spPr>
        <p:txBody>
          <a:bodyPr wrap="square">
            <a:spAutoFit/>
          </a:bodyPr>
          <a:lstStyle/>
          <a:p>
            <a:pPr>
              <a:spcBef>
                <a:spcPts val="800"/>
              </a:spcBef>
              <a:spcAft>
                <a:spcPts val="400"/>
              </a:spcAft>
              <a:buChar char="•"/>
              <a:buSzPct val="100000"/>
            </a:pPr>
            <a:r>
              <a:rPr sz="1800" b="0">
                <a:solidFill>
                  <a:srgbClr val="D9E8F5"/>
                </a:solidFill>
                <a:latin typeface="Segoe UI"/>
              </a:rPr>
              <a:t>6 Security Rules (enforced always):</a:t>
            </a:r>
          </a:p>
          <a:p>
            <a:pPr>
              <a:spcBef>
                <a:spcPts val="800"/>
              </a:spcBef>
              <a:spcAft>
                <a:spcPts val="400"/>
              </a:spcAft>
              <a:buChar char="•"/>
              <a:buSzPct val="100000"/>
            </a:pPr>
            <a:r>
              <a:rPr sz="1800" b="0">
                <a:solidFill>
                  <a:srgbClr val="D9E8F5"/>
                </a:solidFill>
                <a:latin typeface="Segoe UI"/>
              </a:rPr>
              <a:t>  TLS 1.2 minimum on all resources</a:t>
            </a:r>
          </a:p>
          <a:p>
            <a:pPr>
              <a:spcBef>
                <a:spcPts val="800"/>
              </a:spcBef>
              <a:spcAft>
                <a:spcPts val="400"/>
              </a:spcAft>
              <a:buChar char="•"/>
              <a:buSzPct val="100000"/>
            </a:pPr>
            <a:r>
              <a:rPr sz="1800" b="0">
                <a:solidFill>
                  <a:srgbClr val="D9E8F5"/>
                </a:solidFill>
                <a:latin typeface="Segoe UI"/>
              </a:rPr>
              <a:t>  HTTPS-only traffic</a:t>
            </a:r>
          </a:p>
          <a:p>
            <a:pPr>
              <a:spcBef>
                <a:spcPts val="800"/>
              </a:spcBef>
              <a:spcAft>
                <a:spcPts val="400"/>
              </a:spcAft>
              <a:buChar char="•"/>
              <a:buSzPct val="100000"/>
            </a:pPr>
            <a:r>
              <a:rPr sz="1800" b="0">
                <a:solidFill>
                  <a:srgbClr val="D9E8F5"/>
                </a:solidFill>
                <a:latin typeface="Segoe UI"/>
              </a:rPr>
              <a:t>  No public blob access</a:t>
            </a:r>
          </a:p>
          <a:p>
            <a:pPr>
              <a:spcBef>
                <a:spcPts val="800"/>
              </a:spcBef>
              <a:spcAft>
                <a:spcPts val="400"/>
              </a:spcAft>
              <a:buChar char="•"/>
              <a:buSzPct val="100000"/>
            </a:pPr>
            <a:r>
              <a:rPr sz="1800" b="0">
                <a:solidFill>
                  <a:srgbClr val="D9E8F5"/>
                </a:solidFill>
                <a:latin typeface="Segoe UI"/>
              </a:rPr>
              <a:t>  Managed Identity preferred</a:t>
            </a:r>
          </a:p>
          <a:p>
            <a:pPr>
              <a:spcBef>
                <a:spcPts val="800"/>
              </a:spcBef>
              <a:spcAft>
                <a:spcPts val="400"/>
              </a:spcAft>
              <a:buChar char="•"/>
              <a:buSzPct val="100000"/>
            </a:pPr>
            <a:r>
              <a:rPr sz="1800" b="0">
                <a:solidFill>
                  <a:srgbClr val="D9E8F5"/>
                </a:solidFill>
                <a:latin typeface="Segoe UI"/>
              </a:rPr>
              <a:t>  Azure AD-only SQL authentication</a:t>
            </a:r>
          </a:p>
          <a:p>
            <a:pPr>
              <a:spcBef>
                <a:spcPts val="800"/>
              </a:spcBef>
              <a:spcAft>
                <a:spcPts val="400"/>
              </a:spcAft>
              <a:buChar char="•"/>
              <a:buSzPct val="100000"/>
            </a:pPr>
            <a:r>
              <a:rPr sz="1800" b="0">
                <a:solidFill>
                  <a:srgbClr val="D9E8F5"/>
                </a:solidFill>
                <a:latin typeface="Segoe UI"/>
              </a:rPr>
              <a:t>  Public network disabled (prod)</a:t>
            </a:r>
          </a:p>
        </p:txBody>
      </p:sp>
      <p:sp>
        <p:nvSpPr>
          <p:cNvPr id="5" name="TextBox 4"/>
          <p:cNvSpPr txBox="1"/>
          <p:nvPr/>
        </p:nvSpPr>
        <p:spPr>
          <a:xfrm>
            <a:off x="6217920" y="1554480"/>
            <a:ext cx="5303520" cy="4389120"/>
          </a:xfrm>
          <a:prstGeom prst="rect">
            <a:avLst/>
          </a:prstGeom>
          <a:noFill/>
        </p:spPr>
        <p:txBody>
          <a:bodyPr wrap="square">
            <a:spAutoFit/>
          </a:bodyPr>
          <a:lstStyle/>
          <a:p>
            <a:pPr>
              <a:spcBef>
                <a:spcPts val="800"/>
              </a:spcBef>
              <a:spcAft>
                <a:spcPts val="400"/>
              </a:spcAft>
              <a:buChar char="•"/>
              <a:buSzPct val="100000"/>
            </a:pPr>
            <a:r>
              <a:rPr sz="1800" b="0">
                <a:solidFill>
                  <a:srgbClr val="D9E8F5"/>
                </a:solidFill>
                <a:latin typeface="Segoe UI"/>
              </a:rPr>
              <a:t>Cost Governance:</a:t>
            </a:r>
          </a:p>
          <a:p>
            <a:pPr>
              <a:spcBef>
                <a:spcPts val="800"/>
              </a:spcBef>
              <a:spcAft>
                <a:spcPts val="400"/>
              </a:spcAft>
              <a:buChar char="•"/>
              <a:buSzPct val="100000"/>
            </a:pPr>
            <a:r>
              <a:rPr sz="1800" b="0">
                <a:solidFill>
                  <a:srgbClr val="D9E8F5"/>
                </a:solidFill>
                <a:latin typeface="Segoe UI"/>
              </a:rPr>
              <a:t>  Budget alerts at 80% / 100% / 120%</a:t>
            </a:r>
          </a:p>
          <a:p>
            <a:pPr>
              <a:spcBef>
                <a:spcPts val="800"/>
              </a:spcBef>
              <a:spcAft>
                <a:spcPts val="400"/>
              </a:spcAft>
              <a:buChar char="•"/>
              <a:buSzPct val="100000"/>
            </a:pPr>
            <a:r>
              <a:rPr sz="1800" b="0">
                <a:solidFill>
                  <a:srgbClr val="D9E8F5"/>
                </a:solidFill>
                <a:latin typeface="Segoe UI"/>
              </a:rPr>
              <a:t>  Parameterized per environment</a:t>
            </a:r>
          </a:p>
          <a:p>
            <a:pPr>
              <a:spcBef>
                <a:spcPts val="800"/>
              </a:spcBef>
              <a:spcAft>
                <a:spcPts val="400"/>
              </a:spcAft>
              <a:buChar char="•"/>
              <a:buSzPct val="100000"/>
            </a:pPr>
            <a:r>
              <a:rPr sz="1800" b="0">
                <a:solidFill>
                  <a:srgbClr val="D9E8F5"/>
                </a:solidFill>
                <a:latin typeface="Segoe UI"/>
              </a:rPr>
              <a:t/>
            </a:r>
          </a:p>
          <a:p>
            <a:pPr>
              <a:spcBef>
                <a:spcPts val="800"/>
              </a:spcBef>
              <a:spcAft>
                <a:spcPts val="400"/>
              </a:spcAft>
              <a:buChar char="•"/>
              <a:buSzPct val="100000"/>
            </a:pPr>
            <a:r>
              <a:rPr sz="1800" b="0">
                <a:solidFill>
                  <a:srgbClr val="D9E8F5"/>
                </a:solidFill>
                <a:latin typeface="Segoe UI"/>
              </a:rPr>
              <a:t>Compliance:</a:t>
            </a:r>
          </a:p>
          <a:p>
            <a:pPr>
              <a:spcBef>
                <a:spcPts val="800"/>
              </a:spcBef>
              <a:spcAft>
                <a:spcPts val="400"/>
              </a:spcAft>
              <a:buChar char="•"/>
              <a:buSzPct val="100000"/>
            </a:pPr>
            <a:r>
              <a:rPr sz="1800" b="0">
                <a:solidFill>
                  <a:srgbClr val="D9E8F5"/>
                </a:solidFill>
                <a:latin typeface="Segoe UI"/>
              </a:rPr>
              <a:t>  Azure Policy discovery + assignment</a:t>
            </a:r>
          </a:p>
          <a:p>
            <a:pPr>
              <a:spcBef>
                <a:spcPts val="800"/>
              </a:spcBef>
              <a:spcAft>
                <a:spcPts val="400"/>
              </a:spcAft>
              <a:buChar char="•"/>
              <a:buSzPct val="100000"/>
            </a:pPr>
            <a:r>
              <a:rPr sz="1800" b="0">
                <a:solidFill>
                  <a:srgbClr val="D9E8F5"/>
                </a:solidFill>
                <a:latin typeface="Segoe UI"/>
              </a:rPr>
              <a:t>  Continuous posture monitoring</a:t>
            </a:r>
          </a:p>
          <a:p>
            <a:pPr>
              <a:spcBef>
                <a:spcPts val="800"/>
              </a:spcBef>
              <a:spcAft>
                <a:spcPts val="400"/>
              </a:spcAft>
              <a:buChar char="•"/>
              <a:buSzPct val="100000"/>
            </a:pPr>
            <a:r>
              <a:rPr sz="1800" b="0">
                <a:solidFill>
                  <a:srgbClr val="D9E8F5"/>
                </a:solidFill>
                <a:latin typeface="Segoe UI"/>
              </a:rPr>
              <a:t>  Challenger reviews at 4 gates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CI/CD: 5-Stage Reusable Pipeline</a:t>
            </a:r>
          </a:p>
        </p:txBody>
      </p:sp>
      <p:graphicFrame>
        <p:nvGraphicFramePr>
          <p:cNvPr id="4" name="Table 3"/>
          <p:cNvGraphicFramePr>
            <a:graphicFrameLocks noGrp="1"/>
          </p:cNvGraphicFramePr>
          <p:nvPr/>
        </p:nvGraphicFramePr>
        <p:xfrm>
          <a:off x="548640" y="1645920"/>
          <a:ext cx="11064240" cy="2468880"/>
        </p:xfrm>
        <a:graphic>
          <a:graphicData uri="http://schemas.openxmlformats.org/drawingml/2006/table">
            <a:tbl>
              <a:tblPr firstRow="1" bandRow="1">
                <a:tableStyleId>{5C22544A-7EE6-4342-B048-85BDC9FD1C3A}</a:tableStyleId>
              </a:tblPr>
              <a:tblGrid>
                <a:gridCol w="3688080"/>
                <a:gridCol w="3688080"/>
                <a:gridCol w="3688080"/>
              </a:tblGrid>
              <a:tr h="411480">
                <a:tc>
                  <a:txBody>
                    <a:bodyPr/>
                    <a:lstStyle/>
                    <a:p>
                      <a:pPr>
                        <a:defRPr b="1" sz="1400">
                          <a:solidFill>
                            <a:srgbClr val="FFFFFF"/>
                          </a:solidFill>
                          <a:latin typeface="Segoe UI"/>
                        </a:defRPr>
                      </a:pPr>
                      <a:r>
                        <a:t>Stage</a:t>
                      </a:r>
                    </a:p>
                  </a:txBody>
                  <a:tcPr>
                    <a:solidFill>
                      <a:srgbClr val="0078D4"/>
                    </a:solidFill>
                  </a:tcPr>
                </a:tc>
                <a:tc>
                  <a:txBody>
                    <a:bodyPr/>
                    <a:lstStyle/>
                    <a:p>
                      <a:pPr>
                        <a:defRPr b="1" sz="1400">
                          <a:solidFill>
                            <a:srgbClr val="FFFFFF"/>
                          </a:solidFill>
                          <a:latin typeface="Segoe UI"/>
                        </a:defRPr>
                      </a:pPr>
                      <a:r>
                        <a:t>Action</a:t>
                      </a:r>
                    </a:p>
                  </a:txBody>
                  <a:tcPr>
                    <a:solidFill>
                      <a:srgbClr val="0078D4"/>
                    </a:solidFill>
                  </a:tcPr>
                </a:tc>
                <a:tc>
                  <a:txBody>
                    <a:bodyPr/>
                    <a:lstStyle/>
                    <a:p>
                      <a:pPr>
                        <a:defRPr b="1" sz="1400">
                          <a:solidFill>
                            <a:srgbClr val="FFFFFF"/>
                          </a:solidFill>
                          <a:latin typeface="Segoe UI"/>
                        </a:defRPr>
                      </a:pPr>
                      <a:r>
                        <a:t>Tools</a:t>
                      </a:r>
                    </a:p>
                  </a:txBody>
                  <a:tcPr>
                    <a:solidFill>
                      <a:srgbClr val="0078D4"/>
                    </a:solidFill>
                  </a:tcPr>
                </a:tc>
              </a:tr>
              <a:tr h="411480">
                <a:tc>
                  <a:txBody>
                    <a:bodyPr/>
                    <a:lstStyle/>
                    <a:p>
                      <a:pPr>
                        <a:defRPr sz="1300">
                          <a:solidFill>
                            <a:srgbClr val="FFFFFF"/>
                          </a:solidFill>
                          <a:latin typeface="Segoe UI"/>
                        </a:defRPr>
                      </a:pPr>
                      <a:r>
                        <a:t>1. Resolve</a:t>
                      </a:r>
                    </a:p>
                  </a:txBody>
                  <a:tcPr>
                    <a:solidFill>
                      <a:srgbClr val="002050"/>
                    </a:solidFill>
                  </a:tcPr>
                </a:tc>
                <a:tc>
                  <a:txBody>
                    <a:bodyPr/>
                    <a:lstStyle/>
                    <a:p>
                      <a:pPr>
                        <a:defRPr sz="1300">
                          <a:solidFill>
                            <a:srgbClr val="FFFFFF"/>
                          </a:solidFill>
                          <a:latin typeface="Segoe UI"/>
                        </a:defRPr>
                      </a:pPr>
                      <a:r>
                        <a:t>Validate Azure access via OIDC</a:t>
                      </a:r>
                    </a:p>
                  </a:txBody>
                  <a:tcPr>
                    <a:solidFill>
                      <a:srgbClr val="002050"/>
                    </a:solidFill>
                  </a:tcPr>
                </a:tc>
                <a:tc>
                  <a:txBody>
                    <a:bodyPr/>
                    <a:lstStyle/>
                    <a:p>
                      <a:pPr>
                        <a:defRPr sz="1300">
                          <a:solidFill>
                            <a:srgbClr val="FFFFFF"/>
                          </a:solidFill>
                          <a:latin typeface="Segoe UI"/>
                        </a:defRPr>
                      </a:pPr>
                      <a:r>
                        <a:t>Workload Identity Federation</a:t>
                      </a:r>
                    </a:p>
                  </a:txBody>
                  <a:tcPr>
                    <a:solidFill>
                      <a:srgbClr val="002050"/>
                    </a:solidFill>
                  </a:tcPr>
                </a:tc>
              </a:tr>
              <a:tr h="411480">
                <a:tc>
                  <a:txBody>
                    <a:bodyPr/>
                    <a:lstStyle/>
                    <a:p>
                      <a:pPr>
                        <a:defRPr sz="1300">
                          <a:solidFill>
                            <a:srgbClr val="FFFFFF"/>
                          </a:solidFill>
                          <a:latin typeface="Segoe UI"/>
                        </a:defRPr>
                      </a:pPr>
                      <a:r>
                        <a:t>2. Validate</a:t>
                      </a:r>
                    </a:p>
                  </a:txBody>
                  <a:tcPr>
                    <a:solidFill>
                      <a:srgbClr val="002B5C"/>
                    </a:solidFill>
                  </a:tcPr>
                </a:tc>
                <a:tc>
                  <a:txBody>
                    <a:bodyPr/>
                    <a:lstStyle/>
                    <a:p>
                      <a:pPr>
                        <a:defRPr sz="1300">
                          <a:solidFill>
                            <a:srgbClr val="FFFFFF"/>
                          </a:solidFill>
                          <a:latin typeface="Segoe UI"/>
                        </a:defRPr>
                      </a:pPr>
                      <a:r>
                        <a:t>Security baseline + cost governance + lint</a:t>
                      </a:r>
                    </a:p>
                  </a:txBody>
                  <a:tcPr>
                    <a:solidFill>
                      <a:srgbClr val="002B5C"/>
                    </a:solidFill>
                  </a:tcPr>
                </a:tc>
                <a:tc>
                  <a:txBody>
                    <a:bodyPr/>
                    <a:lstStyle/>
                    <a:p>
                      <a:pPr>
                        <a:defRPr sz="1300">
                          <a:solidFill>
                            <a:srgbClr val="FFFFFF"/>
                          </a:solidFill>
                          <a:latin typeface="Segoe UI"/>
                        </a:defRPr>
                      </a:pPr>
                      <a:r>
                        <a:t>Validators, az bicep lint, terraform validate</a:t>
                      </a:r>
                    </a:p>
                  </a:txBody>
                  <a:tcPr>
                    <a:solidFill>
                      <a:srgbClr val="002B5C"/>
                    </a:solidFill>
                  </a:tcPr>
                </a:tc>
              </a:tr>
              <a:tr h="411480">
                <a:tc>
                  <a:txBody>
                    <a:bodyPr/>
                    <a:lstStyle/>
                    <a:p>
                      <a:pPr>
                        <a:defRPr sz="1300">
                          <a:solidFill>
                            <a:srgbClr val="FFFFFF"/>
                          </a:solidFill>
                          <a:latin typeface="Segoe UI"/>
                        </a:defRPr>
                      </a:pPr>
                      <a:r>
                        <a:t>3. Plan</a:t>
                      </a:r>
                    </a:p>
                  </a:txBody>
                  <a:tcPr>
                    <a:solidFill>
                      <a:srgbClr val="002050"/>
                    </a:solidFill>
                  </a:tcPr>
                </a:tc>
                <a:tc>
                  <a:txBody>
                    <a:bodyPr/>
                    <a:lstStyle/>
                    <a:p>
                      <a:pPr>
                        <a:defRPr sz="1300">
                          <a:solidFill>
                            <a:srgbClr val="FFFFFF"/>
                          </a:solidFill>
                          <a:latin typeface="Segoe UI"/>
                        </a:defRPr>
                      </a:pPr>
                      <a:r>
                        <a:t>Bicep what-if / Terraform plan</a:t>
                      </a:r>
                    </a:p>
                  </a:txBody>
                  <a:tcPr>
                    <a:solidFill>
                      <a:srgbClr val="002050"/>
                    </a:solidFill>
                  </a:tcPr>
                </a:tc>
                <a:tc>
                  <a:txBody>
                    <a:bodyPr/>
                    <a:lstStyle/>
                    <a:p>
                      <a:pPr>
                        <a:defRPr sz="1300">
                          <a:solidFill>
                            <a:srgbClr val="FFFFFF"/>
                          </a:solidFill>
                          <a:latin typeface="Segoe UI"/>
                        </a:defRPr>
                      </a:pPr>
                      <a:r>
                        <a:t>ARM deployment, TF state</a:t>
                      </a:r>
                    </a:p>
                  </a:txBody>
                  <a:tcPr>
                    <a:solidFill>
                      <a:srgbClr val="002050"/>
                    </a:solidFill>
                  </a:tcPr>
                </a:tc>
              </a:tr>
              <a:tr h="411480">
                <a:tc>
                  <a:txBody>
                    <a:bodyPr/>
                    <a:lstStyle/>
                    <a:p>
                      <a:pPr>
                        <a:defRPr sz="1300">
                          <a:solidFill>
                            <a:srgbClr val="FFFFFF"/>
                          </a:solidFill>
                          <a:latin typeface="Segoe UI"/>
                        </a:defRPr>
                      </a:pPr>
                      <a:r>
                        <a:t>4. Deploy</a:t>
                      </a:r>
                    </a:p>
                  </a:txBody>
                  <a:tcPr>
                    <a:solidFill>
                      <a:srgbClr val="002B5C"/>
                    </a:solidFill>
                  </a:tcPr>
                </a:tc>
                <a:tc>
                  <a:txBody>
                    <a:bodyPr/>
                    <a:lstStyle/>
                    <a:p>
                      <a:pPr>
                        <a:defRPr sz="1300">
                          <a:solidFill>
                            <a:srgbClr val="FFFFFF"/>
                          </a:solidFill>
                          <a:latin typeface="Segoe UI"/>
                        </a:defRPr>
                      </a:pPr>
                      <a:r>
                        <a:t>Apply with timestamped deployment name</a:t>
                      </a:r>
                    </a:p>
                  </a:txBody>
                  <a:tcPr>
                    <a:solidFill>
                      <a:srgbClr val="002B5C"/>
                    </a:solidFill>
                  </a:tcPr>
                </a:tc>
                <a:tc>
                  <a:txBody>
                    <a:bodyPr/>
                    <a:lstStyle/>
                    <a:p>
                      <a:pPr>
                        <a:defRPr sz="1300">
                          <a:solidFill>
                            <a:srgbClr val="FFFFFF"/>
                          </a:solidFill>
                          <a:latin typeface="Segoe UI"/>
                        </a:defRPr>
                      </a:pPr>
                      <a:r>
                        <a:t>az deployment, terraform apply</a:t>
                      </a:r>
                    </a:p>
                  </a:txBody>
                  <a:tcPr>
                    <a:solidFill>
                      <a:srgbClr val="002B5C"/>
                    </a:solidFill>
                  </a:tcPr>
                </a:tc>
              </a:tr>
              <a:tr h="411480">
                <a:tc>
                  <a:txBody>
                    <a:bodyPr/>
                    <a:lstStyle/>
                    <a:p>
                      <a:pPr>
                        <a:defRPr sz="1300">
                          <a:solidFill>
                            <a:srgbClr val="FFFFFF"/>
                          </a:solidFill>
                          <a:latin typeface="Segoe UI"/>
                        </a:defRPr>
                      </a:pPr>
                      <a:r>
                        <a:t>5. Verify</a:t>
                      </a:r>
                    </a:p>
                  </a:txBody>
                  <a:tcPr>
                    <a:solidFill>
                      <a:srgbClr val="002050"/>
                    </a:solidFill>
                  </a:tcPr>
                </a:tc>
                <a:tc>
                  <a:txBody>
                    <a:bodyPr/>
                    <a:lstStyle/>
                    <a:p>
                      <a:pPr>
                        <a:defRPr sz="1300">
                          <a:solidFill>
                            <a:srgbClr val="FFFFFF"/>
                          </a:solidFill>
                          <a:latin typeface="Segoe UI"/>
                        </a:defRPr>
                      </a:pPr>
                      <a:r>
                        <a:t>Compliance scan + TDD auto-generation</a:t>
                      </a:r>
                    </a:p>
                  </a:txBody>
                  <a:tcPr>
                    <a:solidFill>
                      <a:srgbClr val="002050"/>
                    </a:solidFill>
                  </a:tcPr>
                </a:tc>
                <a:tc>
                  <a:txBody>
                    <a:bodyPr/>
                    <a:lstStyle/>
                    <a:p>
                      <a:pPr>
                        <a:defRPr sz="1300">
                          <a:solidFill>
                            <a:srgbClr val="FFFFFF"/>
                          </a:solidFill>
                          <a:latin typeface="Segoe UI"/>
                        </a:defRPr>
                      </a:pPr>
                      <a:r>
                        <a:t>Resource Graph, Defender</a:t>
                      </a:r>
                    </a:p>
                  </a:txBody>
                  <a:tcPr>
                    <a:solidFill>
                      <a:srgbClr val="002050"/>
                    </a:solidFill>
                  </a:tcPr>
                </a:tc>
              </a:tr>
            </a:tbl>
          </a:graphicData>
        </a:graphic>
      </p:graphicFrame>
      <p:sp>
        <p:nvSpPr>
          <p:cNvPr id="5" name="TextBox 4"/>
          <p:cNvSpPr txBox="1"/>
          <p:nvPr/>
        </p:nvSpPr>
        <p:spPr>
          <a:xfrm>
            <a:off x="731520" y="4754880"/>
            <a:ext cx="10515600" cy="1463040"/>
          </a:xfrm>
          <a:prstGeom prst="rect">
            <a:avLst/>
          </a:prstGeom>
          <a:noFill/>
        </p:spPr>
        <p:txBody>
          <a:bodyPr wrap="square">
            <a:spAutoFit/>
          </a:bodyPr>
          <a:lstStyle/>
          <a:p>
            <a:pPr>
              <a:spcBef>
                <a:spcPts val="800"/>
              </a:spcBef>
              <a:spcAft>
                <a:spcPts val="400"/>
              </a:spcAft>
              <a:buChar char="•"/>
              <a:buSzPct val="100000"/>
            </a:pPr>
            <a:r>
              <a:rPr sz="1600" b="0">
                <a:solidFill>
                  <a:srgbClr val="D9E8F5"/>
                </a:solidFill>
                <a:latin typeface="Segoe UI"/>
              </a:rPr>
              <a:t>18 GitHub Actions workflows total</a:t>
            </a:r>
          </a:p>
          <a:p>
            <a:pPr>
              <a:spcBef>
                <a:spcPts val="800"/>
              </a:spcBef>
              <a:spcAft>
                <a:spcPts val="400"/>
              </a:spcAft>
              <a:buChar char="•"/>
              <a:buSzPct val="100000"/>
            </a:pPr>
            <a:r>
              <a:rPr sz="1600" b="0">
                <a:solidFill>
                  <a:srgbClr val="D9E8F5"/>
                </a:solidFill>
                <a:latin typeface="Segoe UI"/>
              </a:rPr>
              <a:t>Supports both Bicep and Terraform tracks</a:t>
            </a:r>
          </a:p>
          <a:p>
            <a:pPr>
              <a:spcBef>
                <a:spcPts val="800"/>
              </a:spcBef>
              <a:spcAft>
                <a:spcPts val="400"/>
              </a:spcAft>
              <a:buChar char="•"/>
              <a:buSzPct val="100000"/>
            </a:pPr>
            <a:r>
              <a:rPr sz="1600" b="0">
                <a:solidFill>
                  <a:srgbClr val="D9E8F5"/>
                </a:solidFill>
                <a:latin typeface="Segoe UI"/>
              </a:rPr>
              <a:t>Every PR triggers validate + plan (no surprise deployments)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Day-2: Continuous Compliance + Auto-Remediation</a:t>
            </a:r>
          </a:p>
        </p:txBody>
      </p:sp>
      <p:sp>
        <p:nvSpPr>
          <p:cNvPr id="4" name="TextBox 3"/>
          <p:cNvSpPr txBox="1"/>
          <p:nvPr/>
        </p:nvSpPr>
        <p:spPr>
          <a:xfrm>
            <a:off x="548640" y="1645920"/>
            <a:ext cx="5303520" cy="4754880"/>
          </a:xfrm>
          <a:prstGeom prst="rect">
            <a:avLst/>
          </a:prstGeom>
          <a:noFill/>
        </p:spPr>
        <p:txBody>
          <a:bodyPr wrap="square">
            <a:spAutoFit/>
          </a:bodyPr>
          <a:lstStyle/>
          <a:p>
            <a:pPr>
              <a:spcBef>
                <a:spcPts val="800"/>
              </a:spcBef>
              <a:spcAft>
                <a:spcPts val="400"/>
              </a:spcAft>
              <a:buChar char="•"/>
              <a:buSzPct val="100000"/>
            </a:pPr>
            <a:r>
              <a:rPr sz="2000" b="0">
                <a:solidFill>
                  <a:srgbClr val="D9E8F5"/>
                </a:solidFill>
                <a:latin typeface="Segoe UI"/>
              </a:rPr>
              <a:t>Sentinel (Monitor):</a:t>
            </a:r>
          </a:p>
          <a:p>
            <a:pPr>
              <a:spcBef>
                <a:spcPts val="800"/>
              </a:spcBef>
              <a:spcAft>
                <a:spcPts val="400"/>
              </a:spcAft>
              <a:buChar char="•"/>
              <a:buSzPct val="100000"/>
            </a:pPr>
            <a:r>
              <a:rPr sz="2000" b="0">
                <a:solidFill>
                  <a:srgbClr val="D9E8F5"/>
                </a:solidFill>
                <a:latin typeface="Segoe UI"/>
              </a:rPr>
              <a:t>  Full scan daily at 06:00 UTC</a:t>
            </a:r>
          </a:p>
          <a:p>
            <a:pPr>
              <a:spcBef>
                <a:spcPts val="800"/>
              </a:spcBef>
              <a:spcAft>
                <a:spcPts val="400"/>
              </a:spcAft>
              <a:buChar char="•"/>
              <a:buSzPct val="100000"/>
            </a:pPr>
            <a:r>
              <a:rPr sz="2000" b="0">
                <a:solidFill>
                  <a:srgbClr val="D9E8F5"/>
                </a:solidFill>
                <a:latin typeface="Segoe UI"/>
              </a:rPr>
              <a:t>  Compliance + drift + audit</a:t>
            </a:r>
          </a:p>
          <a:p>
            <a:pPr>
              <a:spcBef>
                <a:spcPts val="800"/>
              </a:spcBef>
              <a:spcAft>
                <a:spcPts val="400"/>
              </a:spcAft>
              <a:buChar char="•"/>
              <a:buSzPct val="100000"/>
            </a:pPr>
            <a:r>
              <a:rPr sz="2000" b="0">
                <a:solidFill>
                  <a:srgbClr val="D9E8F5"/>
                </a:solidFill>
                <a:latin typeface="Segoe UI"/>
              </a:rPr>
              <a:t>  Security posture from Defender</a:t>
            </a:r>
          </a:p>
          <a:p>
            <a:pPr>
              <a:spcBef>
                <a:spcPts val="800"/>
              </a:spcBef>
              <a:spcAft>
                <a:spcPts val="400"/>
              </a:spcAft>
              <a:buChar char="•"/>
              <a:buSzPct val="100000"/>
            </a:pPr>
            <a:r>
              <a:rPr sz="2000" b="0">
                <a:solidFill>
                  <a:srgbClr val="D9E8F5"/>
                </a:solidFill>
                <a:latin typeface="Segoe UI"/>
              </a:rPr>
              <a:t>  Alert routing by severity</a:t>
            </a:r>
          </a:p>
          <a:p>
            <a:pPr>
              <a:spcBef>
                <a:spcPts val="800"/>
              </a:spcBef>
              <a:spcAft>
                <a:spcPts val="400"/>
              </a:spcAft>
              <a:buChar char="•"/>
              <a:buSzPct val="100000"/>
            </a:pPr>
            <a:r>
              <a:rPr sz="2000" b="0">
                <a:solidFill>
                  <a:srgbClr val="D9E8F5"/>
                </a:solidFill>
                <a:latin typeface="Segoe UI"/>
              </a:rPr>
              <a:t>  Critical = immediate action</a:t>
            </a:r>
          </a:p>
        </p:txBody>
      </p:sp>
      <p:sp>
        <p:nvSpPr>
          <p:cNvPr id="5" name="TextBox 4"/>
          <p:cNvSpPr txBox="1"/>
          <p:nvPr/>
        </p:nvSpPr>
        <p:spPr>
          <a:xfrm>
            <a:off x="6217920" y="1645920"/>
            <a:ext cx="5303520" cy="4754880"/>
          </a:xfrm>
          <a:prstGeom prst="rect">
            <a:avLst/>
          </a:prstGeom>
          <a:noFill/>
        </p:spPr>
        <p:txBody>
          <a:bodyPr wrap="square">
            <a:spAutoFit/>
          </a:bodyPr>
          <a:lstStyle/>
          <a:p>
            <a:pPr>
              <a:spcBef>
                <a:spcPts val="800"/>
              </a:spcBef>
              <a:spcAft>
                <a:spcPts val="400"/>
              </a:spcAft>
              <a:buChar char="•"/>
              <a:buSzPct val="100000"/>
            </a:pPr>
            <a:r>
              <a:rPr sz="2000" b="0">
                <a:solidFill>
                  <a:srgbClr val="D9E8F5"/>
                </a:solidFill>
                <a:latin typeface="Segoe UI"/>
              </a:rPr>
              <a:t>Mender (Remediate):</a:t>
            </a:r>
          </a:p>
          <a:p>
            <a:pPr>
              <a:spcBef>
                <a:spcPts val="800"/>
              </a:spcBef>
              <a:spcAft>
                <a:spcPts val="400"/>
              </a:spcAft>
              <a:buChar char="•"/>
              <a:buSzPct val="100000"/>
            </a:pPr>
            <a:r>
              <a:rPr sz="2000" b="0">
                <a:solidFill>
                  <a:srgbClr val="D9E8F5"/>
                </a:solidFill>
                <a:latin typeface="Segoe UI"/>
              </a:rPr>
              <a:t>  8 built-in remediation strategies</a:t>
            </a:r>
          </a:p>
          <a:p>
            <a:pPr>
              <a:spcBef>
                <a:spcPts val="800"/>
              </a:spcBef>
              <a:spcAft>
                <a:spcPts val="400"/>
              </a:spcAft>
              <a:buChar char="•"/>
              <a:buSzPct val="100000"/>
            </a:pPr>
            <a:r>
              <a:rPr sz="2000" b="0">
                <a:solidFill>
                  <a:srgbClr val="D9E8F5"/>
                </a:solidFill>
                <a:latin typeface="Segoe UI"/>
              </a:rPr>
              <a:t>  Auto-fix critical + high severity</a:t>
            </a:r>
          </a:p>
          <a:p>
            <a:pPr>
              <a:spcBef>
                <a:spcPts val="800"/>
              </a:spcBef>
              <a:spcAft>
                <a:spcPts val="400"/>
              </a:spcAft>
              <a:buChar char="•"/>
              <a:buSzPct val="100000"/>
            </a:pPr>
            <a:r>
              <a:rPr sz="2000" b="0">
                <a:solidFill>
                  <a:srgbClr val="D9E8F5"/>
                </a:solidFill>
                <a:latin typeface="Segoe UI"/>
              </a:rPr>
              <a:t>  Snapshot before every remediation</a:t>
            </a:r>
          </a:p>
          <a:p>
            <a:pPr>
              <a:spcBef>
                <a:spcPts val="800"/>
              </a:spcBef>
              <a:spcAft>
                <a:spcPts val="400"/>
              </a:spcAft>
              <a:buChar char="•"/>
              <a:buSzPct val="100000"/>
            </a:pPr>
            <a:r>
              <a:rPr sz="2000" b="0">
                <a:solidFill>
                  <a:srgbClr val="D9E8F5"/>
                </a:solidFill>
                <a:latin typeface="Segoe UI"/>
              </a:rPr>
              <a:t>  Full rollback capability</a:t>
            </a:r>
          </a:p>
          <a:p>
            <a:pPr>
              <a:spcBef>
                <a:spcPts val="800"/>
              </a:spcBef>
              <a:spcAft>
                <a:spcPts val="400"/>
              </a:spcAft>
              <a:buChar char="•"/>
              <a:buSzPct val="100000"/>
            </a:pPr>
            <a:r>
              <a:rPr sz="2000" b="0">
                <a:solidFill>
                  <a:srgbClr val="D9E8F5"/>
                </a:solidFill>
                <a:latin typeface="Segoe UI"/>
              </a:rPr>
              <a:t>  Human approval for medium/low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Brownfield: Assess Before You Transform</a:t>
            </a:r>
          </a:p>
        </p:txBody>
      </p:sp>
      <p:sp>
        <p:nvSpPr>
          <p:cNvPr id="4" name="TextBox 3"/>
          <p:cNvSpPr txBox="1"/>
          <p:nvPr/>
        </p:nvSpPr>
        <p:spPr>
          <a:xfrm>
            <a:off x="731520" y="1645920"/>
            <a:ext cx="10515600" cy="3474720"/>
          </a:xfrm>
          <a:prstGeom prst="rect">
            <a:avLst/>
          </a:prstGeom>
          <a:noFill/>
        </p:spPr>
        <p:txBody>
          <a:bodyPr wrap="square">
            <a:spAutoFit/>
          </a:bodyPr>
          <a:lstStyle/>
          <a:p>
            <a:pPr>
              <a:spcBef>
                <a:spcPts val="800"/>
              </a:spcBef>
              <a:spcAft>
                <a:spcPts val="400"/>
              </a:spcAft>
              <a:buChar char="•"/>
              <a:buSzPct val="100000"/>
            </a:pPr>
            <a:r>
              <a:rPr sz="1800" b="0">
                <a:solidFill>
                  <a:srgbClr val="D9E8F5"/>
                </a:solidFill>
                <a:latin typeface="Segoe UI"/>
              </a:rPr>
              <a:t>Step 0: Automated WAF 5-pillar assessment</a:t>
            </a:r>
          </a:p>
          <a:p>
            <a:pPr>
              <a:spcBef>
                <a:spcPts val="800"/>
              </a:spcBef>
              <a:spcAft>
                <a:spcPts val="400"/>
              </a:spcAft>
              <a:buChar char="•"/>
              <a:buSzPct val="100000"/>
            </a:pPr>
            <a:r>
              <a:rPr sz="1800" b="0">
                <a:solidFill>
                  <a:srgbClr val="D9E8F5"/>
                </a:solidFill>
                <a:latin typeface="Segoe UI"/>
              </a:rPr>
              <a:t>WARA engine with 221 service-specific checks</a:t>
            </a:r>
          </a:p>
          <a:p>
            <a:pPr>
              <a:spcBef>
                <a:spcPts val="800"/>
              </a:spcBef>
              <a:spcAft>
                <a:spcPts val="400"/>
              </a:spcAft>
              <a:buChar char="•"/>
              <a:buSzPct val="100000"/>
            </a:pPr>
            <a:r>
              <a:rPr sz="1800" b="0">
                <a:solidFill>
                  <a:srgbClr val="D9E8F5"/>
                </a:solidFill>
                <a:latin typeface="Segoe UI"/>
              </a:rPr>
              <a:t>Gap analysis mapped to CAF design areas</a:t>
            </a:r>
          </a:p>
          <a:p>
            <a:pPr>
              <a:spcBef>
                <a:spcPts val="800"/>
              </a:spcBef>
              <a:spcAft>
                <a:spcPts val="400"/>
              </a:spcAft>
              <a:buChar char="•"/>
              <a:buSzPct val="100000"/>
            </a:pPr>
            <a:r>
              <a:rPr sz="1800" b="0">
                <a:solidFill>
                  <a:srgbClr val="D9E8F5"/>
                </a:solidFill>
                <a:latin typeface="Segoe UI"/>
              </a:rPr>
              <a:t>Current-state architecture documentation (auto-generated)</a:t>
            </a:r>
          </a:p>
          <a:p>
            <a:pPr>
              <a:spcBef>
                <a:spcPts val="800"/>
              </a:spcBef>
              <a:spcAft>
                <a:spcPts val="400"/>
              </a:spcAft>
              <a:buChar char="•"/>
              <a:buSzPct val="100000"/>
            </a:pPr>
            <a:r>
              <a:rPr sz="1800" b="0">
                <a:solidFill>
                  <a:srgbClr val="D9E8F5"/>
                </a:solidFill>
                <a:latin typeface="Segoe UI"/>
              </a:rPr>
              <a:t>Target-state architecture with migration roadmap</a:t>
            </a:r>
          </a:p>
          <a:p>
            <a:pPr>
              <a:spcBef>
                <a:spcPts val="800"/>
              </a:spcBef>
              <a:spcAft>
                <a:spcPts val="400"/>
              </a:spcAft>
              <a:buChar char="•"/>
              <a:buSzPct val="100000"/>
            </a:pPr>
            <a:r>
              <a:rPr sz="1800" b="0">
                <a:solidFill>
                  <a:srgbClr val="D9E8F5"/>
                </a:solidFill>
                <a:latin typeface="Segoe UI"/>
              </a:rPr>
              <a:t>Discovers: resources, policies, RBAC, networking, security posture</a:t>
            </a:r>
          </a:p>
          <a:p>
            <a:pPr>
              <a:spcBef>
                <a:spcPts val="800"/>
              </a:spcBef>
              <a:spcAft>
                <a:spcPts val="400"/>
              </a:spcAft>
              <a:buChar char="•"/>
              <a:buSzPct val="100000"/>
            </a:pPr>
            <a:r>
              <a:rPr sz="1800" b="0">
                <a:solidFill>
                  <a:srgbClr val="D9E8F5"/>
                </a:solidFill>
                <a:latin typeface="Segoe UI"/>
              </a:rPr>
              <a:t>Feeds findings directly into Step 1 requirements</a:t>
            </a:r>
          </a:p>
        </p:txBody>
      </p:sp>
      <p:sp>
        <p:nvSpPr>
          <p:cNvPr id="5" name="TextBox 4"/>
          <p:cNvSpPr txBox="1"/>
          <p:nvPr/>
        </p:nvSpPr>
        <p:spPr>
          <a:xfrm>
            <a:off x="548640" y="5029200"/>
            <a:ext cx="11064240" cy="457200"/>
          </a:xfrm>
          <a:prstGeom prst="rect">
            <a:avLst/>
          </a:prstGeom>
          <a:noFill/>
        </p:spPr>
        <p:txBody>
          <a:bodyPr wrap="none">
            <a:spAutoFit/>
          </a:bodyPr>
          <a:lstStyle/>
          <a:p>
            <a:r>
              <a:rPr sz="1800" b="0">
                <a:solidFill>
                  <a:srgbClr val="A0C4E8"/>
                </a:solidFill>
                <a:latin typeface="Segoe UI"/>
              </a:rPr>
              <a:t>Supports: Subscription, Resource Group, or Management Group scope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By the Numbers</a:t>
            </a:r>
          </a:p>
        </p:txBody>
      </p:sp>
      <p:sp>
        <p:nvSpPr>
          <p:cNvPr id="4" name="Rounded Rectangle 3"/>
          <p:cNvSpPr/>
          <p:nvPr/>
        </p:nvSpPr>
        <p:spPr>
          <a:xfrm>
            <a:off x="365760" y="1645920"/>
            <a:ext cx="2103120" cy="1325880"/>
          </a:xfrm>
          <a:prstGeom prst="roundRect">
            <a:avLst/>
          </a:prstGeom>
          <a:solidFill>
            <a:srgbClr val="002B5C"/>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Segoe UI"/>
              </a:rPr>
              <a:t>15</a:t>
            </a:r>
          </a:p>
          <a:p>
            <a:pPr algn="ctr"/>
            <a:r>
              <a:rPr sz="1400" b="1">
                <a:solidFill>
                  <a:srgbClr val="D9E8F5"/>
                </a:solidFill>
                <a:latin typeface="Segoe UI"/>
              </a:rPr>
              <a:t>Agents</a:t>
            </a:r>
          </a:p>
        </p:txBody>
      </p:sp>
      <p:sp>
        <p:nvSpPr>
          <p:cNvPr id="5" name="Rounded Rectangle 4"/>
          <p:cNvSpPr/>
          <p:nvPr/>
        </p:nvSpPr>
        <p:spPr>
          <a:xfrm>
            <a:off x="2651760" y="1645920"/>
            <a:ext cx="2103120" cy="1325880"/>
          </a:xfrm>
          <a:prstGeom prst="roundRect">
            <a:avLst/>
          </a:prstGeom>
          <a:solidFill>
            <a:srgbClr val="002B5C"/>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Segoe UI"/>
              </a:rPr>
              <a:t>60+</a:t>
            </a:r>
          </a:p>
          <a:p>
            <a:pPr algn="ctr"/>
            <a:r>
              <a:rPr sz="1400" b="1">
                <a:solidFill>
                  <a:srgbClr val="D9E8F5"/>
                </a:solidFill>
                <a:latin typeface="Segoe UI"/>
              </a:rPr>
              <a:t>Skills</a:t>
            </a:r>
          </a:p>
        </p:txBody>
      </p:sp>
      <p:sp>
        <p:nvSpPr>
          <p:cNvPr id="6" name="Rounded Rectangle 5"/>
          <p:cNvSpPr/>
          <p:nvPr/>
        </p:nvSpPr>
        <p:spPr>
          <a:xfrm>
            <a:off x="4937760" y="1645920"/>
            <a:ext cx="2103120" cy="1325880"/>
          </a:xfrm>
          <a:prstGeom prst="roundRect">
            <a:avLst/>
          </a:prstGeom>
          <a:solidFill>
            <a:srgbClr val="002B5C"/>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Segoe UI"/>
              </a:rPr>
              <a:t>18</a:t>
            </a:r>
          </a:p>
          <a:p>
            <a:pPr algn="ctr"/>
            <a:r>
              <a:rPr sz="1400" b="1">
                <a:solidFill>
                  <a:srgbClr val="D9E8F5"/>
                </a:solidFill>
                <a:latin typeface="Segoe UI"/>
              </a:rPr>
              <a:t>Workflows</a:t>
            </a:r>
          </a:p>
        </p:txBody>
      </p:sp>
      <p:sp>
        <p:nvSpPr>
          <p:cNvPr id="7" name="Rounded Rectangle 6"/>
          <p:cNvSpPr/>
          <p:nvPr/>
        </p:nvSpPr>
        <p:spPr>
          <a:xfrm>
            <a:off x="7223760" y="1645920"/>
            <a:ext cx="2103120" cy="1325880"/>
          </a:xfrm>
          <a:prstGeom prst="roundRect">
            <a:avLst/>
          </a:prstGeom>
          <a:solidFill>
            <a:srgbClr val="002B5C"/>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Segoe UI"/>
              </a:rPr>
              <a:t>221</a:t>
            </a:r>
          </a:p>
          <a:p>
            <a:pPr algn="ctr"/>
            <a:r>
              <a:rPr sz="1400" b="1">
                <a:solidFill>
                  <a:srgbClr val="D9E8F5"/>
                </a:solidFill>
                <a:latin typeface="Segoe UI"/>
              </a:rPr>
              <a:t>WARA Checks</a:t>
            </a:r>
          </a:p>
        </p:txBody>
      </p:sp>
      <p:sp>
        <p:nvSpPr>
          <p:cNvPr id="8" name="Rounded Rectangle 7"/>
          <p:cNvSpPr/>
          <p:nvPr/>
        </p:nvSpPr>
        <p:spPr>
          <a:xfrm>
            <a:off x="9509760" y="1645920"/>
            <a:ext cx="2103120" cy="1325880"/>
          </a:xfrm>
          <a:prstGeom prst="roundRect">
            <a:avLst/>
          </a:prstGeom>
          <a:solidFill>
            <a:srgbClr val="002B5C"/>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Segoe UI"/>
              </a:rPr>
              <a:t>3</a:t>
            </a:r>
          </a:p>
          <a:p>
            <a:pPr algn="ctr"/>
            <a:r>
              <a:rPr sz="1400" b="1">
                <a:solidFill>
                  <a:srgbClr val="D9E8F5"/>
                </a:solidFill>
                <a:latin typeface="Segoe UI"/>
              </a:rPr>
              <a:t>MCP Servers</a:t>
            </a:r>
          </a:p>
        </p:txBody>
      </p:sp>
      <p:sp>
        <p:nvSpPr>
          <p:cNvPr id="9" name="TextBox 8"/>
          <p:cNvSpPr txBox="1"/>
          <p:nvPr/>
        </p:nvSpPr>
        <p:spPr>
          <a:xfrm>
            <a:off x="731520" y="3474720"/>
            <a:ext cx="10789920" cy="2377440"/>
          </a:xfrm>
          <a:prstGeom prst="rect">
            <a:avLst/>
          </a:prstGeom>
          <a:noFill/>
        </p:spPr>
        <p:txBody>
          <a:bodyPr wrap="square">
            <a:spAutoFit/>
          </a:bodyPr>
          <a:lstStyle/>
          <a:p>
            <a:pPr>
              <a:spcBef>
                <a:spcPts val="800"/>
              </a:spcBef>
              <a:spcAft>
                <a:spcPts val="400"/>
              </a:spcAft>
              <a:buChar char="•"/>
              <a:buSzPct val="100000"/>
            </a:pPr>
            <a:r>
              <a:rPr sz="1800" b="0">
                <a:solidFill>
                  <a:srgbClr val="D9E8F5"/>
                </a:solidFill>
                <a:latin typeface="Segoe UI"/>
              </a:rPr>
              <a:t>AVM-first: Azure Verified Modules for Bicep and Terraform</a:t>
            </a:r>
          </a:p>
          <a:p>
            <a:pPr>
              <a:spcBef>
                <a:spcPts val="800"/>
              </a:spcBef>
              <a:spcAft>
                <a:spcPts val="400"/>
              </a:spcAft>
              <a:buChar char="•"/>
              <a:buSzPct val="100000"/>
            </a:pPr>
            <a:r>
              <a:rPr sz="1800" b="0">
                <a:solidFill>
                  <a:srgbClr val="D9E8F5"/>
                </a:solidFill>
                <a:latin typeface="Segoe UI"/>
              </a:rPr>
              <a:t>CAF-aligned: All 8 design areas covered end-to-end</a:t>
            </a:r>
          </a:p>
          <a:p>
            <a:pPr>
              <a:spcBef>
                <a:spcPts val="800"/>
              </a:spcBef>
              <a:spcAft>
                <a:spcPts val="400"/>
              </a:spcAft>
              <a:buChar char="•"/>
              <a:buSzPct val="100000"/>
            </a:pPr>
            <a:r>
              <a:rPr sz="1800" b="0">
                <a:solidFill>
                  <a:srgbClr val="D9E8F5"/>
                </a:solidFill>
                <a:latin typeface="Segoe UI"/>
              </a:rPr>
              <a:t>Full lifecycle: Requirements through continuous Day-2 operations</a:t>
            </a:r>
          </a:p>
          <a:p>
            <a:pPr>
              <a:spcBef>
                <a:spcPts val="800"/>
              </a:spcBef>
              <a:spcAft>
                <a:spcPts val="400"/>
              </a:spcAft>
              <a:buChar char="•"/>
              <a:buSzPct val="100000"/>
            </a:pPr>
            <a:r>
              <a:rPr sz="1800" b="0">
                <a:solidFill>
                  <a:srgbClr val="D9E8F5"/>
                </a:solidFill>
                <a:latin typeface="Segoe UI"/>
              </a:rPr>
              <a:t>Auto-documentation: Technical Design Document generated post-deploy</a:t>
            </a:r>
          </a:p>
          <a:p>
            <a:pPr>
              <a:spcBef>
                <a:spcPts val="800"/>
              </a:spcBef>
              <a:spcAft>
                <a:spcPts val="400"/>
              </a:spcAft>
              <a:buChar char="•"/>
              <a:buSzPct val="100000"/>
            </a:pPr>
            <a:r>
              <a:rPr sz="1800" b="0">
                <a:solidFill>
                  <a:srgbClr val="D9E8F5"/>
                </a:solidFill>
                <a:latin typeface="Segoe UI"/>
              </a:rPr>
              <a:t>Dual-track IaC: Choose Bicep or Terraform per landing zone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698480" cy="731520"/>
          </a:xfrm>
          <a:prstGeom prst="rect">
            <a:avLst/>
          </a:prstGeom>
          <a:noFill/>
        </p:spPr>
        <p:txBody>
          <a:bodyPr wrap="none">
            <a:spAutoFit/>
          </a:bodyPr>
          <a:lstStyle/>
          <a:p>
            <a:pPr algn="ctr"/>
            <a:r>
              <a:rPr sz="4000" b="1">
                <a:solidFill>
                  <a:srgbClr val="FFFFFF"/>
                </a:solidFill>
                <a:latin typeface="Segoe UI"/>
              </a:rPr>
              <a:t>Get Started</a:t>
            </a:r>
          </a:p>
        </p:txBody>
      </p:sp>
      <p:sp>
        <p:nvSpPr>
          <p:cNvPr id="4" name="TextBox 3"/>
          <p:cNvSpPr txBox="1"/>
          <p:nvPr/>
        </p:nvSpPr>
        <p:spPr>
          <a:xfrm>
            <a:off x="1097280" y="1828800"/>
            <a:ext cx="9966960" cy="3200400"/>
          </a:xfrm>
          <a:prstGeom prst="rect">
            <a:avLst/>
          </a:prstGeom>
          <a:noFill/>
        </p:spPr>
        <p:txBody>
          <a:bodyPr wrap="square" anchor="ctr">
            <a:spAutoFit/>
          </a:bodyPr>
          <a:lstStyle/>
          <a:p>
            <a:pPr algn="ctr">
              <a:spcAft>
                <a:spcPts val="1000"/>
              </a:spcAft>
            </a:pPr>
            <a:r>
              <a:rPr sz="2200" b="1">
                <a:solidFill>
                  <a:srgbClr val="0078D4"/>
                </a:solidFill>
                <a:latin typeface="Segoe UI"/>
              </a:rPr>
              <a:t>github.com/MaRekGroup/agentic-alz-accelerator</a:t>
            </a:r>
          </a:p>
          <a:p>
            <a:pPr algn="ctr">
              <a:spcAft>
                <a:spcPts val="1000"/>
              </a:spcAft>
            </a:pPr>
            <a:r>
              <a:rPr sz="2200" b="0">
                <a:solidFill>
                  <a:srgbClr val="FFFFFF"/>
                </a:solidFill>
                <a:latin typeface="Segoe UI"/>
              </a:rPr>
              <a:t/>
            </a:r>
          </a:p>
          <a:p>
            <a:pPr algn="ctr">
              <a:spcAft>
                <a:spcPts val="1000"/>
              </a:spcAft>
            </a:pPr>
            <a:r>
              <a:rPr sz="2200" b="1">
                <a:solidFill>
                  <a:srgbClr val="FFFFFF"/>
                </a:solidFill>
                <a:latin typeface="Segoe UI"/>
              </a:rPr>
              <a:t>Next Steps:</a:t>
            </a:r>
          </a:p>
          <a:p>
            <a:pPr algn="ctr">
              <a:spcAft>
                <a:spcPts val="1000"/>
              </a:spcAft>
            </a:pPr>
            <a:r>
              <a:rPr sz="2200" b="0">
                <a:solidFill>
                  <a:srgbClr val="D9E8F5"/>
                </a:solidFill>
                <a:latin typeface="Segoe UI"/>
              </a:rPr>
              <a:t>1. Clone the repo and explore the interactive guide</a:t>
            </a:r>
          </a:p>
          <a:p>
            <a:pPr algn="ctr">
              <a:spcAft>
                <a:spcPts val="1000"/>
              </a:spcAft>
            </a:pPr>
            <a:r>
              <a:rPr sz="2200" b="0">
                <a:solidFill>
                  <a:srgbClr val="D9E8F5"/>
                </a:solidFill>
                <a:latin typeface="Segoe UI"/>
              </a:rPr>
              <a:t>2. Run a brownfield assessment on a sandbox subscription</a:t>
            </a:r>
          </a:p>
          <a:p>
            <a:pPr algn="ctr">
              <a:spcAft>
                <a:spcPts val="1000"/>
              </a:spcAft>
            </a:pPr>
            <a:r>
              <a:rPr sz="2200" b="0">
                <a:solidFill>
                  <a:srgbClr val="D9E8F5"/>
                </a:solidFill>
                <a:latin typeface="Segoe UI"/>
              </a:rPr>
              <a:t>3. Deploy your first landing zone with agent orchestration</a:t>
            </a:r>
          </a:p>
        </p:txBody>
      </p:sp>
      <p:sp>
        <p:nvSpPr>
          <p:cNvPr id="5" name="TextBox 4"/>
          <p:cNvSpPr txBox="1"/>
          <p:nvPr/>
        </p:nvSpPr>
        <p:spPr>
          <a:xfrm>
            <a:off x="731520" y="5989320"/>
            <a:ext cx="10698480" cy="274320"/>
          </a:xfrm>
          <a:prstGeom prst="rect">
            <a:avLst/>
          </a:prstGeom>
          <a:noFill/>
        </p:spPr>
        <p:txBody>
          <a:bodyPr wrap="none">
            <a:spAutoFit/>
          </a:bodyPr>
          <a:lstStyle/>
          <a:p>
            <a:pPr algn="ctr"/>
            <a:r>
              <a:rPr sz="1400" b="0">
                <a:solidFill>
                  <a:srgbClr val="A0C4E8"/>
                </a:solidFill>
                <a:latin typeface="Segoe U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