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Good morning/afternoon everyone. Today I'm going to walk you through the Agentic Azure Enterprise Landing Zone Accelerator — a multi-agent AI system that transforms how organizations deploy and govern Azure Landing Zones.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A quick introduction — I'm [Name], a Senior Cloud Solution Architect who recently joined Microsoft. My background is in cloud infrastructure and enterprise architecture. I'm passionate about the intersection of AI and infrastructure — using intelligent automation to solve the real challenges our customers face when adopting Azure at scale. This accelerator is a project I've been building that combines that passion with Microsoft's best-practice frameworks.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Here's what you'll get out of the next 10 minutes. You'll understand how multi-agent AI can automate the entire Landing Zone lifecycle — from requirements through continuous monitoring. You'll see how we enforce Cloud Adoption Framework and Well-Architected Framework alignment at every stage. You'll learn about our brownfield assessment capability for existing environments. And most importantly, you'll have a clear path to accelerate your own customers' Landing Zone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Let's set the context. Today, deploying a properly governed Azure Landing Zone is a significant undertaking. It requires specialized architects, weeks of planning, and expensive consultants. And here's the real problem — once it's deployed, governance drift begins almost immediately. Security baselines erode, costs creep up, and documentation goes stale. For brownfield environments — which is most enterprises — the situation is even worse. They have infrastructure that was never properly assessed against WAF or CAF. We built this accelerator to solve all of these problems with AI-driven automation that doesn't just deploy — it continuously governs.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The business case is compelling. We're compressing 8-16 weeks of work into hours. Every deployment is consistent because AI follows the same patterns every time — aligned to CAF design areas and WAF pillars. Security isn't optional — we enforce a 6-rule security baseline at code generation, deployment, and continuously afterward. Cost governance is built in — every deployment gets budget resources with alerts. And critically, this isn't deploy-and-forget. The system runs continuous compliance monitoring and can auto-remediate violations. Customers choose their IaC framework — Bicep or Terraform — and the system handles both.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Here's the architecture in 6 layers. At the top, users interact via Copilot Studio, Teams, CLI, or Azure Portal. The Conductor orchestrates a DAG workflow with approval gates. 14 specialized agents handle specific steps — from assessment through remediation. They connect to Azure via 3 MCP servers providing real-time pricing, platform operations, and diagram generation. Below that, IaC modules organized by CAF design area use Azure Verified Modules. Finally, everything deploys to Azure — management groups, subscriptions, networking, identity, and security. The Challenger agent sits adversarially across gates 1, 2, 4, and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Each agent is purpose-built. The Scribe captures requirements mapped to all 8 CAF design areas. The Oracle runs a full WAF assessment across all 5 pillars and provides real-time cost estimates using Azure Pricing APIs. The Warden discovers existing Azure Policies and enforces our security baseline. The Forge generates IaC using Azure Verified Modules as the first choice — falling back to native resources only when no AVM exists. The Sentinel runs daily compliance scans, and the Mender auto-remediates critical violations with snapshot-based rollback. The Challenger is our adversarial reviewer — it stress-tests outputs at gates proportional to complexity.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Every module in our system maps directly to a CAF design area. This isn't accidental — it's by design. When the Scribe captures requirements, it maps them to all 8 areas. When the Oracle assesses, it evaluates against all 5 WAF pillars. When the Forge generates code, it's organized by design area. This means the output is immediately recognizable to any Azure architect — it follows the patterns they already know from the Cloud Adoption Framework.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Security is non-negotiable in this system. We have 6 mandatory rules that are enforced at three different layers. First, at code generation — the Forge agent physically cannot produce templates that violate these rules. Second, at deployment preflight — the Challenger validates before anything hits Azure. Third, continuously — the Sentinel monitors for drift and the Mender remediates. This means even if someone manually changes a resource in the portal, the system detects and corrects it. You can't accidentally ship insecure infrastructure through this pipeline.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For brownfield environments, Step 0 is critical. The Assessor agent runs a comprehensive WAF assessment using a 221-check catalog aligned with the Azure Proactive Resiliency Library. It covers all 5 WAF pillars. Discovery uses Azure Resource Graph — no agents or installations required. The output includes a full current-state assessment, gap analysis, and prioritized remediation roadmap. We generate branded reports in Excel and PowerPoint format. This assessment can run standalone — you don't have to go through the full deployment pipeline. It's a great entry point for customers who want to understand their current posture before deciding on next steps.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The agents aren't working in isolation — they're connected to Azure through Model Context Protocol servers. The Azure Pricing MCP gives real-time cost estimates during architecture assessment. The Azure Platform MCP provides 27 tools including Resource Graph queries, Policy evaluation, RBAC analysis, and deployment operations. The Draw.io MCP generates architecture diagrams with proper Azure icons. This means when the Oracle says a deployment will cost a certain amount per month, that's based on actual Azure pricing, not stale estimates.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This is where we go beyond traditional accelerators. Most Landing Zone tools stop at deployment. Ours continues operating. The Sentinel agent runs a full compliance and drift scan daily. If it finds critical or high-severity violations, it immediately routes them to the Mender for auto-remediation. The Mender takes a snapshot first — so if remediation causes issues, we can roll back. For medium and low severity findings, it escalates to humans. This creates a self-healing infrastructure loop. Your Landing Zone stays compliant not just on day one, but every day after.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The CI/CD pipeline is fully automated with GitHub Actions using OIDC workload identity federation — no stored secrets or service principal keys. We have a 5-stage reusable pipeline that every deployment goes through: Resolve authenticates via OIDC, Validate runs security and cost checks, Plan generates what-if output, Deploy applies with timestamped names, and Verify runs compliance scans and generates the as-built TDD. Every PR goes through automated validation. The assessment workflow can run on-demand against any existing subscription. Pre-commit hooks via Lefthook catch issues before they even reach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Every landing zone deployment — whether platform or application — goes through the same 5-stage reusable pipeline. Resolve validates OIDC auth and resolves the subscription from GitHub secrets. Validate runs security baseline, cost governance, and IaC linting — any violation fails the pipeline. Plan runs Bicep what-if or Terraform plan. Deploy applies changes with a timestamped deployment name for traceability. Verify captures a drift baseline, runs a compliance scan, and auto-generates the Technical Design Document. This DRY approach ensures consistency across all 10+ subscriptions.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The accelerator ships with 8 pre-built profiles — 4 platform and 4 application. Platform LZs deploy in strict order: Management first for centralized logging, then Connectivity for hub networking, Identity for AD DS and RBAC, and Security for Sentinel and Defender. Application LZs deploy in parallel after platform is ready. Online is for internet-facing apps with WAF, Corp for internal private-connectivity workloads, SAP for specialized SAP workloads with ANF and proximity groups, and Sandbox for dev/test with relaxed policies and hard budget caps. App LZ names are fully configurable via subscriptions.json — no YAML changes needed.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After every successful deployment, the pipeline automatically generates a Technical Design Document — a comprehensive as-built record of exactly what was deployed. It includes architecture diagrams with official Azure icons, a full resource inventory from Resource Graph, network topology details, security posture including all 6 baseline rules and Defender plans, live compliance scan results, cost governance configuration, and the operational model with monitoring schedules and DR plans. TDDs are uploaded as pipeline artifacts with 90-day retention. No manual documentation effort — the system documents itself.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Let me show you what this looks like in practice. A user describes their requirement — in this case, a hub-spoke network for a SOC2 workload. The pipeline automatically flows through all stages. Requirements get mapped to CAF, architecture gets WAF-assessed with real cost estimates, governance constraints are applied, code is generated using Azure Verified Modules, and deployment happens with a what-if preview. At every gate, the human approves. The whole thing generates documentation and starts continuous monitoring. What used to take weeks of architect and consultant time happens in hours with full governance throughout.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0">
                <a:solidFill>
                  <a:srgbClr val="000000"/>
                </a:solidFill>
                <a:latin typeface="Segoe UI"/>
              </a:rPr>
              <a:t>To wrap up — this accelerator is open source, flexible, and enterprise-ready. You can start with a brownfield assessment of your existing environment — no commitment, just insight. Or run a pilot deployment to see the full pipeline in action. The system is extensible — you can add custom skills, swap MCP servers, or modify agent behavior. We'd love to hear your feedback and see how you use it.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54480"/>
            <a:ext cx="10698480" cy="914400"/>
          </a:xfrm>
          <a:prstGeom prst="rect">
            <a:avLst/>
          </a:prstGeom>
          <a:noFill/>
        </p:spPr>
        <p:txBody>
          <a:bodyPr wrap="square">
            <a:spAutoFit/>
          </a:bodyPr>
          <a:lstStyle/>
          <a:p>
            <a:pPr algn="ctr"/>
            <a:r>
              <a:rPr sz="3600" b="1">
                <a:solidFill>
                  <a:srgbClr val="FFFFFF"/>
                </a:solidFill>
                <a:latin typeface="Segoe UI"/>
              </a:rPr>
              <a:t>Agentic Azure Enterprise Landing Zone Accelerator</a:t>
            </a:r>
          </a:p>
        </p:txBody>
      </p:sp>
      <p:sp>
        <p:nvSpPr>
          <p:cNvPr id="4" name="TextBox 3"/>
          <p:cNvSpPr txBox="1"/>
          <p:nvPr/>
        </p:nvSpPr>
        <p:spPr>
          <a:xfrm>
            <a:off x="1097280" y="2743200"/>
            <a:ext cx="9966960" cy="548640"/>
          </a:xfrm>
          <a:prstGeom prst="rect">
            <a:avLst/>
          </a:prstGeom>
          <a:noFill/>
        </p:spPr>
        <p:txBody>
          <a:bodyPr wrap="square">
            <a:spAutoFit/>
          </a:bodyPr>
          <a:lstStyle/>
          <a:p>
            <a:pPr algn="ctr"/>
            <a:r>
              <a:rPr sz="2200" b="0">
                <a:solidFill>
                  <a:srgbClr val="D9E8F5"/>
                </a:solidFill>
                <a:latin typeface="Segoe UI"/>
              </a:rPr>
              <a:t>AI Orchestrates · Humans Decide · Azure Executes</a:t>
            </a:r>
          </a:p>
        </p:txBody>
      </p:sp>
      <p:sp>
        <p:nvSpPr>
          <p:cNvPr id="5" name="TextBox 4"/>
          <p:cNvSpPr txBox="1"/>
          <p:nvPr/>
        </p:nvSpPr>
        <p:spPr>
          <a:xfrm>
            <a:off x="548640" y="6263640"/>
            <a:ext cx="2743200" cy="274320"/>
          </a:xfrm>
          <a:prstGeom prst="rect">
            <a:avLst/>
          </a:prstGeom>
          <a:noFill/>
        </p:spPr>
        <p:txBody>
          <a:bodyPr wrap="square">
            <a:spAutoFit/>
          </a:bodyPr>
          <a:lstStyle/>
          <a:p>
            <a:pPr algn="l"/>
            <a:r>
              <a:rPr sz="1200" b="0">
                <a:solidFill>
                  <a:srgbClr val="FFFFFF"/>
                </a:solidFill>
                <a:latin typeface="Segoe UI"/>
              </a:rPr>
              <a:t>Microsoft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About Me</a:t>
            </a:r>
          </a:p>
        </p:txBody>
      </p:sp>
      <p:sp>
        <p:nvSpPr>
          <p:cNvPr id="4" name="TextBox 3"/>
          <p:cNvSpPr txBox="1"/>
          <p:nvPr/>
        </p:nvSpPr>
        <p:spPr>
          <a:xfrm>
            <a:off x="822960" y="1325880"/>
            <a:ext cx="10424160" cy="4937760"/>
          </a:xfrm>
          <a:prstGeom prst="rect">
            <a:avLst/>
          </a:prstGeom>
          <a:noFill/>
        </p:spPr>
        <p:txBody>
          <a:bodyPr wrap="square" lIns="274320" rIns="0">
            <a:spAutoFit/>
          </a:bodyPr>
          <a:lstStyle/>
          <a:p>
            <a:pPr>
              <a:lnSpc>
                <a:spcPct val="115000"/>
              </a:lnSpc>
              <a:spcAft>
                <a:spcPts val="1000"/>
              </a:spcAft>
              <a:buChar char="•"/>
              <a:buSzPct val="100000"/>
              <a:buClr>
                <a:srgbClr val="FFFFFF"/>
              </a:buClr>
            </a:pPr>
            <a:r>
              <a:rPr sz="1900" b="0">
                <a:solidFill>
                  <a:srgbClr val="FFFFFF"/>
                </a:solidFill>
                <a:latin typeface="Segoe UI"/>
              </a:rPr>
              <a:t>[Your Name] — Senior Cloud Solution Architect</a:t>
            </a:r>
          </a:p>
          <a:p>
            <a:pPr>
              <a:lnSpc>
                <a:spcPct val="115000"/>
              </a:lnSpc>
              <a:spcAft>
                <a:spcPts val="1000"/>
              </a:spcAft>
              <a:buChar char="•"/>
              <a:buSzPct val="100000"/>
              <a:buClr>
                <a:srgbClr val="FFFFFF"/>
              </a:buClr>
            </a:pPr>
            <a:r>
              <a:rPr sz="1900" b="0">
                <a:solidFill>
                  <a:srgbClr val="FFFFFF"/>
                </a:solidFill>
                <a:latin typeface="Segoe UI"/>
              </a:rPr>
              <a:t>Recently joined Microsoft</a:t>
            </a:r>
          </a:p>
          <a:p>
            <a:pPr>
              <a:lnSpc>
                <a:spcPct val="115000"/>
              </a:lnSpc>
              <a:spcAft>
                <a:spcPts val="1000"/>
              </a:spcAft>
              <a:buChar char="•"/>
              <a:buSzPct val="100000"/>
              <a:buClr>
                <a:srgbClr val="FFFFFF"/>
              </a:buClr>
            </a:pPr>
            <a:r>
              <a:rPr sz="1900" b="0">
                <a:solidFill>
                  <a:srgbClr val="FFFFFF"/>
                </a:solidFill>
                <a:latin typeface="Segoe UI"/>
              </a:rPr>
              <a:t>Background in cloud infrastructure and enterprise architecture</a:t>
            </a:r>
          </a:p>
          <a:p>
            <a:pPr>
              <a:lnSpc>
                <a:spcPct val="115000"/>
              </a:lnSpc>
              <a:spcAft>
                <a:spcPts val="1000"/>
              </a:spcAft>
              <a:buChar char="•"/>
              <a:buSzPct val="100000"/>
              <a:buClr>
                <a:srgbClr val="FFFFFF"/>
              </a:buClr>
            </a:pPr>
            <a:r>
              <a:rPr sz="1900" b="0">
                <a:solidFill>
                  <a:srgbClr val="FFFFFF"/>
                </a:solidFill>
                <a:latin typeface="Segoe UI"/>
              </a:rPr>
              <a:t>Passionate about AI-driven infrastructure automation</a:t>
            </a:r>
          </a:p>
          <a:p>
            <a:pPr>
              <a:lnSpc>
                <a:spcPct val="115000"/>
              </a:lnSpc>
              <a:spcAft>
                <a:spcPts val="1000"/>
              </a:spcAft>
              <a:buChar char="•"/>
              <a:buSzPct val="100000"/>
              <a:buClr>
                <a:srgbClr val="FFFFFF"/>
              </a:buClr>
            </a:pPr>
            <a:r>
              <a:rPr sz="1900" b="0">
                <a:solidFill>
                  <a:srgbClr val="FFFFFF"/>
                </a:solidFill>
                <a:latin typeface="Segoe UI"/>
              </a:rPr>
              <a:t>Focus: Azure Landing Zones, CAF, Well-Architected Framework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What You'll Walk Away With</a:t>
            </a:r>
          </a:p>
        </p:txBody>
      </p:sp>
      <p:sp>
        <p:nvSpPr>
          <p:cNvPr id="4" name="TextBox 3"/>
          <p:cNvSpPr txBox="1"/>
          <p:nvPr/>
        </p:nvSpPr>
        <p:spPr>
          <a:xfrm>
            <a:off x="822960" y="1325880"/>
            <a:ext cx="10424160" cy="4937760"/>
          </a:xfrm>
          <a:prstGeom prst="rect">
            <a:avLst/>
          </a:prstGeom>
          <a:noFill/>
        </p:spPr>
        <p:txBody>
          <a:bodyPr wrap="square" lIns="274320" rIns="0">
            <a:spAutoFit/>
          </a:bodyPr>
          <a:lstStyle/>
          <a:p>
            <a:pPr>
              <a:lnSpc>
                <a:spcPct val="115000"/>
              </a:lnSpc>
              <a:spcAft>
                <a:spcPts val="1000"/>
              </a:spcAft>
              <a:buChar char="•"/>
              <a:buSzPct val="100000"/>
              <a:buClr>
                <a:srgbClr val="FFFFFF"/>
              </a:buClr>
            </a:pPr>
            <a:r>
              <a:rPr sz="1900" b="0">
                <a:solidFill>
                  <a:srgbClr val="FFFFFF"/>
                </a:solidFill>
                <a:latin typeface="Segoe UI"/>
              </a:rPr>
              <a:t>Understand how multi-agent AI can automate Landing Zone lifecycle management</a:t>
            </a:r>
          </a:p>
          <a:p>
            <a:pPr>
              <a:lnSpc>
                <a:spcPct val="115000"/>
              </a:lnSpc>
              <a:spcAft>
                <a:spcPts val="1000"/>
              </a:spcAft>
              <a:buChar char="•"/>
              <a:buSzPct val="100000"/>
              <a:buClr>
                <a:srgbClr val="FFFFFF"/>
              </a:buClr>
            </a:pPr>
            <a:r>
              <a:rPr sz="1900" b="0">
                <a:solidFill>
                  <a:srgbClr val="FFFFFF"/>
                </a:solidFill>
                <a:latin typeface="Segoe UI"/>
              </a:rPr>
              <a:t>See a CAF + WAF aligned approach that enforces governance from day one</a:t>
            </a:r>
          </a:p>
          <a:p>
            <a:pPr>
              <a:lnSpc>
                <a:spcPct val="115000"/>
              </a:lnSpc>
              <a:spcAft>
                <a:spcPts val="1000"/>
              </a:spcAft>
              <a:buChar char="•"/>
              <a:buSzPct val="100000"/>
              <a:buClr>
                <a:srgbClr val="FFFFFF"/>
              </a:buClr>
            </a:pPr>
            <a:r>
              <a:rPr sz="1900" b="0">
                <a:solidFill>
                  <a:srgbClr val="FFFFFF"/>
                </a:solidFill>
                <a:latin typeface="Segoe UI"/>
              </a:rPr>
              <a:t>Learn about continuous compliance — not just deploy and forget</a:t>
            </a:r>
          </a:p>
          <a:p>
            <a:pPr>
              <a:lnSpc>
                <a:spcPct val="115000"/>
              </a:lnSpc>
              <a:spcAft>
                <a:spcPts val="1000"/>
              </a:spcAft>
              <a:buChar char="•"/>
              <a:buSzPct val="100000"/>
              <a:buClr>
                <a:srgbClr val="FFFFFF"/>
              </a:buClr>
            </a:pPr>
            <a:r>
              <a:rPr sz="1900" b="0">
                <a:solidFill>
                  <a:srgbClr val="FFFFFF"/>
                </a:solidFill>
                <a:latin typeface="Segoe UI"/>
              </a:rPr>
              <a:t>Discover how to assess brownfield estates with AI-driven WAF analysis</a:t>
            </a:r>
          </a:p>
          <a:p>
            <a:pPr>
              <a:lnSpc>
                <a:spcPct val="115000"/>
              </a:lnSpc>
              <a:spcAft>
                <a:spcPts val="1000"/>
              </a:spcAft>
              <a:buChar char="•"/>
              <a:buSzPct val="100000"/>
              <a:buClr>
                <a:srgbClr val="FFFFFF"/>
              </a:buClr>
            </a:pPr>
            <a:r>
              <a:rPr sz="1900" b="0">
                <a:solidFill>
                  <a:srgbClr val="FFFFFF"/>
                </a:solidFill>
                <a:latin typeface="Segoe UI"/>
              </a:rPr>
              <a:t>Get a path to accelerate your own LZ deployments from weeks to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The Landing Zone Challenge</a:t>
            </a:r>
          </a:p>
        </p:txBody>
      </p:sp>
      <p:sp>
        <p:nvSpPr>
          <p:cNvPr id="4" name="TextBox 3"/>
          <p:cNvSpPr txBox="1"/>
          <p:nvPr/>
        </p:nvSpPr>
        <p:spPr>
          <a:xfrm>
            <a:off x="822960" y="1325880"/>
            <a:ext cx="10424160" cy="4937760"/>
          </a:xfrm>
          <a:prstGeom prst="rect">
            <a:avLst/>
          </a:prstGeom>
          <a:noFill/>
        </p:spPr>
        <p:txBody>
          <a:bodyPr wrap="square" lIns="274320" rIns="0">
            <a:spAutoFit/>
          </a:bodyPr>
          <a:lstStyle/>
          <a:p>
            <a:pPr>
              <a:lnSpc>
                <a:spcPct val="115000"/>
              </a:lnSpc>
              <a:spcAft>
                <a:spcPts val="1000"/>
              </a:spcAft>
              <a:buChar char="•"/>
              <a:buSzPct val="100000"/>
              <a:buClr>
                <a:srgbClr val="FFFFFF"/>
              </a:buClr>
            </a:pPr>
            <a:r>
              <a:rPr sz="1900" b="0">
                <a:solidFill>
                  <a:srgbClr val="FFFFFF"/>
                </a:solidFill>
                <a:latin typeface="Segoe UI"/>
              </a:rPr>
              <a:t>Landing Zone deployments take 8–16 weeks with specialized consultants</a:t>
            </a:r>
          </a:p>
          <a:p>
            <a:pPr>
              <a:lnSpc>
                <a:spcPct val="115000"/>
              </a:lnSpc>
              <a:spcAft>
                <a:spcPts val="1000"/>
              </a:spcAft>
              <a:buChar char="•"/>
              <a:buSzPct val="100000"/>
              <a:buClr>
                <a:srgbClr val="FFFFFF"/>
              </a:buClr>
            </a:pPr>
            <a:r>
              <a:rPr sz="1900" b="0">
                <a:solidFill>
                  <a:srgbClr val="FFFFFF"/>
                </a:solidFill>
                <a:latin typeface="Segoe UI"/>
              </a:rPr>
              <a:t>Governance drift begins within days of deployment</a:t>
            </a:r>
          </a:p>
          <a:p>
            <a:pPr>
              <a:lnSpc>
                <a:spcPct val="115000"/>
              </a:lnSpc>
              <a:spcAft>
                <a:spcPts val="1000"/>
              </a:spcAft>
              <a:buChar char="•"/>
              <a:buSzPct val="100000"/>
              <a:buClr>
                <a:srgbClr val="FFFFFF"/>
              </a:buClr>
            </a:pPr>
            <a:r>
              <a:rPr sz="1900" b="0">
                <a:solidFill>
                  <a:srgbClr val="FFFFFF"/>
                </a:solidFill>
                <a:latin typeface="Segoe UI"/>
              </a:rPr>
              <a:t>Manual IaC authoring is error-prone and inconsistent</a:t>
            </a:r>
          </a:p>
          <a:p>
            <a:pPr>
              <a:lnSpc>
                <a:spcPct val="115000"/>
              </a:lnSpc>
              <a:spcAft>
                <a:spcPts val="1000"/>
              </a:spcAft>
              <a:buChar char="•"/>
              <a:buSzPct val="100000"/>
              <a:buClr>
                <a:srgbClr val="FFFFFF"/>
              </a:buClr>
            </a:pPr>
            <a:r>
              <a:rPr sz="1900" b="0">
                <a:solidFill>
                  <a:srgbClr val="FFFFFF"/>
                </a:solidFill>
                <a:latin typeface="Segoe UI"/>
              </a:rPr>
              <a:t>No continuous compliance monitoring post-deployment</a:t>
            </a:r>
          </a:p>
          <a:p>
            <a:pPr>
              <a:lnSpc>
                <a:spcPct val="115000"/>
              </a:lnSpc>
              <a:spcAft>
                <a:spcPts val="1000"/>
              </a:spcAft>
              <a:buChar char="•"/>
              <a:buSzPct val="100000"/>
              <a:buClr>
                <a:srgbClr val="FFFFFF"/>
              </a:buClr>
            </a:pPr>
            <a:r>
              <a:rPr sz="1900" b="0">
                <a:solidFill>
                  <a:srgbClr val="FFFFFF"/>
                </a:solidFill>
                <a:latin typeface="Segoe UI"/>
              </a:rPr>
              <a:t>Brownfield estates are often ungoverned and undocumented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Why This Matters — Business Impact</a:t>
            </a:r>
          </a:p>
        </p:txBody>
      </p:sp>
      <p:sp>
        <p:nvSpPr>
          <p:cNvPr id="4" name="TextBox 3"/>
          <p:cNvSpPr txBox="1"/>
          <p:nvPr/>
        </p:nvSpPr>
        <p:spPr>
          <a:xfrm>
            <a:off x="822960" y="1325880"/>
            <a:ext cx="10424160" cy="4937760"/>
          </a:xfrm>
          <a:prstGeom prst="rect">
            <a:avLst/>
          </a:prstGeom>
          <a:noFill/>
        </p:spPr>
        <p:txBody>
          <a:bodyPr wrap="square" lIns="274320" rIns="0">
            <a:spAutoFit/>
          </a:bodyPr>
          <a:lstStyle/>
          <a:p>
            <a:pPr>
              <a:lnSpc>
                <a:spcPct val="115000"/>
              </a:lnSpc>
              <a:spcAft>
                <a:spcPts val="1000"/>
              </a:spcAft>
              <a:buChar char="•"/>
              <a:buSzPct val="100000"/>
              <a:buClr>
                <a:srgbClr val="FFFFFF"/>
              </a:buClr>
            </a:pPr>
            <a:r>
              <a:rPr sz="1900" b="0">
                <a:solidFill>
                  <a:srgbClr val="FFFFFF"/>
                </a:solidFill>
                <a:latin typeface="Segoe UI"/>
              </a:rPr>
              <a:t>Speed: Weeks → hours for Landing Zone deployment</a:t>
            </a:r>
          </a:p>
          <a:p>
            <a:pPr>
              <a:lnSpc>
                <a:spcPct val="115000"/>
              </a:lnSpc>
              <a:spcAft>
                <a:spcPts val="1000"/>
              </a:spcAft>
              <a:buChar char="•"/>
              <a:buSzPct val="100000"/>
              <a:buClr>
                <a:srgbClr val="FFFFFF"/>
              </a:buClr>
            </a:pPr>
            <a:r>
              <a:rPr sz="1900" b="0">
                <a:solidFill>
                  <a:srgbClr val="FFFFFF"/>
                </a:solidFill>
                <a:latin typeface="Segoe UI"/>
              </a:rPr>
              <a:t>Consistency: Every deployment follows CAF + WAF alignment</a:t>
            </a:r>
          </a:p>
          <a:p>
            <a:pPr>
              <a:lnSpc>
                <a:spcPct val="115000"/>
              </a:lnSpc>
              <a:spcAft>
                <a:spcPts val="1000"/>
              </a:spcAft>
              <a:buChar char="•"/>
              <a:buSzPct val="100000"/>
              <a:buClr>
                <a:srgbClr val="FFFFFF"/>
              </a:buClr>
            </a:pPr>
            <a:r>
              <a:rPr sz="1900" b="0">
                <a:solidFill>
                  <a:srgbClr val="FFFFFF"/>
                </a:solidFill>
                <a:latin typeface="Segoe UI"/>
              </a:rPr>
              <a:t>Governance: Non-negotiable security baseline enforced at every stage</a:t>
            </a:r>
          </a:p>
          <a:p>
            <a:pPr>
              <a:lnSpc>
                <a:spcPct val="115000"/>
              </a:lnSpc>
              <a:spcAft>
                <a:spcPts val="1000"/>
              </a:spcAft>
              <a:buChar char="•"/>
              <a:buSzPct val="100000"/>
              <a:buClr>
                <a:srgbClr val="FFFFFF"/>
              </a:buClr>
            </a:pPr>
            <a:r>
              <a:rPr sz="1900" b="0">
                <a:solidFill>
                  <a:srgbClr val="FFFFFF"/>
                </a:solidFill>
                <a:latin typeface="Segoe UI"/>
              </a:rPr>
              <a:t>Cost Control: Built-in budget alerts (80/100/120%) on every deployment</a:t>
            </a:r>
          </a:p>
          <a:p>
            <a:pPr>
              <a:lnSpc>
                <a:spcPct val="115000"/>
              </a:lnSpc>
              <a:spcAft>
                <a:spcPts val="1000"/>
              </a:spcAft>
              <a:buChar char="•"/>
              <a:buSzPct val="100000"/>
              <a:buClr>
                <a:srgbClr val="FFFFFF"/>
              </a:buClr>
            </a:pPr>
            <a:r>
              <a:rPr sz="1900" b="0">
                <a:solidFill>
                  <a:srgbClr val="FFFFFF"/>
                </a:solidFill>
                <a:latin typeface="Segoe UI"/>
              </a:rPr>
              <a:t>Continuous: Day-2 operations with auto-remediation</a:t>
            </a:r>
          </a:p>
          <a:p>
            <a:pPr>
              <a:lnSpc>
                <a:spcPct val="115000"/>
              </a:lnSpc>
              <a:spcAft>
                <a:spcPts val="1000"/>
              </a:spcAft>
              <a:buChar char="•"/>
              <a:buSzPct val="100000"/>
              <a:buClr>
                <a:srgbClr val="FFFFFF"/>
              </a:buClr>
            </a:pPr>
            <a:r>
              <a:rPr sz="1900" b="0">
                <a:solidFill>
                  <a:srgbClr val="FFFFFF"/>
                </a:solidFill>
                <a:latin typeface="Segoe UI"/>
              </a:rPr>
              <a:t>Dual-track: Supports both Bicep and Terraform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Multi-Agent Architecture — 6 Layers</a:t>
            </a:r>
          </a:p>
        </p:txBody>
      </p:sp>
      <p:sp>
        <p:nvSpPr>
          <p:cNvPr id="4" name="TextBox 3"/>
          <p:cNvSpPr txBox="1"/>
          <p:nvPr/>
        </p:nvSpPr>
        <p:spPr>
          <a:xfrm>
            <a:off x="822960" y="1371600"/>
            <a:ext cx="2743200" cy="548640"/>
          </a:xfrm>
          <a:prstGeom prst="rect">
            <a:avLst/>
          </a:prstGeom>
          <a:noFill/>
        </p:spPr>
        <p:txBody>
          <a:bodyPr wrap="none">
            <a:spAutoFit/>
          </a:bodyPr>
          <a:lstStyle/>
          <a:p>
            <a:r>
              <a:rPr sz="1600" b="1">
                <a:solidFill>
                  <a:srgbClr val="0078D4"/>
                </a:solidFill>
                <a:latin typeface="Segoe UI"/>
              </a:rPr>
              <a:t>🖥️  Presentation</a:t>
            </a:r>
          </a:p>
        </p:txBody>
      </p:sp>
      <p:sp>
        <p:nvSpPr>
          <p:cNvPr id="5" name="TextBox 4"/>
          <p:cNvSpPr txBox="1"/>
          <p:nvPr/>
        </p:nvSpPr>
        <p:spPr>
          <a:xfrm>
            <a:off x="3657600" y="1371600"/>
            <a:ext cx="7498079" cy="548640"/>
          </a:xfrm>
          <a:prstGeom prst="rect">
            <a:avLst/>
          </a:prstGeom>
          <a:noFill/>
        </p:spPr>
        <p:txBody>
          <a:bodyPr wrap="none">
            <a:spAutoFit/>
          </a:bodyPr>
          <a:lstStyle/>
          <a:p>
            <a:r>
              <a:rPr sz="1500" b="0">
                <a:solidFill>
                  <a:srgbClr val="FFFFFF"/>
                </a:solidFill>
                <a:latin typeface="Segoe UI"/>
              </a:rPr>
              <a:t>Copilot Studio · Teams · CLI · Azure Portal</a:t>
            </a:r>
          </a:p>
        </p:txBody>
      </p:sp>
      <p:sp>
        <p:nvSpPr>
          <p:cNvPr id="6" name="TextBox 5"/>
          <p:cNvSpPr txBox="1"/>
          <p:nvPr/>
        </p:nvSpPr>
        <p:spPr>
          <a:xfrm>
            <a:off x="1828800" y="1874519"/>
            <a:ext cx="457200" cy="274320"/>
          </a:xfrm>
          <a:prstGeom prst="rect">
            <a:avLst/>
          </a:prstGeom>
          <a:noFill/>
        </p:spPr>
        <p:txBody>
          <a:bodyPr wrap="none">
            <a:spAutoFit/>
          </a:bodyPr>
          <a:lstStyle/>
          <a:p>
            <a:r>
              <a:rPr sz="1200" b="0">
                <a:solidFill>
                  <a:srgbClr val="D9E8F5"/>
                </a:solidFill>
                <a:latin typeface="Segoe UI"/>
              </a:rPr>
              <a:t>↓</a:t>
            </a:r>
          </a:p>
        </p:txBody>
      </p:sp>
      <p:sp>
        <p:nvSpPr>
          <p:cNvPr id="7" name="TextBox 6"/>
          <p:cNvSpPr txBox="1"/>
          <p:nvPr/>
        </p:nvSpPr>
        <p:spPr>
          <a:xfrm>
            <a:off x="822960" y="2084832"/>
            <a:ext cx="2743200" cy="548640"/>
          </a:xfrm>
          <a:prstGeom prst="rect">
            <a:avLst/>
          </a:prstGeom>
          <a:noFill/>
        </p:spPr>
        <p:txBody>
          <a:bodyPr wrap="none">
            <a:spAutoFit/>
          </a:bodyPr>
          <a:lstStyle/>
          <a:p>
            <a:r>
              <a:rPr sz="1600" b="1">
                <a:solidFill>
                  <a:srgbClr val="0078D4"/>
                </a:solidFill>
                <a:latin typeface="Segoe UI"/>
              </a:rPr>
              <a:t>🧠  Orchestrator</a:t>
            </a:r>
          </a:p>
        </p:txBody>
      </p:sp>
      <p:sp>
        <p:nvSpPr>
          <p:cNvPr id="8" name="TextBox 7"/>
          <p:cNvSpPr txBox="1"/>
          <p:nvPr/>
        </p:nvSpPr>
        <p:spPr>
          <a:xfrm>
            <a:off x="3657600" y="2084832"/>
            <a:ext cx="7498079" cy="548640"/>
          </a:xfrm>
          <a:prstGeom prst="rect">
            <a:avLst/>
          </a:prstGeom>
          <a:noFill/>
        </p:spPr>
        <p:txBody>
          <a:bodyPr wrap="none">
            <a:spAutoFit/>
          </a:bodyPr>
          <a:lstStyle/>
          <a:p>
            <a:r>
              <a:rPr sz="1500" b="0">
                <a:solidFill>
                  <a:srgbClr val="FFFFFF"/>
                </a:solidFill>
                <a:latin typeface="Segoe UI"/>
              </a:rPr>
              <a:t>Conductor (DAG) · Approval Gates · Session State</a:t>
            </a:r>
          </a:p>
        </p:txBody>
      </p:sp>
      <p:sp>
        <p:nvSpPr>
          <p:cNvPr id="9" name="TextBox 8"/>
          <p:cNvSpPr txBox="1"/>
          <p:nvPr/>
        </p:nvSpPr>
        <p:spPr>
          <a:xfrm>
            <a:off x="1828800" y="2587752"/>
            <a:ext cx="457200" cy="274320"/>
          </a:xfrm>
          <a:prstGeom prst="rect">
            <a:avLst/>
          </a:prstGeom>
          <a:noFill/>
        </p:spPr>
        <p:txBody>
          <a:bodyPr wrap="none">
            <a:spAutoFit/>
          </a:bodyPr>
          <a:lstStyle/>
          <a:p>
            <a:r>
              <a:rPr sz="1200" b="0">
                <a:solidFill>
                  <a:srgbClr val="D9E8F5"/>
                </a:solidFill>
                <a:latin typeface="Segoe UI"/>
              </a:rPr>
              <a:t>↓</a:t>
            </a:r>
          </a:p>
        </p:txBody>
      </p:sp>
      <p:sp>
        <p:nvSpPr>
          <p:cNvPr id="10" name="TextBox 9"/>
          <p:cNvSpPr txBox="1"/>
          <p:nvPr/>
        </p:nvSpPr>
        <p:spPr>
          <a:xfrm>
            <a:off x="822960" y="2798064"/>
            <a:ext cx="2743200" cy="548640"/>
          </a:xfrm>
          <a:prstGeom prst="rect">
            <a:avLst/>
          </a:prstGeom>
          <a:noFill/>
        </p:spPr>
        <p:txBody>
          <a:bodyPr wrap="none">
            <a:spAutoFit/>
          </a:bodyPr>
          <a:lstStyle/>
          <a:p>
            <a:r>
              <a:rPr sz="1600" b="1">
                <a:solidFill>
                  <a:srgbClr val="0078D4"/>
                </a:solidFill>
                <a:latin typeface="Segoe UI"/>
              </a:rPr>
              <a:t>🤖  Agent Layer</a:t>
            </a:r>
          </a:p>
        </p:txBody>
      </p:sp>
      <p:sp>
        <p:nvSpPr>
          <p:cNvPr id="11" name="TextBox 10"/>
          <p:cNvSpPr txBox="1"/>
          <p:nvPr/>
        </p:nvSpPr>
        <p:spPr>
          <a:xfrm>
            <a:off x="3657600" y="2798064"/>
            <a:ext cx="7498079" cy="548640"/>
          </a:xfrm>
          <a:prstGeom prst="rect">
            <a:avLst/>
          </a:prstGeom>
          <a:noFill/>
        </p:spPr>
        <p:txBody>
          <a:bodyPr wrap="none">
            <a:spAutoFit/>
          </a:bodyPr>
          <a:lstStyle/>
          <a:p>
            <a:r>
              <a:rPr sz="1500" b="0">
                <a:solidFill>
                  <a:srgbClr val="FFFFFF"/>
                </a:solidFill>
                <a:latin typeface="Segoe UI"/>
              </a:rPr>
              <a:t>14 Agents: Assessor → Scribe → Oracle → Warden → Forge → Envoy → Sentinel</a:t>
            </a:r>
          </a:p>
        </p:txBody>
      </p:sp>
      <p:sp>
        <p:nvSpPr>
          <p:cNvPr id="12" name="TextBox 11"/>
          <p:cNvSpPr txBox="1"/>
          <p:nvPr/>
        </p:nvSpPr>
        <p:spPr>
          <a:xfrm>
            <a:off x="1828800" y="3300984"/>
            <a:ext cx="457200" cy="274320"/>
          </a:xfrm>
          <a:prstGeom prst="rect">
            <a:avLst/>
          </a:prstGeom>
          <a:noFill/>
        </p:spPr>
        <p:txBody>
          <a:bodyPr wrap="none">
            <a:spAutoFit/>
          </a:bodyPr>
          <a:lstStyle/>
          <a:p>
            <a:r>
              <a:rPr sz="1200" b="0">
                <a:solidFill>
                  <a:srgbClr val="D9E8F5"/>
                </a:solidFill>
                <a:latin typeface="Segoe UI"/>
              </a:rPr>
              <a:t>↓</a:t>
            </a:r>
          </a:p>
        </p:txBody>
      </p:sp>
      <p:sp>
        <p:nvSpPr>
          <p:cNvPr id="13" name="TextBox 12"/>
          <p:cNvSpPr txBox="1"/>
          <p:nvPr/>
        </p:nvSpPr>
        <p:spPr>
          <a:xfrm>
            <a:off x="822960" y="3511296"/>
            <a:ext cx="2743200" cy="548640"/>
          </a:xfrm>
          <a:prstGeom prst="rect">
            <a:avLst/>
          </a:prstGeom>
          <a:noFill/>
        </p:spPr>
        <p:txBody>
          <a:bodyPr wrap="none">
            <a:spAutoFit/>
          </a:bodyPr>
          <a:lstStyle/>
          <a:p>
            <a:r>
              <a:rPr sz="1600" b="1">
                <a:solidFill>
                  <a:srgbClr val="0078D4"/>
                </a:solidFill>
                <a:latin typeface="Segoe UI"/>
              </a:rPr>
              <a:t>🔌  MCP Servers</a:t>
            </a:r>
          </a:p>
        </p:txBody>
      </p:sp>
      <p:sp>
        <p:nvSpPr>
          <p:cNvPr id="14" name="TextBox 13"/>
          <p:cNvSpPr txBox="1"/>
          <p:nvPr/>
        </p:nvSpPr>
        <p:spPr>
          <a:xfrm>
            <a:off x="3657600" y="3511296"/>
            <a:ext cx="7498079" cy="548640"/>
          </a:xfrm>
          <a:prstGeom prst="rect">
            <a:avLst/>
          </a:prstGeom>
          <a:noFill/>
        </p:spPr>
        <p:txBody>
          <a:bodyPr wrap="none">
            <a:spAutoFit/>
          </a:bodyPr>
          <a:lstStyle/>
          <a:p>
            <a:r>
              <a:rPr sz="1500" b="0">
                <a:solidFill>
                  <a:srgbClr val="FFFFFF"/>
                </a:solidFill>
                <a:latin typeface="Segoe UI"/>
              </a:rPr>
              <a:t>Azure Pricing (18) · Azure Platform (27) · Draw.io</a:t>
            </a:r>
          </a:p>
        </p:txBody>
      </p:sp>
      <p:sp>
        <p:nvSpPr>
          <p:cNvPr id="15" name="TextBox 14"/>
          <p:cNvSpPr txBox="1"/>
          <p:nvPr/>
        </p:nvSpPr>
        <p:spPr>
          <a:xfrm>
            <a:off x="1828800" y="4014215"/>
            <a:ext cx="457200" cy="274320"/>
          </a:xfrm>
          <a:prstGeom prst="rect">
            <a:avLst/>
          </a:prstGeom>
          <a:noFill/>
        </p:spPr>
        <p:txBody>
          <a:bodyPr wrap="none">
            <a:spAutoFit/>
          </a:bodyPr>
          <a:lstStyle/>
          <a:p>
            <a:r>
              <a:rPr sz="1200" b="0">
                <a:solidFill>
                  <a:srgbClr val="D9E8F5"/>
                </a:solidFill>
                <a:latin typeface="Segoe UI"/>
              </a:rPr>
              <a:t>↓</a:t>
            </a:r>
          </a:p>
        </p:txBody>
      </p:sp>
      <p:sp>
        <p:nvSpPr>
          <p:cNvPr id="16" name="TextBox 15"/>
          <p:cNvSpPr txBox="1"/>
          <p:nvPr/>
        </p:nvSpPr>
        <p:spPr>
          <a:xfrm>
            <a:off x="822960" y="4224528"/>
            <a:ext cx="2743200" cy="548640"/>
          </a:xfrm>
          <a:prstGeom prst="rect">
            <a:avLst/>
          </a:prstGeom>
          <a:noFill/>
        </p:spPr>
        <p:txBody>
          <a:bodyPr wrap="none">
            <a:spAutoFit/>
          </a:bodyPr>
          <a:lstStyle/>
          <a:p>
            <a:r>
              <a:rPr sz="1600" b="1">
                <a:solidFill>
                  <a:srgbClr val="0078D4"/>
                </a:solidFill>
                <a:latin typeface="Segoe UI"/>
              </a:rPr>
              <a:t>📦  IaC Modules</a:t>
            </a:r>
          </a:p>
        </p:txBody>
      </p:sp>
      <p:sp>
        <p:nvSpPr>
          <p:cNvPr id="17" name="TextBox 16"/>
          <p:cNvSpPr txBox="1"/>
          <p:nvPr/>
        </p:nvSpPr>
        <p:spPr>
          <a:xfrm>
            <a:off x="3657600" y="4224528"/>
            <a:ext cx="7498079" cy="548640"/>
          </a:xfrm>
          <a:prstGeom prst="rect">
            <a:avLst/>
          </a:prstGeom>
          <a:noFill/>
        </p:spPr>
        <p:txBody>
          <a:bodyPr wrap="none">
            <a:spAutoFit/>
          </a:bodyPr>
          <a:lstStyle/>
          <a:p>
            <a:r>
              <a:rPr sz="1500" b="0">
                <a:solidFill>
                  <a:srgbClr val="FFFFFF"/>
                </a:solidFill>
                <a:latin typeface="Segoe UI"/>
              </a:rPr>
              <a:t>Bicep (AVM) · Terraform (AVM-TF) · 8 CAF Design Areas</a:t>
            </a:r>
          </a:p>
        </p:txBody>
      </p:sp>
      <p:sp>
        <p:nvSpPr>
          <p:cNvPr id="18" name="TextBox 17"/>
          <p:cNvSpPr txBox="1"/>
          <p:nvPr/>
        </p:nvSpPr>
        <p:spPr>
          <a:xfrm>
            <a:off x="1828800" y="4727448"/>
            <a:ext cx="457200" cy="274320"/>
          </a:xfrm>
          <a:prstGeom prst="rect">
            <a:avLst/>
          </a:prstGeom>
          <a:noFill/>
        </p:spPr>
        <p:txBody>
          <a:bodyPr wrap="none">
            <a:spAutoFit/>
          </a:bodyPr>
          <a:lstStyle/>
          <a:p>
            <a:r>
              <a:rPr sz="1200" b="0">
                <a:solidFill>
                  <a:srgbClr val="D9E8F5"/>
                </a:solidFill>
                <a:latin typeface="Segoe UI"/>
              </a:rPr>
              <a:t>↓</a:t>
            </a:r>
          </a:p>
        </p:txBody>
      </p:sp>
      <p:sp>
        <p:nvSpPr>
          <p:cNvPr id="19" name="TextBox 18"/>
          <p:cNvSpPr txBox="1"/>
          <p:nvPr/>
        </p:nvSpPr>
        <p:spPr>
          <a:xfrm>
            <a:off x="822960" y="4937760"/>
            <a:ext cx="2743200" cy="548640"/>
          </a:xfrm>
          <a:prstGeom prst="rect">
            <a:avLst/>
          </a:prstGeom>
          <a:noFill/>
        </p:spPr>
        <p:txBody>
          <a:bodyPr wrap="none">
            <a:spAutoFit/>
          </a:bodyPr>
          <a:lstStyle/>
          <a:p>
            <a:r>
              <a:rPr sz="1600" b="1">
                <a:solidFill>
                  <a:srgbClr val="0078D4"/>
                </a:solidFill>
                <a:latin typeface="Segoe UI"/>
              </a:rPr>
              <a:t>☁️  Azure</a:t>
            </a:r>
          </a:p>
        </p:txBody>
      </p:sp>
      <p:sp>
        <p:nvSpPr>
          <p:cNvPr id="20" name="TextBox 19"/>
          <p:cNvSpPr txBox="1"/>
          <p:nvPr/>
        </p:nvSpPr>
        <p:spPr>
          <a:xfrm>
            <a:off x="3657600" y="4937760"/>
            <a:ext cx="7498079" cy="548640"/>
          </a:xfrm>
          <a:prstGeom prst="rect">
            <a:avLst/>
          </a:prstGeom>
          <a:noFill/>
        </p:spPr>
        <p:txBody>
          <a:bodyPr wrap="none">
            <a:spAutoFit/>
          </a:bodyPr>
          <a:lstStyle/>
          <a:p>
            <a:r>
              <a:rPr sz="1500" b="0">
                <a:solidFill>
                  <a:srgbClr val="FFFFFF"/>
                </a:solidFill>
                <a:latin typeface="Segoe UI"/>
              </a:rPr>
              <a:t>Management Groups · Subscriptions · Networking · Identity · Security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Specialized AI Agents</a:t>
            </a:r>
          </a:p>
        </p:txBody>
      </p:sp>
      <p:graphicFrame>
        <p:nvGraphicFramePr>
          <p:cNvPr id="4" name="Table 3"/>
          <p:cNvGraphicFramePr>
            <a:graphicFrameLocks noGrp="1"/>
          </p:cNvGraphicFramePr>
          <p:nvPr/>
        </p:nvGraphicFramePr>
        <p:xfrm>
          <a:off x="731520" y="1325880"/>
          <a:ext cx="10698480" cy="4754880"/>
        </p:xfrm>
        <a:graphic>
          <a:graphicData uri="http://schemas.openxmlformats.org/drawingml/2006/table">
            <a:tbl>
              <a:tblPr firstRow="1" bandRow="1">
                <a:tableStyleId>{5C22544A-7EE6-4342-B048-85BDC9FD1C3A}</a:tableStyleId>
              </a:tblPr>
              <a:tblGrid>
                <a:gridCol w="3566160"/>
                <a:gridCol w="3566160"/>
                <a:gridCol w="3566160"/>
              </a:tblGrid>
              <a:tr h="396240">
                <a:tc>
                  <a:txBody>
                    <a:bodyPr/>
                    <a:lstStyle/>
                    <a:p>
                      <a:pPr algn="ctr"/>
                      <a:r>
                        <a:rPr sz="1500" b="1">
                          <a:solidFill>
                            <a:srgbClr val="FFFFFF"/>
                          </a:solidFill>
                          <a:latin typeface="Segoe UI"/>
                        </a:rPr>
                        <a:t>Agent</a:t>
                      </a:r>
                    </a:p>
                  </a:txBody>
                  <a:tcPr>
                    <a:solidFill>
                      <a:srgbClr val="0078D4"/>
                    </a:solidFill>
                  </a:tcPr>
                </a:tc>
                <a:tc>
                  <a:txBody>
                    <a:bodyPr/>
                    <a:lstStyle/>
                    <a:p>
                      <a:pPr algn="ctr"/>
                      <a:r>
                        <a:rPr sz="1500" b="1">
                          <a:solidFill>
                            <a:srgbClr val="FFFFFF"/>
                          </a:solidFill>
                          <a:latin typeface="Segoe UI"/>
                        </a:rPr>
                        <a:t>Role</a:t>
                      </a:r>
                    </a:p>
                  </a:txBody>
                  <a:tcPr>
                    <a:solidFill>
                      <a:srgbClr val="0078D4"/>
                    </a:solidFill>
                  </a:tcPr>
                </a:tc>
                <a:tc>
                  <a:txBody>
                    <a:bodyPr/>
                    <a:lstStyle/>
                    <a:p>
                      <a:pPr algn="ctr"/>
                      <a:r>
                        <a:rPr sz="1500" b="1">
                          <a:solidFill>
                            <a:srgbClr val="FFFFFF"/>
                          </a:solidFill>
                          <a:latin typeface="Segoe UI"/>
                        </a:rPr>
                        <a:t>Step</a:t>
                      </a:r>
                    </a:p>
                  </a:txBody>
                  <a:tcPr>
                    <a:solidFill>
                      <a:srgbClr val="0078D4"/>
                    </a:solidFill>
                  </a:tcPr>
                </a:tc>
              </a:tr>
              <a:tr h="396240">
                <a:tc>
                  <a:txBody>
                    <a:bodyPr/>
                    <a:lstStyle/>
                    <a:p>
                      <a:pPr algn="l"/>
                      <a:r>
                        <a:rPr sz="1400" b="0">
                          <a:solidFill>
                            <a:srgbClr val="FFFFFF"/>
                          </a:solidFill>
                          <a:latin typeface="Segoe UI"/>
                        </a:rPr>
                        <a:t>🧠 Conductor</a:t>
                      </a:r>
                    </a:p>
                  </a:txBody>
                  <a:tcPr anchor="ctr">
                    <a:solidFill>
                      <a:srgbClr val="002050"/>
                    </a:solidFill>
                  </a:tcPr>
                </a:tc>
                <a:tc>
                  <a:txBody>
                    <a:bodyPr/>
                    <a:lstStyle/>
                    <a:p>
                      <a:pPr algn="l"/>
                      <a:r>
                        <a:rPr sz="1400" b="0">
                          <a:solidFill>
                            <a:srgbClr val="FFFFFF"/>
                          </a:solidFill>
                          <a:latin typeface="Segoe UI"/>
                        </a:rPr>
                        <a:t>Master orchestration</a:t>
                      </a:r>
                    </a:p>
                  </a:txBody>
                  <a:tcPr anchor="ctr">
                    <a:solidFill>
                      <a:srgbClr val="002050"/>
                    </a:solidFill>
                  </a:tcPr>
                </a:tc>
                <a:tc>
                  <a:txBody>
                    <a:bodyPr/>
                    <a:lstStyle/>
                    <a:p>
                      <a:pPr algn="ctr"/>
                      <a:r>
                        <a:rPr sz="1400" b="0">
                          <a:solidFill>
                            <a:srgbClr val="FFFFFF"/>
                          </a:solidFill>
                          <a:latin typeface="Segoe UI"/>
                        </a:rPr>
                        <a:t>—</a:t>
                      </a:r>
                    </a:p>
                  </a:txBody>
                  <a:tcPr anchor="ctr">
                    <a:solidFill>
                      <a:srgbClr val="002050"/>
                    </a:solidFill>
                  </a:tcPr>
                </a:tc>
              </a:tr>
              <a:tr h="396240">
                <a:tc>
                  <a:txBody>
                    <a:bodyPr/>
                    <a:lstStyle/>
                    <a:p>
                      <a:pPr algn="l"/>
                      <a:r>
                        <a:rPr sz="1400" b="0">
                          <a:solidFill>
                            <a:srgbClr val="FFFFFF"/>
                          </a:solidFill>
                          <a:latin typeface="Segoe UI"/>
                        </a:rPr>
                        <a:t>🔍 Assessor</a:t>
                      </a:r>
                    </a:p>
                  </a:txBody>
                  <a:tcPr anchor="ctr">
                    <a:solidFill>
                      <a:srgbClr val="002050"/>
                    </a:solidFill>
                  </a:tcPr>
                </a:tc>
                <a:tc>
                  <a:txBody>
                    <a:bodyPr/>
                    <a:lstStyle/>
                    <a:p>
                      <a:pPr algn="l"/>
                      <a:r>
                        <a:rPr sz="1400" b="0">
                          <a:solidFill>
                            <a:srgbClr val="FFFFFF"/>
                          </a:solidFill>
                          <a:latin typeface="Segoe UI"/>
                        </a:rPr>
                        <a:t>Brownfield WAF assessment</a:t>
                      </a:r>
                    </a:p>
                  </a:txBody>
                  <a:tcPr anchor="ctr">
                    <a:solidFill>
                      <a:srgbClr val="002050"/>
                    </a:solidFill>
                  </a:tcPr>
                </a:tc>
                <a:tc>
                  <a:txBody>
                    <a:bodyPr/>
                    <a:lstStyle/>
                    <a:p>
                      <a:pPr algn="ctr"/>
                      <a:r>
                        <a:rPr sz="1400" b="0">
                          <a:solidFill>
                            <a:srgbClr val="FFFFFF"/>
                          </a:solidFill>
                          <a:latin typeface="Segoe UI"/>
                        </a:rPr>
                        <a:t>0</a:t>
                      </a:r>
                    </a:p>
                  </a:txBody>
                  <a:tcPr anchor="ctr">
                    <a:solidFill>
                      <a:srgbClr val="002050"/>
                    </a:solidFill>
                  </a:tcPr>
                </a:tc>
              </a:tr>
              <a:tr h="396240">
                <a:tc>
                  <a:txBody>
                    <a:bodyPr/>
                    <a:lstStyle/>
                    <a:p>
                      <a:pPr algn="l"/>
                      <a:r>
                        <a:rPr sz="1400" b="0">
                          <a:solidFill>
                            <a:srgbClr val="FFFFFF"/>
                          </a:solidFill>
                          <a:latin typeface="Segoe UI"/>
                        </a:rPr>
                        <a:t>📜 Scribe</a:t>
                      </a:r>
                    </a:p>
                  </a:txBody>
                  <a:tcPr anchor="ctr">
                    <a:solidFill>
                      <a:srgbClr val="002050"/>
                    </a:solidFill>
                  </a:tcPr>
                </a:tc>
                <a:tc>
                  <a:txBody>
                    <a:bodyPr/>
                    <a:lstStyle/>
                    <a:p>
                      <a:pPr algn="l"/>
                      <a:r>
                        <a:rPr sz="1400" b="0">
                          <a:solidFill>
                            <a:srgbClr val="FFFFFF"/>
                          </a:solidFill>
                          <a:latin typeface="Segoe UI"/>
                        </a:rPr>
                        <a:t>Requirements capture (8 CAF areas)</a:t>
                      </a:r>
                    </a:p>
                  </a:txBody>
                  <a:tcPr anchor="ctr">
                    <a:solidFill>
                      <a:srgbClr val="002050"/>
                    </a:solidFill>
                  </a:tcPr>
                </a:tc>
                <a:tc>
                  <a:txBody>
                    <a:bodyPr/>
                    <a:lstStyle/>
                    <a:p>
                      <a:pPr algn="ctr"/>
                      <a:r>
                        <a:rPr sz="1400" b="0">
                          <a:solidFill>
                            <a:srgbClr val="FFFFFF"/>
                          </a:solidFill>
                          <a:latin typeface="Segoe UI"/>
                        </a:rPr>
                        <a:t>1</a:t>
                      </a:r>
                    </a:p>
                  </a:txBody>
                  <a:tcPr anchor="ctr">
                    <a:solidFill>
                      <a:srgbClr val="002050"/>
                    </a:solidFill>
                  </a:tcPr>
                </a:tc>
              </a:tr>
              <a:tr h="396240">
                <a:tc>
                  <a:txBody>
                    <a:bodyPr/>
                    <a:lstStyle/>
                    <a:p>
                      <a:pPr algn="l"/>
                      <a:r>
                        <a:rPr sz="1400" b="0">
                          <a:solidFill>
                            <a:srgbClr val="FFFFFF"/>
                          </a:solidFill>
                          <a:latin typeface="Segoe UI"/>
                        </a:rPr>
                        <a:t>🏛️ Oracle</a:t>
                      </a:r>
                    </a:p>
                  </a:txBody>
                  <a:tcPr anchor="ctr">
                    <a:solidFill>
                      <a:srgbClr val="002050"/>
                    </a:solidFill>
                  </a:tcPr>
                </a:tc>
                <a:tc>
                  <a:txBody>
                    <a:bodyPr/>
                    <a:lstStyle/>
                    <a:p>
                      <a:pPr algn="l"/>
                      <a:r>
                        <a:rPr sz="1400" b="0">
                          <a:solidFill>
                            <a:srgbClr val="FFFFFF"/>
                          </a:solidFill>
                          <a:latin typeface="Segoe UI"/>
                        </a:rPr>
                        <a:t>WAF assessment + cost estimation</a:t>
                      </a:r>
                    </a:p>
                  </a:txBody>
                  <a:tcPr anchor="ctr">
                    <a:solidFill>
                      <a:srgbClr val="002050"/>
                    </a:solidFill>
                  </a:tcPr>
                </a:tc>
                <a:tc>
                  <a:txBody>
                    <a:bodyPr/>
                    <a:lstStyle/>
                    <a:p>
                      <a:pPr algn="ctr"/>
                      <a:r>
                        <a:rPr sz="1400" b="0">
                          <a:solidFill>
                            <a:srgbClr val="FFFFFF"/>
                          </a:solidFill>
                          <a:latin typeface="Segoe UI"/>
                        </a:rPr>
                        <a:t>2</a:t>
                      </a:r>
                    </a:p>
                  </a:txBody>
                  <a:tcPr anchor="ctr">
                    <a:solidFill>
                      <a:srgbClr val="002050"/>
                    </a:solidFill>
                  </a:tcPr>
                </a:tc>
              </a:tr>
              <a:tr h="396240">
                <a:tc>
                  <a:txBody>
                    <a:bodyPr/>
                    <a:lstStyle/>
                    <a:p>
                      <a:pPr algn="l"/>
                      <a:r>
                        <a:rPr sz="1400" b="0">
                          <a:solidFill>
                            <a:srgbClr val="FFFFFF"/>
                          </a:solidFill>
                          <a:latin typeface="Segoe UI"/>
                        </a:rPr>
                        <a:t>🛡️ Warden</a:t>
                      </a:r>
                    </a:p>
                  </a:txBody>
                  <a:tcPr anchor="ctr">
                    <a:solidFill>
                      <a:srgbClr val="002050"/>
                    </a:solidFill>
                  </a:tcPr>
                </a:tc>
                <a:tc>
                  <a:txBody>
                    <a:bodyPr/>
                    <a:lstStyle/>
                    <a:p>
                      <a:pPr algn="l"/>
                      <a:r>
                        <a:rPr sz="1400" b="0">
                          <a:solidFill>
                            <a:srgbClr val="FFFFFF"/>
                          </a:solidFill>
                          <a:latin typeface="Segoe UI"/>
                        </a:rPr>
                        <a:t>Policy discovery + security baseline</a:t>
                      </a:r>
                    </a:p>
                  </a:txBody>
                  <a:tcPr anchor="ctr">
                    <a:solidFill>
                      <a:srgbClr val="002050"/>
                    </a:solidFill>
                  </a:tcPr>
                </a:tc>
                <a:tc>
                  <a:txBody>
                    <a:bodyPr/>
                    <a:lstStyle/>
                    <a:p>
                      <a:pPr algn="ctr"/>
                      <a:r>
                        <a:rPr sz="1400" b="0">
                          <a:solidFill>
                            <a:srgbClr val="FFFFFF"/>
                          </a:solidFill>
                          <a:latin typeface="Segoe UI"/>
                        </a:rPr>
                        <a:t>3.5</a:t>
                      </a:r>
                    </a:p>
                  </a:txBody>
                  <a:tcPr anchor="ctr">
                    <a:solidFill>
                      <a:srgbClr val="002050"/>
                    </a:solidFill>
                  </a:tcPr>
                </a:tc>
              </a:tr>
              <a:tr h="396240">
                <a:tc>
                  <a:txBody>
                    <a:bodyPr/>
                    <a:lstStyle/>
                    <a:p>
                      <a:pPr algn="l"/>
                      <a:r>
                        <a:rPr sz="1400" b="0">
                          <a:solidFill>
                            <a:srgbClr val="FFFFFF"/>
                          </a:solidFill>
                          <a:latin typeface="Segoe UI"/>
                        </a:rPr>
                        <a:t>📐 Strategist</a:t>
                      </a:r>
                    </a:p>
                  </a:txBody>
                  <a:tcPr anchor="ctr">
                    <a:solidFill>
                      <a:srgbClr val="002050"/>
                    </a:solidFill>
                  </a:tcPr>
                </a:tc>
                <a:tc>
                  <a:txBody>
                    <a:bodyPr/>
                    <a:lstStyle/>
                    <a:p>
                      <a:pPr algn="l"/>
                      <a:r>
                        <a:rPr sz="1400" b="0">
                          <a:solidFill>
                            <a:srgbClr val="FFFFFF"/>
                          </a:solidFill>
                          <a:latin typeface="Segoe UI"/>
                        </a:rPr>
                        <a:t>AVM module selection + planning</a:t>
                      </a:r>
                    </a:p>
                  </a:txBody>
                  <a:tcPr anchor="ctr">
                    <a:solidFill>
                      <a:srgbClr val="002050"/>
                    </a:solidFill>
                  </a:tcPr>
                </a:tc>
                <a:tc>
                  <a:txBody>
                    <a:bodyPr/>
                    <a:lstStyle/>
                    <a:p>
                      <a:pPr algn="ctr"/>
                      <a:r>
                        <a:rPr sz="1400" b="0">
                          <a:solidFill>
                            <a:srgbClr val="FFFFFF"/>
                          </a:solidFill>
                          <a:latin typeface="Segoe UI"/>
                        </a:rPr>
                        <a:t>4</a:t>
                      </a:r>
                    </a:p>
                  </a:txBody>
                  <a:tcPr anchor="ctr">
                    <a:solidFill>
                      <a:srgbClr val="002050"/>
                    </a:solidFill>
                  </a:tcPr>
                </a:tc>
              </a:tr>
              <a:tr h="396240">
                <a:tc>
                  <a:txBody>
                    <a:bodyPr/>
                    <a:lstStyle/>
                    <a:p>
                      <a:pPr algn="l"/>
                      <a:r>
                        <a:rPr sz="1400" b="0">
                          <a:solidFill>
                            <a:srgbClr val="FFFFFF"/>
                          </a:solidFill>
                          <a:latin typeface="Segoe UI"/>
                        </a:rPr>
                        <a:t>⚒️ Forge</a:t>
                      </a:r>
                    </a:p>
                  </a:txBody>
                  <a:tcPr anchor="ctr">
                    <a:solidFill>
                      <a:srgbClr val="002050"/>
                    </a:solidFill>
                  </a:tcPr>
                </a:tc>
                <a:tc>
                  <a:txBody>
                    <a:bodyPr/>
                    <a:lstStyle/>
                    <a:p>
                      <a:pPr algn="l"/>
                      <a:r>
                        <a:rPr sz="1400" b="0">
                          <a:solidFill>
                            <a:srgbClr val="FFFFFF"/>
                          </a:solidFill>
                          <a:latin typeface="Segoe UI"/>
                        </a:rPr>
                        <a:t>Bicep/Terraform generation (AVM-first)</a:t>
                      </a:r>
                    </a:p>
                  </a:txBody>
                  <a:tcPr anchor="ctr">
                    <a:solidFill>
                      <a:srgbClr val="002050"/>
                    </a:solidFill>
                  </a:tcPr>
                </a:tc>
                <a:tc>
                  <a:txBody>
                    <a:bodyPr/>
                    <a:lstStyle/>
                    <a:p>
                      <a:pPr algn="ctr"/>
                      <a:r>
                        <a:rPr sz="1400" b="0">
                          <a:solidFill>
                            <a:srgbClr val="FFFFFF"/>
                          </a:solidFill>
                          <a:latin typeface="Segoe UI"/>
                        </a:rPr>
                        <a:t>5</a:t>
                      </a:r>
                    </a:p>
                  </a:txBody>
                  <a:tcPr anchor="ctr">
                    <a:solidFill>
                      <a:srgbClr val="002050"/>
                    </a:solidFill>
                  </a:tcPr>
                </a:tc>
              </a:tr>
              <a:tr h="396240">
                <a:tc>
                  <a:txBody>
                    <a:bodyPr/>
                    <a:lstStyle/>
                    <a:p>
                      <a:pPr algn="l"/>
                      <a:r>
                        <a:rPr sz="1400" b="0">
                          <a:solidFill>
                            <a:srgbClr val="FFFFFF"/>
                          </a:solidFill>
                          <a:latin typeface="Segoe UI"/>
                        </a:rPr>
                        <a:t>🚀 Envoy</a:t>
                      </a:r>
                    </a:p>
                  </a:txBody>
                  <a:tcPr anchor="ctr">
                    <a:solidFill>
                      <a:srgbClr val="002050"/>
                    </a:solidFill>
                  </a:tcPr>
                </a:tc>
                <a:tc>
                  <a:txBody>
                    <a:bodyPr/>
                    <a:lstStyle/>
                    <a:p>
                      <a:pPr algn="l"/>
                      <a:r>
                        <a:rPr sz="1400" b="0">
                          <a:solidFill>
                            <a:srgbClr val="FFFFFF"/>
                          </a:solidFill>
                          <a:latin typeface="Segoe UI"/>
                        </a:rPr>
                        <a:t>Deploy with what-if preview</a:t>
                      </a:r>
                    </a:p>
                  </a:txBody>
                  <a:tcPr anchor="ctr">
                    <a:solidFill>
                      <a:srgbClr val="002050"/>
                    </a:solidFill>
                  </a:tcPr>
                </a:tc>
                <a:tc>
                  <a:txBody>
                    <a:bodyPr/>
                    <a:lstStyle/>
                    <a:p>
                      <a:pPr algn="ctr"/>
                      <a:r>
                        <a:rPr sz="1400" b="0">
                          <a:solidFill>
                            <a:srgbClr val="FFFFFF"/>
                          </a:solidFill>
                          <a:latin typeface="Segoe UI"/>
                        </a:rPr>
                        <a:t>6</a:t>
                      </a:r>
                    </a:p>
                  </a:txBody>
                  <a:tcPr anchor="ctr">
                    <a:solidFill>
                      <a:srgbClr val="002050"/>
                    </a:solidFill>
                  </a:tcPr>
                </a:tc>
              </a:tr>
              <a:tr h="396240">
                <a:tc>
                  <a:txBody>
                    <a:bodyPr/>
                    <a:lstStyle/>
                    <a:p>
                      <a:pPr algn="l"/>
                      <a:r>
                        <a:rPr sz="1400" b="0">
                          <a:solidFill>
                            <a:srgbClr val="FFFFFF"/>
                          </a:solidFill>
                          <a:latin typeface="Segoe UI"/>
                        </a:rPr>
                        <a:t>🔭 Sentinel</a:t>
                      </a:r>
                    </a:p>
                  </a:txBody>
                  <a:tcPr anchor="ctr">
                    <a:solidFill>
                      <a:srgbClr val="002050"/>
                    </a:solidFill>
                  </a:tcPr>
                </a:tc>
                <a:tc>
                  <a:txBody>
                    <a:bodyPr/>
                    <a:lstStyle/>
                    <a:p>
                      <a:pPr algn="l"/>
                      <a:r>
                        <a:rPr sz="1400" b="0">
                          <a:solidFill>
                            <a:srgbClr val="FFFFFF"/>
                          </a:solidFill>
                          <a:latin typeface="Segoe UI"/>
                        </a:rPr>
                        <a:t>Continuous compliance monitoring</a:t>
                      </a:r>
                    </a:p>
                  </a:txBody>
                  <a:tcPr anchor="ctr">
                    <a:solidFill>
                      <a:srgbClr val="002050"/>
                    </a:solidFill>
                  </a:tcPr>
                </a:tc>
                <a:tc>
                  <a:txBody>
                    <a:bodyPr/>
                    <a:lstStyle/>
                    <a:p>
                      <a:pPr algn="ctr"/>
                      <a:r>
                        <a:rPr sz="1400" b="0">
                          <a:solidFill>
                            <a:srgbClr val="FFFFFF"/>
                          </a:solidFill>
                          <a:latin typeface="Segoe UI"/>
                        </a:rPr>
                        <a:t>8</a:t>
                      </a:r>
                    </a:p>
                  </a:txBody>
                  <a:tcPr anchor="ctr">
                    <a:solidFill>
                      <a:srgbClr val="002050"/>
                    </a:solidFill>
                  </a:tcPr>
                </a:tc>
              </a:tr>
              <a:tr h="396240">
                <a:tc>
                  <a:txBody>
                    <a:bodyPr/>
                    <a:lstStyle/>
                    <a:p>
                      <a:pPr algn="l"/>
                      <a:r>
                        <a:rPr sz="1400" b="0">
                          <a:solidFill>
                            <a:srgbClr val="FFFFFF"/>
                          </a:solidFill>
                          <a:latin typeface="Segoe UI"/>
                        </a:rPr>
                        <a:t>🔧 Mender</a:t>
                      </a:r>
                    </a:p>
                  </a:txBody>
                  <a:tcPr anchor="ctr">
                    <a:solidFill>
                      <a:srgbClr val="002050"/>
                    </a:solidFill>
                  </a:tcPr>
                </a:tc>
                <a:tc>
                  <a:txBody>
                    <a:bodyPr/>
                    <a:lstStyle/>
                    <a:p>
                      <a:pPr algn="l"/>
                      <a:r>
                        <a:rPr sz="1400" b="0">
                          <a:solidFill>
                            <a:srgbClr val="FFFFFF"/>
                          </a:solidFill>
                          <a:latin typeface="Segoe UI"/>
                        </a:rPr>
                        <a:t>Auto-remediation with rollback</a:t>
                      </a:r>
                    </a:p>
                  </a:txBody>
                  <a:tcPr anchor="ctr">
                    <a:solidFill>
                      <a:srgbClr val="002050"/>
                    </a:solidFill>
                  </a:tcPr>
                </a:tc>
                <a:tc>
                  <a:txBody>
                    <a:bodyPr/>
                    <a:lstStyle/>
                    <a:p>
                      <a:pPr algn="ctr"/>
                      <a:r>
                        <a:rPr sz="1400" b="0">
                          <a:solidFill>
                            <a:srgbClr val="FFFFFF"/>
                          </a:solidFill>
                          <a:latin typeface="Segoe UI"/>
                        </a:rPr>
                        <a:t>9</a:t>
                      </a:r>
                    </a:p>
                  </a:txBody>
                  <a:tcPr anchor="ctr">
                    <a:solidFill>
                      <a:srgbClr val="002050"/>
                    </a:solidFill>
                  </a:tcPr>
                </a:tc>
              </a:tr>
              <a:tr h="396240">
                <a:tc>
                  <a:txBody>
                    <a:bodyPr/>
                    <a:lstStyle/>
                    <a:p>
                      <a:pPr algn="l"/>
                      <a:r>
                        <a:rPr sz="1400" b="0">
                          <a:solidFill>
                            <a:srgbClr val="FFFFFF"/>
                          </a:solidFill>
                          <a:latin typeface="Segoe UI"/>
                        </a:rPr>
                        <a:t>⚔️ Challenger</a:t>
                      </a:r>
                    </a:p>
                  </a:txBody>
                  <a:tcPr anchor="ctr">
                    <a:solidFill>
                      <a:srgbClr val="002050"/>
                    </a:solidFill>
                  </a:tcPr>
                </a:tc>
                <a:tc>
                  <a:txBody>
                    <a:bodyPr/>
                    <a:lstStyle/>
                    <a:p>
                      <a:pPr algn="l"/>
                      <a:r>
                        <a:rPr sz="1400" b="0">
                          <a:solidFill>
                            <a:srgbClr val="FFFFFF"/>
                          </a:solidFill>
                          <a:latin typeface="Segoe UI"/>
                        </a:rPr>
                        <a:t>Adversarial review at gates</a:t>
                      </a:r>
                    </a:p>
                  </a:txBody>
                  <a:tcPr anchor="ctr">
                    <a:solidFill>
                      <a:srgbClr val="002050"/>
                    </a:solidFill>
                  </a:tcPr>
                </a:tc>
                <a:tc>
                  <a:txBody>
                    <a:bodyPr/>
                    <a:lstStyle/>
                    <a:p>
                      <a:pPr algn="ctr"/>
                      <a:r>
                        <a:rPr sz="1400" b="0">
                          <a:solidFill>
                            <a:srgbClr val="FFFFFF"/>
                          </a:solidFill>
                          <a:latin typeface="Segoe UI"/>
                        </a:rPr>
                        <a:t>Gates</a:t>
                      </a:r>
                    </a:p>
                  </a:txBody>
                  <a:tcPr anchor="ctr">
                    <a:solidFill>
                      <a:srgbClr val="002050"/>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Full CAF Coverage</a:t>
            </a:r>
          </a:p>
        </p:txBody>
      </p:sp>
      <p:graphicFrame>
        <p:nvGraphicFramePr>
          <p:cNvPr id="4" name="Table 3"/>
          <p:cNvGraphicFramePr>
            <a:graphicFrameLocks noGrp="1"/>
          </p:cNvGraphicFramePr>
          <p:nvPr/>
        </p:nvGraphicFramePr>
        <p:xfrm>
          <a:off x="731520" y="1325880"/>
          <a:ext cx="10698480" cy="4480560"/>
        </p:xfrm>
        <a:graphic>
          <a:graphicData uri="http://schemas.openxmlformats.org/drawingml/2006/table">
            <a:tbl>
              <a:tblPr firstRow="1" bandRow="1">
                <a:tableStyleId>{5C22544A-7EE6-4342-B048-85BDC9FD1C3A}</a:tableStyleId>
              </a:tblPr>
              <a:tblGrid>
                <a:gridCol w="5349240"/>
                <a:gridCol w="5349240"/>
              </a:tblGrid>
              <a:tr h="497840">
                <a:tc>
                  <a:txBody>
                    <a:bodyPr/>
                    <a:lstStyle/>
                    <a:p>
                      <a:pPr algn="ctr"/>
                      <a:r>
                        <a:rPr sz="1500" b="1">
                          <a:solidFill>
                            <a:srgbClr val="FFFFFF"/>
                          </a:solidFill>
                          <a:latin typeface="Segoe UI"/>
                        </a:rPr>
                        <a:t>Design Area</a:t>
                      </a:r>
                    </a:p>
                  </a:txBody>
                  <a:tcPr>
                    <a:solidFill>
                      <a:srgbClr val="0078D4"/>
                    </a:solidFill>
                  </a:tcPr>
                </a:tc>
                <a:tc>
                  <a:txBody>
                    <a:bodyPr/>
                    <a:lstStyle/>
                    <a:p>
                      <a:pPr algn="ctr"/>
                      <a:r>
                        <a:rPr sz="1500" b="1">
                          <a:solidFill>
                            <a:srgbClr val="FFFFFF"/>
                          </a:solidFill>
                          <a:latin typeface="Segoe UI"/>
                        </a:rPr>
                        <a:t>Coverage</a:t>
                      </a:r>
                    </a:p>
                  </a:txBody>
                  <a:tcPr>
                    <a:solidFill>
                      <a:srgbClr val="0078D4"/>
                    </a:solidFill>
                  </a:tcPr>
                </a:tc>
              </a:tr>
              <a:tr h="497840">
                <a:tc>
                  <a:txBody>
                    <a:bodyPr/>
                    <a:lstStyle/>
                    <a:p>
                      <a:pPr algn="l"/>
                      <a:r>
                        <a:rPr sz="1400" b="0">
                          <a:solidFill>
                            <a:srgbClr val="FFFFFF"/>
                          </a:solidFill>
                          <a:latin typeface="Segoe UI"/>
                        </a:rPr>
                        <a:t>Billing &amp; Tenant</a:t>
                      </a:r>
                    </a:p>
                  </a:txBody>
                  <a:tcPr anchor="ctr">
                    <a:solidFill>
                      <a:srgbClr val="002050"/>
                    </a:solidFill>
                  </a:tcPr>
                </a:tc>
                <a:tc>
                  <a:txBody>
                    <a:bodyPr/>
                    <a:lstStyle/>
                    <a:p>
                      <a:pPr algn="ctr"/>
                      <a:r>
                        <a:rPr sz="1400" b="0">
                          <a:solidFill>
                            <a:srgbClr val="FFFFFF"/>
                          </a:solidFill>
                          <a:latin typeface="Segoe UI"/>
                        </a:rPr>
                        <a:t>Management group architecture</a:t>
                      </a:r>
                    </a:p>
                  </a:txBody>
                  <a:tcPr anchor="ctr">
                    <a:solidFill>
                      <a:srgbClr val="002050"/>
                    </a:solidFill>
                  </a:tcPr>
                </a:tc>
              </a:tr>
              <a:tr h="497840">
                <a:tc>
                  <a:txBody>
                    <a:bodyPr/>
                    <a:lstStyle/>
                    <a:p>
                      <a:pPr algn="l"/>
                      <a:r>
                        <a:rPr sz="1400" b="0">
                          <a:solidFill>
                            <a:srgbClr val="FFFFFF"/>
                          </a:solidFill>
                          <a:latin typeface="Segoe UI"/>
                        </a:rPr>
                        <a:t>Identity &amp; Access</a:t>
                      </a:r>
                    </a:p>
                  </a:txBody>
                  <a:tcPr anchor="ctr">
                    <a:solidFill>
                      <a:srgbClr val="002050"/>
                    </a:solidFill>
                  </a:tcPr>
                </a:tc>
                <a:tc>
                  <a:txBody>
                    <a:bodyPr/>
                    <a:lstStyle/>
                    <a:p>
                      <a:pPr algn="ctr"/>
                      <a:r>
                        <a:rPr sz="1400" b="0">
                          <a:solidFill>
                            <a:srgbClr val="FFFFFF"/>
                          </a:solidFill>
                          <a:latin typeface="Segoe UI"/>
                        </a:rPr>
                        <a:t>Entra ID, RBAC, Managed Identity</a:t>
                      </a:r>
                    </a:p>
                  </a:txBody>
                  <a:tcPr anchor="ctr">
                    <a:solidFill>
                      <a:srgbClr val="002050"/>
                    </a:solidFill>
                  </a:tcPr>
                </a:tc>
              </a:tr>
              <a:tr h="497840">
                <a:tc>
                  <a:txBody>
                    <a:bodyPr/>
                    <a:lstStyle/>
                    <a:p>
                      <a:pPr algn="l"/>
                      <a:r>
                        <a:rPr sz="1400" b="0">
                          <a:solidFill>
                            <a:srgbClr val="FFFFFF"/>
                          </a:solidFill>
                          <a:latin typeface="Segoe UI"/>
                        </a:rPr>
                        <a:t>Resource Organization</a:t>
                      </a:r>
                    </a:p>
                  </a:txBody>
                  <a:tcPr anchor="ctr">
                    <a:solidFill>
                      <a:srgbClr val="002050"/>
                    </a:solidFill>
                  </a:tcPr>
                </a:tc>
                <a:tc>
                  <a:txBody>
                    <a:bodyPr/>
                    <a:lstStyle/>
                    <a:p>
                      <a:pPr algn="ctr"/>
                      <a:r>
                        <a:rPr sz="1400" b="0">
                          <a:solidFill>
                            <a:srgbClr val="FFFFFF"/>
                          </a:solidFill>
                          <a:latin typeface="Segoe UI"/>
                        </a:rPr>
                        <a:t>Governance policies, naming</a:t>
                      </a:r>
                    </a:p>
                  </a:txBody>
                  <a:tcPr anchor="ctr">
                    <a:solidFill>
                      <a:srgbClr val="002050"/>
                    </a:solidFill>
                  </a:tcPr>
                </a:tc>
              </a:tr>
              <a:tr h="497840">
                <a:tc>
                  <a:txBody>
                    <a:bodyPr/>
                    <a:lstStyle/>
                    <a:p>
                      <a:pPr algn="l"/>
                      <a:r>
                        <a:rPr sz="1400" b="0">
                          <a:solidFill>
                            <a:srgbClr val="FFFFFF"/>
                          </a:solidFill>
                          <a:latin typeface="Segoe UI"/>
                        </a:rPr>
                        <a:t>Network Topology</a:t>
                      </a:r>
                    </a:p>
                  </a:txBody>
                  <a:tcPr anchor="ctr">
                    <a:solidFill>
                      <a:srgbClr val="002050"/>
                    </a:solidFill>
                  </a:tcPr>
                </a:tc>
                <a:tc>
                  <a:txBody>
                    <a:bodyPr/>
                    <a:lstStyle/>
                    <a:p>
                      <a:pPr algn="ctr"/>
                      <a:r>
                        <a:rPr sz="1400" b="0">
                          <a:solidFill>
                            <a:srgbClr val="FFFFFF"/>
                          </a:solidFill>
                          <a:latin typeface="Segoe UI"/>
                        </a:rPr>
                        <a:t>Hub-spoke, Virtual WAN, Private Link</a:t>
                      </a:r>
                    </a:p>
                  </a:txBody>
                  <a:tcPr anchor="ctr">
                    <a:solidFill>
                      <a:srgbClr val="002050"/>
                    </a:solidFill>
                  </a:tcPr>
                </a:tc>
              </a:tr>
              <a:tr h="497840">
                <a:tc>
                  <a:txBody>
                    <a:bodyPr/>
                    <a:lstStyle/>
                    <a:p>
                      <a:pPr algn="l"/>
                      <a:r>
                        <a:rPr sz="1400" b="0">
                          <a:solidFill>
                            <a:srgbClr val="FFFFFF"/>
                          </a:solidFill>
                          <a:latin typeface="Segoe UI"/>
                        </a:rPr>
                        <a:t>Security</a:t>
                      </a:r>
                    </a:p>
                  </a:txBody>
                  <a:tcPr anchor="ctr">
                    <a:solidFill>
                      <a:srgbClr val="002050"/>
                    </a:solidFill>
                  </a:tcPr>
                </a:tc>
                <a:tc>
                  <a:txBody>
                    <a:bodyPr/>
                    <a:lstStyle/>
                    <a:p>
                      <a:pPr algn="ctr"/>
                      <a:r>
                        <a:rPr sz="1400" b="0">
                          <a:solidFill>
                            <a:srgbClr val="FFFFFF"/>
                          </a:solidFill>
                          <a:latin typeface="Segoe UI"/>
                        </a:rPr>
                        <a:t>Defender, Key Vault, TLS 1.2</a:t>
                      </a:r>
                    </a:p>
                  </a:txBody>
                  <a:tcPr anchor="ctr">
                    <a:solidFill>
                      <a:srgbClr val="002050"/>
                    </a:solidFill>
                  </a:tcPr>
                </a:tc>
              </a:tr>
              <a:tr h="497840">
                <a:tc>
                  <a:txBody>
                    <a:bodyPr/>
                    <a:lstStyle/>
                    <a:p>
                      <a:pPr algn="l"/>
                      <a:r>
                        <a:rPr sz="1400" b="0">
                          <a:solidFill>
                            <a:srgbClr val="FFFFFF"/>
                          </a:solidFill>
                          <a:latin typeface="Segoe UI"/>
                        </a:rPr>
                        <a:t>Management</a:t>
                      </a:r>
                    </a:p>
                  </a:txBody>
                  <a:tcPr anchor="ctr">
                    <a:solidFill>
                      <a:srgbClr val="002050"/>
                    </a:solidFill>
                  </a:tcPr>
                </a:tc>
                <a:tc>
                  <a:txBody>
                    <a:bodyPr/>
                    <a:lstStyle/>
                    <a:p>
                      <a:pPr algn="ctr"/>
                      <a:r>
                        <a:rPr sz="1400" b="0">
                          <a:solidFill>
                            <a:srgbClr val="FFFFFF"/>
                          </a:solidFill>
                          <a:latin typeface="Segoe UI"/>
                        </a:rPr>
                        <a:t>Monitor, Log Analytics, Automation</a:t>
                      </a:r>
                    </a:p>
                  </a:txBody>
                  <a:tcPr anchor="ctr">
                    <a:solidFill>
                      <a:srgbClr val="002050"/>
                    </a:solidFill>
                  </a:tcPr>
                </a:tc>
              </a:tr>
              <a:tr h="497840">
                <a:tc>
                  <a:txBody>
                    <a:bodyPr/>
                    <a:lstStyle/>
                    <a:p>
                      <a:pPr algn="l"/>
                      <a:r>
                        <a:rPr sz="1400" b="0">
                          <a:solidFill>
                            <a:srgbClr val="FFFFFF"/>
                          </a:solidFill>
                          <a:latin typeface="Segoe UI"/>
                        </a:rPr>
                        <a:t>Governance</a:t>
                      </a:r>
                    </a:p>
                  </a:txBody>
                  <a:tcPr anchor="ctr">
                    <a:solidFill>
                      <a:srgbClr val="002050"/>
                    </a:solidFill>
                  </a:tcPr>
                </a:tc>
                <a:tc>
                  <a:txBody>
                    <a:bodyPr/>
                    <a:lstStyle/>
                    <a:p>
                      <a:pPr algn="ctr"/>
                      <a:r>
                        <a:rPr sz="1400" b="0">
                          <a:solidFill>
                            <a:srgbClr val="FFFFFF"/>
                          </a:solidFill>
                          <a:latin typeface="Segoe UI"/>
                        </a:rPr>
                        <a:t>Policy, compliance, cost controls</a:t>
                      </a:r>
                    </a:p>
                  </a:txBody>
                  <a:tcPr anchor="ctr">
                    <a:solidFill>
                      <a:srgbClr val="002050"/>
                    </a:solidFill>
                  </a:tcPr>
                </a:tc>
              </a:tr>
              <a:tr h="497840">
                <a:tc>
                  <a:txBody>
                    <a:bodyPr/>
                    <a:lstStyle/>
                    <a:p>
                      <a:pPr algn="l"/>
                      <a:r>
                        <a:rPr sz="1400" b="0">
                          <a:solidFill>
                            <a:srgbClr val="FFFFFF"/>
                          </a:solidFill>
                          <a:latin typeface="Segoe UI"/>
                        </a:rPr>
                        <a:t>Platform Automation</a:t>
                      </a:r>
                    </a:p>
                  </a:txBody>
                  <a:tcPr anchor="ctr">
                    <a:solidFill>
                      <a:srgbClr val="002050"/>
                    </a:solidFill>
                  </a:tcPr>
                </a:tc>
                <a:tc>
                  <a:txBody>
                    <a:bodyPr/>
                    <a:lstStyle/>
                    <a:p>
                      <a:pPr algn="ctr"/>
                      <a:r>
                        <a:rPr sz="1400" b="0">
                          <a:solidFill>
                            <a:srgbClr val="FFFFFF"/>
                          </a:solidFill>
                          <a:latin typeface="Segoe UI"/>
                        </a:rPr>
                        <a:t>GitHub Actions CI/CD with OIDC</a:t>
                      </a:r>
                    </a:p>
                  </a:txBody>
                  <a:tcPr anchor="ctr">
                    <a:solidFill>
                      <a:srgbClr val="002050"/>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Security Baseline — Always Enforced</a:t>
            </a:r>
          </a:p>
        </p:txBody>
      </p:sp>
      <p:sp>
        <p:nvSpPr>
          <p:cNvPr id="4" name="TextBox 3"/>
          <p:cNvSpPr txBox="1"/>
          <p:nvPr/>
        </p:nvSpPr>
        <p:spPr>
          <a:xfrm>
            <a:off x="822960" y="1325880"/>
            <a:ext cx="10424160" cy="4114800"/>
          </a:xfrm>
          <a:prstGeom prst="rect">
            <a:avLst/>
          </a:prstGeom>
          <a:noFill/>
        </p:spPr>
        <p:txBody>
          <a:bodyPr wrap="square" lIns="274320" rIns="0">
            <a:spAutoFit/>
          </a:bodyPr>
          <a:lstStyle/>
          <a:p>
            <a:pPr>
              <a:lnSpc>
                <a:spcPct val="115000"/>
              </a:lnSpc>
              <a:spcAft>
                <a:spcPts val="1000"/>
              </a:spcAft>
              <a:buChar char="•"/>
              <a:buSzPct val="100000"/>
              <a:buClr>
                <a:srgbClr val="FFFFFF"/>
              </a:buClr>
            </a:pPr>
            <a:r>
              <a:rPr sz="1900" b="0">
                <a:solidFill>
                  <a:srgbClr val="FFFFFF"/>
                </a:solidFill>
                <a:latin typeface="Segoe UI"/>
              </a:rPr>
              <a:t>1. TLS 1.2 minimum everywhere</a:t>
            </a:r>
          </a:p>
          <a:p>
            <a:pPr>
              <a:lnSpc>
                <a:spcPct val="115000"/>
              </a:lnSpc>
              <a:spcAft>
                <a:spcPts val="1000"/>
              </a:spcAft>
              <a:buChar char="•"/>
              <a:buSzPct val="100000"/>
              <a:buClr>
                <a:srgbClr val="FFFFFF"/>
              </a:buClr>
            </a:pPr>
            <a:r>
              <a:rPr sz="1900" b="0">
                <a:solidFill>
                  <a:srgbClr val="FFFFFF"/>
                </a:solidFill>
                <a:latin typeface="Segoe UI"/>
              </a:rPr>
              <a:t>2. HTTPS-only traffic</a:t>
            </a:r>
          </a:p>
          <a:p>
            <a:pPr>
              <a:lnSpc>
                <a:spcPct val="115000"/>
              </a:lnSpc>
              <a:spcAft>
                <a:spcPts val="1000"/>
              </a:spcAft>
              <a:buChar char="•"/>
              <a:buSzPct val="100000"/>
              <a:buClr>
                <a:srgbClr val="FFFFFF"/>
              </a:buClr>
            </a:pPr>
            <a:r>
              <a:rPr sz="1900" b="0">
                <a:solidFill>
                  <a:srgbClr val="FFFFFF"/>
                </a:solidFill>
                <a:latin typeface="Segoe UI"/>
              </a:rPr>
              <a:t>3. No public blob access</a:t>
            </a:r>
          </a:p>
          <a:p>
            <a:pPr>
              <a:lnSpc>
                <a:spcPct val="115000"/>
              </a:lnSpc>
              <a:spcAft>
                <a:spcPts val="1000"/>
              </a:spcAft>
              <a:buChar char="•"/>
              <a:buSzPct val="100000"/>
              <a:buClr>
                <a:srgbClr val="FFFFFF"/>
              </a:buClr>
            </a:pPr>
            <a:r>
              <a:rPr sz="1900" b="0">
                <a:solidFill>
                  <a:srgbClr val="FFFFFF"/>
                </a:solidFill>
                <a:latin typeface="Segoe UI"/>
              </a:rPr>
              <a:t>4. Managed Identity preferred (no keys/secrets)</a:t>
            </a:r>
          </a:p>
          <a:p>
            <a:pPr>
              <a:lnSpc>
                <a:spcPct val="115000"/>
              </a:lnSpc>
              <a:spcAft>
                <a:spcPts val="1000"/>
              </a:spcAft>
              <a:buChar char="•"/>
              <a:buSzPct val="100000"/>
              <a:buClr>
                <a:srgbClr val="FFFFFF"/>
              </a:buClr>
            </a:pPr>
            <a:r>
              <a:rPr sz="1900" b="0">
                <a:solidFill>
                  <a:srgbClr val="FFFFFF"/>
                </a:solidFill>
                <a:latin typeface="Segoe UI"/>
              </a:rPr>
              <a:t>5. Azure AD-only SQL authentication</a:t>
            </a:r>
          </a:p>
          <a:p>
            <a:pPr>
              <a:lnSpc>
                <a:spcPct val="115000"/>
              </a:lnSpc>
              <a:spcAft>
                <a:spcPts val="1000"/>
              </a:spcAft>
              <a:buChar char="•"/>
              <a:buSzPct val="100000"/>
              <a:buClr>
                <a:srgbClr val="FFFFFF"/>
              </a:buClr>
            </a:pPr>
            <a:r>
              <a:rPr sz="1900" b="0">
                <a:solidFill>
                  <a:srgbClr val="FFFFFF"/>
                </a:solidFill>
                <a:latin typeface="Segoe UI"/>
              </a:rPr>
              <a:t>6. Public network access disabled (production)</a:t>
            </a:r>
          </a:p>
        </p:txBody>
      </p:sp>
      <p:sp>
        <p:nvSpPr>
          <p:cNvPr id="5" name="TextBox 4"/>
          <p:cNvSpPr txBox="1"/>
          <p:nvPr/>
        </p:nvSpPr>
        <p:spPr>
          <a:xfrm>
            <a:off x="731520" y="5486400"/>
            <a:ext cx="10698480" cy="411480"/>
          </a:xfrm>
          <a:prstGeom prst="rect">
            <a:avLst/>
          </a:prstGeom>
          <a:noFill/>
        </p:spPr>
        <p:txBody>
          <a:bodyPr wrap="square">
            <a:spAutoFit/>
          </a:bodyPr>
          <a:lstStyle/>
          <a:p>
            <a:pPr algn="ctr"/>
            <a:r>
              <a:rPr sz="1800" b="1">
                <a:solidFill>
                  <a:srgbClr val="FFFFFF"/>
                </a:solidFill>
                <a:latin typeface="Segoe UI"/>
              </a:rPr>
              <a:t>Enforced at 3 layers: Code generation → Deployment preflight → Continuous monitoring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Brownfield — Assess Before You Act</a:t>
            </a:r>
          </a:p>
        </p:txBody>
      </p:sp>
      <p:sp>
        <p:nvSpPr>
          <p:cNvPr id="4" name="TextBox 3"/>
          <p:cNvSpPr txBox="1"/>
          <p:nvPr/>
        </p:nvSpPr>
        <p:spPr>
          <a:xfrm>
            <a:off x="822960" y="1325880"/>
            <a:ext cx="10424160" cy="4937760"/>
          </a:xfrm>
          <a:prstGeom prst="rect">
            <a:avLst/>
          </a:prstGeom>
          <a:noFill/>
        </p:spPr>
        <p:txBody>
          <a:bodyPr wrap="square" lIns="274320" rIns="0">
            <a:spAutoFit/>
          </a:bodyPr>
          <a:lstStyle/>
          <a:p>
            <a:pPr>
              <a:lnSpc>
                <a:spcPct val="115000"/>
              </a:lnSpc>
              <a:spcAft>
                <a:spcPts val="1000"/>
              </a:spcAft>
              <a:buChar char="•"/>
              <a:buSzPct val="100000"/>
              <a:buClr>
                <a:srgbClr val="FFFFFF"/>
              </a:buClr>
            </a:pPr>
            <a:r>
              <a:rPr sz="1900" b="0">
                <a:solidFill>
                  <a:srgbClr val="FFFFFF"/>
                </a:solidFill>
                <a:latin typeface="Segoe UI"/>
              </a:rPr>
              <a:t>221-check catalog synced with Azure Proactive Resiliency Library (APRL)</a:t>
            </a:r>
          </a:p>
          <a:p>
            <a:pPr>
              <a:lnSpc>
                <a:spcPct val="115000"/>
              </a:lnSpc>
              <a:spcAft>
                <a:spcPts val="1000"/>
              </a:spcAft>
              <a:buChar char="•"/>
              <a:buSzPct val="100000"/>
              <a:buClr>
                <a:srgbClr val="FFFFFF"/>
              </a:buClr>
            </a:pPr>
            <a:r>
              <a:rPr sz="1900" b="0">
                <a:solidFill>
                  <a:srgbClr val="FFFFFF"/>
                </a:solidFill>
                <a:latin typeface="Segoe UI"/>
              </a:rPr>
              <a:t>All 5 WAF pillars: Reliability, Security, Cost, Operations, Performance</a:t>
            </a:r>
          </a:p>
          <a:p>
            <a:pPr>
              <a:lnSpc>
                <a:spcPct val="115000"/>
              </a:lnSpc>
              <a:spcAft>
                <a:spcPts val="1000"/>
              </a:spcAft>
              <a:buChar char="•"/>
              <a:buSzPct val="100000"/>
              <a:buClr>
                <a:srgbClr val="FFFFFF"/>
              </a:buClr>
            </a:pPr>
            <a:r>
              <a:rPr sz="1900" b="0">
                <a:solidFill>
                  <a:srgbClr val="FFFFFF"/>
                </a:solidFill>
                <a:latin typeface="Segoe UI"/>
              </a:rPr>
              <a:t>Resource Graph-based discovery — no agents on VMs needed</a:t>
            </a:r>
          </a:p>
          <a:p>
            <a:pPr>
              <a:lnSpc>
                <a:spcPct val="115000"/>
              </a:lnSpc>
              <a:spcAft>
                <a:spcPts val="1000"/>
              </a:spcAft>
              <a:buChar char="•"/>
              <a:buSzPct val="100000"/>
              <a:buClr>
                <a:srgbClr val="FFFFFF"/>
              </a:buClr>
            </a:pPr>
            <a:r>
              <a:rPr sz="1900" b="0">
                <a:solidFill>
                  <a:srgbClr val="FFFFFF"/>
                </a:solidFill>
                <a:latin typeface="Segoe UI"/>
              </a:rPr>
              <a:t>Generates current-state documentation + remediation roadmap</a:t>
            </a:r>
          </a:p>
          <a:p>
            <a:pPr>
              <a:lnSpc>
                <a:spcPct val="115000"/>
              </a:lnSpc>
              <a:spcAft>
                <a:spcPts val="1000"/>
              </a:spcAft>
              <a:buChar char="•"/>
              <a:buSzPct val="100000"/>
              <a:buClr>
                <a:srgbClr val="FFFFFF"/>
              </a:buClr>
            </a:pPr>
            <a:r>
              <a:rPr sz="1900" b="0">
                <a:solidFill>
                  <a:srgbClr val="FFFFFF"/>
                </a:solidFill>
                <a:latin typeface="Segoe UI"/>
              </a:rPr>
              <a:t>Excel + PowerPoint reports with Microsoft branding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Connected to Azure — Real-Time Intelligence</a:t>
            </a:r>
          </a:p>
        </p:txBody>
      </p:sp>
      <p:graphicFrame>
        <p:nvGraphicFramePr>
          <p:cNvPr id="4" name="Table 3"/>
          <p:cNvGraphicFramePr>
            <a:graphicFrameLocks noGrp="1"/>
          </p:cNvGraphicFramePr>
          <p:nvPr/>
        </p:nvGraphicFramePr>
        <p:xfrm>
          <a:off x="731520" y="1554480"/>
          <a:ext cx="10698480" cy="2743200"/>
        </p:xfrm>
        <a:graphic>
          <a:graphicData uri="http://schemas.openxmlformats.org/drawingml/2006/table">
            <a:tbl>
              <a:tblPr firstRow="1" bandRow="1">
                <a:tableStyleId>{5C22544A-7EE6-4342-B048-85BDC9FD1C3A}</a:tableStyleId>
              </a:tblPr>
              <a:tblGrid>
                <a:gridCol w="3566160"/>
                <a:gridCol w="3566160"/>
                <a:gridCol w="3566160"/>
              </a:tblGrid>
              <a:tr h="685800">
                <a:tc>
                  <a:txBody>
                    <a:bodyPr/>
                    <a:lstStyle/>
                    <a:p>
                      <a:pPr algn="ctr"/>
                      <a:r>
                        <a:rPr sz="1500" b="1">
                          <a:solidFill>
                            <a:srgbClr val="FFFFFF"/>
                          </a:solidFill>
                          <a:latin typeface="Segoe UI"/>
                        </a:rPr>
                        <a:t>MCP Server</a:t>
                      </a:r>
                    </a:p>
                  </a:txBody>
                  <a:tcPr>
                    <a:solidFill>
                      <a:srgbClr val="0078D4"/>
                    </a:solidFill>
                  </a:tcPr>
                </a:tc>
                <a:tc>
                  <a:txBody>
                    <a:bodyPr/>
                    <a:lstStyle/>
                    <a:p>
                      <a:pPr algn="ctr"/>
                      <a:r>
                        <a:rPr sz="1500" b="1">
                          <a:solidFill>
                            <a:srgbClr val="FFFFFF"/>
                          </a:solidFill>
                          <a:latin typeface="Segoe UI"/>
                        </a:rPr>
                        <a:t>Capability</a:t>
                      </a:r>
                    </a:p>
                  </a:txBody>
                  <a:tcPr>
                    <a:solidFill>
                      <a:srgbClr val="0078D4"/>
                    </a:solidFill>
                  </a:tcPr>
                </a:tc>
                <a:tc>
                  <a:txBody>
                    <a:bodyPr/>
                    <a:lstStyle/>
                    <a:p>
                      <a:pPr algn="ctr"/>
                      <a:r>
                        <a:rPr sz="1500" b="1">
                          <a:solidFill>
                            <a:srgbClr val="FFFFFF"/>
                          </a:solidFill>
                          <a:latin typeface="Segoe UI"/>
                        </a:rPr>
                        <a:t>Tools</a:t>
                      </a:r>
                    </a:p>
                  </a:txBody>
                  <a:tcPr>
                    <a:solidFill>
                      <a:srgbClr val="0078D4"/>
                    </a:solidFill>
                  </a:tcPr>
                </a:tc>
              </a:tr>
              <a:tr h="685800">
                <a:tc>
                  <a:txBody>
                    <a:bodyPr/>
                    <a:lstStyle/>
                    <a:p>
                      <a:pPr algn="l"/>
                      <a:r>
                        <a:rPr sz="1400" b="0">
                          <a:solidFill>
                            <a:srgbClr val="FFFFFF"/>
                          </a:solidFill>
                          <a:latin typeface="Segoe UI"/>
                        </a:rPr>
                        <a:t>Azure Pricing</a:t>
                      </a:r>
                    </a:p>
                  </a:txBody>
                  <a:tcPr anchor="ctr">
                    <a:solidFill>
                      <a:srgbClr val="002050"/>
                    </a:solidFill>
                  </a:tcPr>
                </a:tc>
                <a:tc>
                  <a:txBody>
                    <a:bodyPr/>
                    <a:lstStyle/>
                    <a:p>
                      <a:pPr algn="l"/>
                      <a:r>
                        <a:rPr sz="1400" b="0">
                          <a:solidFill>
                            <a:srgbClr val="FFFFFF"/>
                          </a:solidFill>
                          <a:latin typeface="Segoe UI"/>
                        </a:rPr>
                        <a:t>Real-time cost estimation</a:t>
                      </a:r>
                    </a:p>
                  </a:txBody>
                  <a:tcPr anchor="ctr">
                    <a:solidFill>
                      <a:srgbClr val="002050"/>
                    </a:solidFill>
                  </a:tcPr>
                </a:tc>
                <a:tc>
                  <a:txBody>
                    <a:bodyPr/>
                    <a:lstStyle/>
                    <a:p>
                      <a:pPr algn="ctr"/>
                      <a:r>
                        <a:rPr sz="1400" b="0">
                          <a:solidFill>
                            <a:srgbClr val="FFFFFF"/>
                          </a:solidFill>
                          <a:latin typeface="Segoe UI"/>
                        </a:rPr>
                        <a:t>18 tools</a:t>
                      </a:r>
                    </a:p>
                  </a:txBody>
                  <a:tcPr anchor="ctr">
                    <a:solidFill>
                      <a:srgbClr val="002050"/>
                    </a:solidFill>
                  </a:tcPr>
                </a:tc>
              </a:tr>
              <a:tr h="685800">
                <a:tc>
                  <a:txBody>
                    <a:bodyPr/>
                    <a:lstStyle/>
                    <a:p>
                      <a:pPr algn="l"/>
                      <a:r>
                        <a:rPr sz="1400" b="0">
                          <a:solidFill>
                            <a:srgbClr val="FFFFFF"/>
                          </a:solidFill>
                          <a:latin typeface="Segoe UI"/>
                        </a:rPr>
                        <a:t>Azure Platform</a:t>
                      </a:r>
                    </a:p>
                  </a:txBody>
                  <a:tcPr anchor="ctr">
                    <a:solidFill>
                      <a:srgbClr val="002050"/>
                    </a:solidFill>
                  </a:tcPr>
                </a:tc>
                <a:tc>
                  <a:txBody>
                    <a:bodyPr/>
                    <a:lstStyle/>
                    <a:p>
                      <a:pPr algn="l"/>
                      <a:r>
                        <a:rPr sz="1400" b="0">
                          <a:solidFill>
                            <a:srgbClr val="FFFFFF"/>
                          </a:solidFill>
                          <a:latin typeface="Segoe UI"/>
                        </a:rPr>
                        <a:t>Live Azure operations</a:t>
                      </a:r>
                    </a:p>
                  </a:txBody>
                  <a:tcPr anchor="ctr">
                    <a:solidFill>
                      <a:srgbClr val="002050"/>
                    </a:solidFill>
                  </a:tcPr>
                </a:tc>
                <a:tc>
                  <a:txBody>
                    <a:bodyPr/>
                    <a:lstStyle/>
                    <a:p>
                      <a:pPr algn="ctr"/>
                      <a:r>
                        <a:rPr sz="1400" b="0">
                          <a:solidFill>
                            <a:srgbClr val="FFFFFF"/>
                          </a:solidFill>
                          <a:latin typeface="Segoe UI"/>
                        </a:rPr>
                        <a:t>27 tools</a:t>
                      </a:r>
                    </a:p>
                  </a:txBody>
                  <a:tcPr anchor="ctr">
                    <a:solidFill>
                      <a:srgbClr val="002050"/>
                    </a:solidFill>
                  </a:tcPr>
                </a:tc>
              </a:tr>
              <a:tr h="685800">
                <a:tc>
                  <a:txBody>
                    <a:bodyPr/>
                    <a:lstStyle/>
                    <a:p>
                      <a:pPr algn="l"/>
                      <a:r>
                        <a:rPr sz="1400" b="0">
                          <a:solidFill>
                            <a:srgbClr val="FFFFFF"/>
                          </a:solidFill>
                          <a:latin typeface="Segoe UI"/>
                        </a:rPr>
                        <a:t>Draw.io</a:t>
                      </a:r>
                    </a:p>
                  </a:txBody>
                  <a:tcPr anchor="ctr">
                    <a:solidFill>
                      <a:srgbClr val="002050"/>
                    </a:solidFill>
                  </a:tcPr>
                </a:tc>
                <a:tc>
                  <a:txBody>
                    <a:bodyPr/>
                    <a:lstStyle/>
                    <a:p>
                      <a:pPr algn="l"/>
                      <a:r>
                        <a:rPr sz="1400" b="0">
                          <a:solidFill>
                            <a:srgbClr val="FFFFFF"/>
                          </a:solidFill>
                          <a:latin typeface="Segoe UI"/>
                        </a:rPr>
                        <a:t>Diagram generation</a:t>
                      </a:r>
                    </a:p>
                  </a:txBody>
                  <a:tcPr anchor="ctr">
                    <a:solidFill>
                      <a:srgbClr val="002050"/>
                    </a:solidFill>
                  </a:tcPr>
                </a:tc>
                <a:tc>
                  <a:txBody>
                    <a:bodyPr/>
                    <a:lstStyle/>
                    <a:p>
                      <a:pPr algn="ctr"/>
                      <a:r>
                        <a:rPr sz="1400" b="0">
                          <a:solidFill>
                            <a:srgbClr val="FFFFFF"/>
                          </a:solidFill>
                          <a:latin typeface="Segoe UI"/>
                        </a:rPr>
                        <a:t>Azure icons</a:t>
                      </a:r>
                    </a:p>
                  </a:txBody>
                  <a:tcPr anchor="ctr">
                    <a:solidFill>
                      <a:srgbClr val="002050"/>
                    </a:solidFill>
                  </a:tcPr>
                </a:tc>
              </a:tr>
            </a:tbl>
          </a:graphicData>
        </a:graphic>
      </p:graphicFrame>
      <p:sp>
        <p:nvSpPr>
          <p:cNvPr id="5" name="TextBox 4"/>
          <p:cNvSpPr txBox="1"/>
          <p:nvPr/>
        </p:nvSpPr>
        <p:spPr>
          <a:xfrm>
            <a:off x="822960" y="5532120"/>
            <a:ext cx="10424160" cy="411480"/>
          </a:xfrm>
          <a:prstGeom prst="rect">
            <a:avLst/>
          </a:prstGeom>
          <a:noFill/>
        </p:spPr>
        <p:txBody>
          <a:bodyPr wrap="square">
            <a:spAutoFit/>
          </a:bodyPr>
          <a:lstStyle/>
          <a:p>
            <a:pPr algn="ctr"/>
            <a:r>
              <a:rPr sz="1800" b="0">
                <a:solidFill>
                  <a:srgbClr val="FFFFFF"/>
                </a:solidFill>
                <a:latin typeface="Segoe UI"/>
              </a:rPr>
              <a:t>Agents don't guess — they query Azure in real-time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Beyond Deployment — Continuous Operations</a:t>
            </a:r>
          </a:p>
        </p:txBody>
      </p:sp>
      <p:sp>
        <p:nvSpPr>
          <p:cNvPr id="4" name="TextBox 3"/>
          <p:cNvSpPr txBox="1"/>
          <p:nvPr/>
        </p:nvSpPr>
        <p:spPr>
          <a:xfrm>
            <a:off x="822960" y="1325880"/>
            <a:ext cx="10424160" cy="4937760"/>
          </a:xfrm>
          <a:prstGeom prst="rect">
            <a:avLst/>
          </a:prstGeom>
          <a:noFill/>
        </p:spPr>
        <p:txBody>
          <a:bodyPr wrap="square" lIns="274320" rIns="0">
            <a:spAutoFit/>
          </a:bodyPr>
          <a:lstStyle/>
          <a:p>
            <a:pPr>
              <a:lnSpc>
                <a:spcPct val="115000"/>
              </a:lnSpc>
              <a:spcAft>
                <a:spcPts val="1000"/>
              </a:spcAft>
              <a:buChar char="•"/>
              <a:buSzPct val="100000"/>
              <a:buClr>
                <a:srgbClr val="FFFFFF"/>
              </a:buClr>
            </a:pPr>
            <a:r>
              <a:rPr sz="1900" b="0">
                <a:solidFill>
                  <a:srgbClr val="FFFFFF"/>
                </a:solidFill>
                <a:latin typeface="Segoe UI"/>
              </a:rPr>
              <a:t>Sentinel runs full scan daily at 06:00 UTC (compliance + drift + audit)</a:t>
            </a:r>
          </a:p>
          <a:p>
            <a:pPr>
              <a:lnSpc>
                <a:spcPct val="115000"/>
              </a:lnSpc>
              <a:spcAft>
                <a:spcPts val="1000"/>
              </a:spcAft>
              <a:buChar char="•"/>
              <a:buSzPct val="100000"/>
              <a:buClr>
                <a:srgbClr val="FFFFFF"/>
              </a:buClr>
            </a:pPr>
            <a:r>
              <a:rPr sz="1900" b="0">
                <a:solidFill>
                  <a:srgbClr val="FFFFFF"/>
                </a:solidFill>
                <a:latin typeface="Segoe UI"/>
              </a:rPr>
              <a:t>Alert thresholds: Critical → immediate | High → 15 min | Medium → daily</a:t>
            </a:r>
          </a:p>
          <a:p>
            <a:pPr>
              <a:lnSpc>
                <a:spcPct val="115000"/>
              </a:lnSpc>
              <a:spcAft>
                <a:spcPts val="1000"/>
              </a:spcAft>
              <a:buChar char="•"/>
              <a:buSzPct val="100000"/>
              <a:buClr>
                <a:srgbClr val="FFFFFF"/>
              </a:buClr>
            </a:pPr>
            <a:r>
              <a:rPr sz="1900" b="0">
                <a:solidFill>
                  <a:srgbClr val="FFFFFF"/>
                </a:solidFill>
                <a:latin typeface="Segoe UI"/>
              </a:rPr>
              <a:t>Mender auto-remediates critical/high with snapshot-based rollback</a:t>
            </a:r>
          </a:p>
          <a:p>
            <a:pPr>
              <a:lnSpc>
                <a:spcPct val="115000"/>
              </a:lnSpc>
              <a:spcAft>
                <a:spcPts val="1000"/>
              </a:spcAft>
              <a:buChar char="•"/>
              <a:buSzPct val="100000"/>
              <a:buClr>
                <a:srgbClr val="FFFFFF"/>
              </a:buClr>
            </a:pPr>
            <a:r>
              <a:rPr sz="1900" b="0">
                <a:solidFill>
                  <a:srgbClr val="FFFFFF"/>
                </a:solidFill>
                <a:latin typeface="Segoe UI"/>
              </a:rPr>
              <a:t>8 built-in remediation strategies for common policy violations</a:t>
            </a:r>
          </a:p>
          <a:p>
            <a:pPr>
              <a:lnSpc>
                <a:spcPct val="115000"/>
              </a:lnSpc>
              <a:spcAft>
                <a:spcPts val="1000"/>
              </a:spcAft>
              <a:buChar char="•"/>
              <a:buSzPct val="100000"/>
              <a:buClr>
                <a:srgbClr val="FFFFFF"/>
              </a:buClr>
            </a:pPr>
            <a:r>
              <a:rPr sz="1900" b="0">
                <a:solidFill>
                  <a:srgbClr val="FFFFFF"/>
                </a:solidFill>
                <a:latin typeface="Segoe UI"/>
              </a:rPr>
              <a:t>Escalation to human approval for medium/low severity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Enterprise CI/CD — From Code to Cloud</a:t>
            </a:r>
          </a:p>
        </p:txBody>
      </p:sp>
      <p:sp>
        <p:nvSpPr>
          <p:cNvPr id="4" name="TextBox 3"/>
          <p:cNvSpPr txBox="1"/>
          <p:nvPr/>
        </p:nvSpPr>
        <p:spPr>
          <a:xfrm>
            <a:off x="822960" y="1325880"/>
            <a:ext cx="10424160" cy="4937760"/>
          </a:xfrm>
          <a:prstGeom prst="rect">
            <a:avLst/>
          </a:prstGeom>
          <a:noFill/>
        </p:spPr>
        <p:txBody>
          <a:bodyPr wrap="square" lIns="274320" rIns="0">
            <a:spAutoFit/>
          </a:bodyPr>
          <a:lstStyle/>
          <a:p>
            <a:pPr>
              <a:lnSpc>
                <a:spcPct val="115000"/>
              </a:lnSpc>
              <a:spcAft>
                <a:spcPts val="1000"/>
              </a:spcAft>
              <a:buChar char="•"/>
              <a:buSzPct val="100000"/>
              <a:buClr>
                <a:srgbClr val="FFFFFF"/>
              </a:buClr>
            </a:pPr>
            <a:r>
              <a:rPr sz="1900" b="0">
                <a:solidFill>
                  <a:srgbClr val="FFFFFF"/>
                </a:solidFill>
                <a:latin typeface="Segoe UI"/>
              </a:rPr>
              <a:t>GitHub Actions with OIDC federation — no stored credentials</a:t>
            </a:r>
          </a:p>
          <a:p>
            <a:pPr>
              <a:lnSpc>
                <a:spcPct val="115000"/>
              </a:lnSpc>
              <a:spcAft>
                <a:spcPts val="1000"/>
              </a:spcAft>
              <a:buChar char="•"/>
              <a:buSzPct val="100000"/>
              <a:buClr>
                <a:srgbClr val="FFFFFF"/>
              </a:buClr>
            </a:pPr>
            <a:r>
              <a:rPr sz="1900" b="0">
                <a:solidFill>
                  <a:srgbClr val="FFFFFF"/>
                </a:solidFill>
                <a:latin typeface="Segoe UI"/>
              </a:rPr>
              <a:t>5-stage reusable pipeline: Resolve → Validate → Plan → Deploy → Verify</a:t>
            </a:r>
          </a:p>
          <a:p>
            <a:pPr>
              <a:lnSpc>
                <a:spcPct val="115000"/>
              </a:lnSpc>
              <a:spcAft>
                <a:spcPts val="1000"/>
              </a:spcAft>
              <a:buChar char="•"/>
              <a:buSzPct val="100000"/>
              <a:buClr>
                <a:srgbClr val="FFFFFF"/>
              </a:buClr>
            </a:pPr>
            <a:r>
              <a:rPr sz="1900" b="0">
                <a:solidFill>
                  <a:srgbClr val="FFFFFF"/>
                </a:solidFill>
                <a:latin typeface="Segoe UI"/>
              </a:rPr>
              <a:t>Reusable workflows for consistent deployments across Landing Zones</a:t>
            </a:r>
          </a:p>
          <a:p>
            <a:pPr>
              <a:lnSpc>
                <a:spcPct val="115000"/>
              </a:lnSpc>
              <a:spcAft>
                <a:spcPts val="1000"/>
              </a:spcAft>
              <a:buChar char="•"/>
              <a:buSzPct val="100000"/>
              <a:buClr>
                <a:srgbClr val="FFFFFF"/>
              </a:buClr>
            </a:pPr>
            <a:r>
              <a:rPr sz="1900" b="0">
                <a:solidFill>
                  <a:srgbClr val="FFFFFF"/>
                </a:solidFill>
                <a:latin typeface="Segoe UI"/>
              </a:rPr>
              <a:t>Pre-commit hooks via Lefthook: security baseline, cost governance, terraform fmt</a:t>
            </a:r>
          </a:p>
          <a:p>
            <a:pPr>
              <a:lnSpc>
                <a:spcPct val="115000"/>
              </a:lnSpc>
              <a:spcAft>
                <a:spcPts val="1000"/>
              </a:spcAft>
              <a:buChar char="•"/>
              <a:buSzPct val="100000"/>
              <a:buClr>
                <a:srgbClr val="FFFFFF"/>
              </a:buClr>
            </a:pPr>
            <a:r>
              <a:rPr sz="1900" b="0">
                <a:solidFill>
                  <a:srgbClr val="FFFFFF"/>
                </a:solidFill>
                <a:latin typeface="Segoe UI"/>
              </a:rPr>
              <a:t>Automated assessment workflow for brownfield environments</a:t>
            </a:r>
          </a:p>
          <a:p>
            <a:pPr>
              <a:lnSpc>
                <a:spcPct val="115000"/>
              </a:lnSpc>
              <a:spcAft>
                <a:spcPts val="1000"/>
              </a:spcAft>
              <a:buChar char="•"/>
              <a:buSzPct val="100000"/>
              <a:buClr>
                <a:srgbClr val="FFFFFF"/>
              </a:buClr>
            </a:pPr>
            <a:r>
              <a:rPr sz="1900" b="0">
                <a:solidFill>
                  <a:srgbClr val="FFFFFF"/>
                </a:solidFill>
                <a:latin typeface="Segoe UI"/>
              </a:rPr>
              <a:t>APRL sync — keeps WARA check catalog current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5-Stage Reusable Pipeline</a:t>
            </a:r>
          </a:p>
        </p:txBody>
      </p:sp>
      <p:graphicFrame>
        <p:nvGraphicFramePr>
          <p:cNvPr id="4" name="Table 3"/>
          <p:cNvGraphicFramePr>
            <a:graphicFrameLocks noGrp="1"/>
          </p:cNvGraphicFramePr>
          <p:nvPr/>
        </p:nvGraphicFramePr>
        <p:xfrm>
          <a:off x="731520" y="1554480"/>
          <a:ext cx="10698480" cy="2926080"/>
        </p:xfrm>
        <a:graphic>
          <a:graphicData uri="http://schemas.openxmlformats.org/drawingml/2006/table">
            <a:tbl>
              <a:tblPr firstRow="1" bandRow="1">
                <a:tableStyleId>{5C22544A-7EE6-4342-B048-85BDC9FD1C3A}</a:tableStyleId>
              </a:tblPr>
              <a:tblGrid>
                <a:gridCol w="5349240"/>
                <a:gridCol w="5349240"/>
              </a:tblGrid>
              <a:tr h="487680">
                <a:tc>
                  <a:txBody>
                    <a:bodyPr/>
                    <a:lstStyle/>
                    <a:p>
                      <a:pPr algn="ctr"/>
                      <a:r>
                        <a:rPr sz="1500" b="1">
                          <a:solidFill>
                            <a:srgbClr val="FFFFFF"/>
                          </a:solidFill>
                          <a:latin typeface="Segoe UI"/>
                        </a:rPr>
                        <a:t>Stage</a:t>
                      </a:r>
                    </a:p>
                  </a:txBody>
                  <a:tcPr>
                    <a:solidFill>
                      <a:srgbClr val="0078D4"/>
                    </a:solidFill>
                  </a:tcPr>
                </a:tc>
                <a:tc>
                  <a:txBody>
                    <a:bodyPr/>
                    <a:lstStyle/>
                    <a:p>
                      <a:pPr algn="ctr"/>
                      <a:r>
                        <a:rPr sz="1500" b="1">
                          <a:solidFill>
                            <a:srgbClr val="FFFFFF"/>
                          </a:solidFill>
                          <a:latin typeface="Segoe UI"/>
                        </a:rPr>
                        <a:t>What Happens</a:t>
                      </a:r>
                    </a:p>
                  </a:txBody>
                  <a:tcPr>
                    <a:solidFill>
                      <a:srgbClr val="0078D4"/>
                    </a:solidFill>
                  </a:tcPr>
                </a:tc>
              </a:tr>
              <a:tr h="487680">
                <a:tc>
                  <a:txBody>
                    <a:bodyPr/>
                    <a:lstStyle/>
                    <a:p>
                      <a:pPr algn="l"/>
                      <a:r>
                        <a:rPr sz="1400" b="0">
                          <a:solidFill>
                            <a:srgbClr val="FFFFFF"/>
                          </a:solidFill>
                          <a:latin typeface="Segoe UI"/>
                        </a:rPr>
                        <a:t>Resolve</a:t>
                      </a:r>
                    </a:p>
                  </a:txBody>
                  <a:tcPr anchor="ctr">
                    <a:solidFill>
                      <a:srgbClr val="002050"/>
                    </a:solidFill>
                  </a:tcPr>
                </a:tc>
                <a:tc>
                  <a:txBody>
                    <a:bodyPr/>
                    <a:lstStyle/>
                    <a:p>
                      <a:pPr algn="ctr"/>
                      <a:r>
                        <a:rPr sz="1400" b="0">
                          <a:solidFill>
                            <a:srgbClr val="FFFFFF"/>
                          </a:solidFill>
                          <a:latin typeface="Segoe UI"/>
                        </a:rPr>
                        <a:t>Validate Azure access via OIDC</a:t>
                      </a:r>
                    </a:p>
                  </a:txBody>
                  <a:tcPr anchor="ctr">
                    <a:solidFill>
                      <a:srgbClr val="002050"/>
                    </a:solidFill>
                  </a:tcPr>
                </a:tc>
              </a:tr>
              <a:tr h="487680">
                <a:tc>
                  <a:txBody>
                    <a:bodyPr/>
                    <a:lstStyle/>
                    <a:p>
                      <a:pPr algn="l"/>
                      <a:r>
                        <a:rPr sz="1400" b="0">
                          <a:solidFill>
                            <a:srgbClr val="FFFFFF"/>
                          </a:solidFill>
                          <a:latin typeface="Segoe UI"/>
                        </a:rPr>
                        <a:t>Validate</a:t>
                      </a:r>
                    </a:p>
                  </a:txBody>
                  <a:tcPr anchor="ctr">
                    <a:solidFill>
                      <a:srgbClr val="002050"/>
                    </a:solidFill>
                  </a:tcPr>
                </a:tc>
                <a:tc>
                  <a:txBody>
                    <a:bodyPr/>
                    <a:lstStyle/>
                    <a:p>
                      <a:pPr algn="ctr"/>
                      <a:r>
                        <a:rPr sz="1400" b="0">
                          <a:solidFill>
                            <a:srgbClr val="FFFFFF"/>
                          </a:solidFill>
                          <a:latin typeface="Segoe UI"/>
                        </a:rPr>
                        <a:t>Security baseline + cost governance + lint</a:t>
                      </a:r>
                    </a:p>
                  </a:txBody>
                  <a:tcPr anchor="ctr">
                    <a:solidFill>
                      <a:srgbClr val="002050"/>
                    </a:solidFill>
                  </a:tcPr>
                </a:tc>
              </a:tr>
              <a:tr h="487680">
                <a:tc>
                  <a:txBody>
                    <a:bodyPr/>
                    <a:lstStyle/>
                    <a:p>
                      <a:pPr algn="l"/>
                      <a:r>
                        <a:rPr sz="1400" b="0">
                          <a:solidFill>
                            <a:srgbClr val="FFFFFF"/>
                          </a:solidFill>
                          <a:latin typeface="Segoe UI"/>
                        </a:rPr>
                        <a:t>Plan</a:t>
                      </a:r>
                    </a:p>
                  </a:txBody>
                  <a:tcPr anchor="ctr">
                    <a:solidFill>
                      <a:srgbClr val="002050"/>
                    </a:solidFill>
                  </a:tcPr>
                </a:tc>
                <a:tc>
                  <a:txBody>
                    <a:bodyPr/>
                    <a:lstStyle/>
                    <a:p>
                      <a:pPr algn="ctr"/>
                      <a:r>
                        <a:rPr sz="1400" b="0">
                          <a:solidFill>
                            <a:srgbClr val="FFFFFF"/>
                          </a:solidFill>
                          <a:latin typeface="Segoe UI"/>
                        </a:rPr>
                        <a:t>Bicep what-if / Terraform plan</a:t>
                      </a:r>
                    </a:p>
                  </a:txBody>
                  <a:tcPr anchor="ctr">
                    <a:solidFill>
                      <a:srgbClr val="002050"/>
                    </a:solidFill>
                  </a:tcPr>
                </a:tc>
              </a:tr>
              <a:tr h="487680">
                <a:tc>
                  <a:txBody>
                    <a:bodyPr/>
                    <a:lstStyle/>
                    <a:p>
                      <a:pPr algn="l"/>
                      <a:r>
                        <a:rPr sz="1400" b="0">
                          <a:solidFill>
                            <a:srgbClr val="FFFFFF"/>
                          </a:solidFill>
                          <a:latin typeface="Segoe UI"/>
                        </a:rPr>
                        <a:t>Deploy</a:t>
                      </a:r>
                    </a:p>
                  </a:txBody>
                  <a:tcPr anchor="ctr">
                    <a:solidFill>
                      <a:srgbClr val="002050"/>
                    </a:solidFill>
                  </a:tcPr>
                </a:tc>
                <a:tc>
                  <a:txBody>
                    <a:bodyPr/>
                    <a:lstStyle/>
                    <a:p>
                      <a:pPr algn="ctr"/>
                      <a:r>
                        <a:rPr sz="1400" b="0">
                          <a:solidFill>
                            <a:srgbClr val="FFFFFF"/>
                          </a:solidFill>
                          <a:latin typeface="Segoe UI"/>
                        </a:rPr>
                        <a:t>Apply with timestamped deployment name</a:t>
                      </a:r>
                    </a:p>
                  </a:txBody>
                  <a:tcPr anchor="ctr">
                    <a:solidFill>
                      <a:srgbClr val="002050"/>
                    </a:solidFill>
                  </a:tcPr>
                </a:tc>
              </a:tr>
              <a:tr h="487680">
                <a:tc>
                  <a:txBody>
                    <a:bodyPr/>
                    <a:lstStyle/>
                    <a:p>
                      <a:pPr algn="l"/>
                      <a:r>
                        <a:rPr sz="1400" b="0">
                          <a:solidFill>
                            <a:srgbClr val="FFFFFF"/>
                          </a:solidFill>
                          <a:latin typeface="Segoe UI"/>
                        </a:rPr>
                        <a:t>Verify</a:t>
                      </a:r>
                    </a:p>
                  </a:txBody>
                  <a:tcPr anchor="ctr">
                    <a:solidFill>
                      <a:srgbClr val="002050"/>
                    </a:solidFill>
                  </a:tcPr>
                </a:tc>
                <a:tc>
                  <a:txBody>
                    <a:bodyPr/>
                    <a:lstStyle/>
                    <a:p>
                      <a:pPr algn="ctr"/>
                      <a:r>
                        <a:rPr sz="1400" b="0">
                          <a:solidFill>
                            <a:srgbClr val="FFFFFF"/>
                          </a:solidFill>
                          <a:latin typeface="Segoe UI"/>
                        </a:rPr>
                        <a:t>Compliance scan + TDD generation</a:t>
                      </a:r>
                    </a:p>
                  </a:txBody>
                  <a:tcPr anchor="ctr">
                    <a:solidFill>
                      <a:srgbClr val="002050"/>
                    </a:solidFill>
                  </a:tcPr>
                </a:tc>
              </a:tr>
            </a:tbl>
          </a:graphicData>
        </a:graphic>
      </p:graphicFrame>
      <p:sp>
        <p:nvSpPr>
          <p:cNvPr id="5" name="TextBox 4"/>
          <p:cNvSpPr txBox="1"/>
          <p:nvPr/>
        </p:nvSpPr>
        <p:spPr>
          <a:xfrm>
            <a:off x="822960" y="5532120"/>
            <a:ext cx="10424160" cy="411480"/>
          </a:xfrm>
          <a:prstGeom prst="rect">
            <a:avLst/>
          </a:prstGeom>
          <a:noFill/>
        </p:spPr>
        <p:txBody>
          <a:bodyPr wrap="square">
            <a:spAutoFit/>
          </a:bodyPr>
          <a:lstStyle/>
          <a:p>
            <a:pPr algn="ctr"/>
            <a:r>
              <a:rPr sz="1800" b="0">
                <a:solidFill>
                  <a:srgbClr val="FFFFFF"/>
                </a:solidFill>
                <a:latin typeface="Segoe UI"/>
              </a:rPr>
              <a:t>Same pipeline for all 10 subscriptions — DRY, consistent, auditable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Landing Zone Profiles (4 Platform + 4 App)</a:t>
            </a:r>
          </a:p>
        </p:txBody>
      </p:sp>
      <p:graphicFrame>
        <p:nvGraphicFramePr>
          <p:cNvPr id="4" name="Table 3"/>
          <p:cNvGraphicFramePr>
            <a:graphicFrameLocks noGrp="1"/>
          </p:cNvGraphicFramePr>
          <p:nvPr/>
        </p:nvGraphicFramePr>
        <p:xfrm>
          <a:off x="731520" y="1325880"/>
          <a:ext cx="10698480" cy="4206240"/>
        </p:xfrm>
        <a:graphic>
          <a:graphicData uri="http://schemas.openxmlformats.org/drawingml/2006/table">
            <a:tbl>
              <a:tblPr firstRow="1" bandRow="1">
                <a:tableStyleId>{5C22544A-7EE6-4342-B048-85BDC9FD1C3A}</a:tableStyleId>
              </a:tblPr>
              <a:tblGrid>
                <a:gridCol w="3566160"/>
                <a:gridCol w="3566160"/>
                <a:gridCol w="3566160"/>
              </a:tblGrid>
              <a:tr h="467360">
                <a:tc>
                  <a:txBody>
                    <a:bodyPr/>
                    <a:lstStyle/>
                    <a:p>
                      <a:pPr algn="ctr"/>
                      <a:r>
                        <a:rPr sz="1500" b="1">
                          <a:solidFill>
                            <a:srgbClr val="FFFFFF"/>
                          </a:solidFill>
                          <a:latin typeface="Segoe UI"/>
                        </a:rPr>
                        <a:t>Profile</a:t>
                      </a:r>
                    </a:p>
                  </a:txBody>
                  <a:tcPr>
                    <a:solidFill>
                      <a:srgbClr val="0078D4"/>
                    </a:solidFill>
                  </a:tcPr>
                </a:tc>
                <a:tc>
                  <a:txBody>
                    <a:bodyPr/>
                    <a:lstStyle/>
                    <a:p>
                      <a:pPr algn="ctr"/>
                      <a:r>
                        <a:rPr sz="1500" b="1">
                          <a:solidFill>
                            <a:srgbClr val="FFFFFF"/>
                          </a:solidFill>
                          <a:latin typeface="Segoe UI"/>
                        </a:rPr>
                        <a:t>Purpose</a:t>
                      </a:r>
                    </a:p>
                  </a:txBody>
                  <a:tcPr>
                    <a:solidFill>
                      <a:srgbClr val="0078D4"/>
                    </a:solidFill>
                  </a:tcPr>
                </a:tc>
                <a:tc>
                  <a:txBody>
                    <a:bodyPr/>
                    <a:lstStyle/>
                    <a:p>
                      <a:pPr algn="ctr"/>
                      <a:r>
                        <a:rPr sz="1500" b="1">
                          <a:solidFill>
                            <a:srgbClr val="FFFFFF"/>
                          </a:solidFill>
                          <a:latin typeface="Segoe UI"/>
                        </a:rPr>
                        <a:t>Order</a:t>
                      </a:r>
                    </a:p>
                  </a:txBody>
                  <a:tcPr>
                    <a:solidFill>
                      <a:srgbClr val="0078D4"/>
                    </a:solidFill>
                  </a:tcPr>
                </a:tc>
              </a:tr>
              <a:tr h="467360">
                <a:tc>
                  <a:txBody>
                    <a:bodyPr/>
                    <a:lstStyle/>
                    <a:p>
                      <a:pPr algn="l"/>
                      <a:r>
                        <a:rPr sz="1400" b="0">
                          <a:solidFill>
                            <a:srgbClr val="FFFFFF"/>
                          </a:solidFill>
                          <a:latin typeface="Segoe UI"/>
                        </a:rPr>
                        <a:t>platform-management</a:t>
                      </a:r>
                    </a:p>
                  </a:txBody>
                  <a:tcPr anchor="ctr">
                    <a:solidFill>
                      <a:srgbClr val="002050"/>
                    </a:solidFill>
                  </a:tcPr>
                </a:tc>
                <a:tc>
                  <a:txBody>
                    <a:bodyPr/>
                    <a:lstStyle/>
                    <a:p>
                      <a:pPr algn="l"/>
                      <a:r>
                        <a:rPr sz="1400" b="0">
                          <a:solidFill>
                            <a:srgbClr val="FFFFFF"/>
                          </a:solidFill>
                          <a:latin typeface="Segoe UI"/>
                        </a:rPr>
                        <a:t>Logging, monitoring, automation</a:t>
                      </a:r>
                    </a:p>
                  </a:txBody>
                  <a:tcPr anchor="ctr">
                    <a:solidFill>
                      <a:srgbClr val="002050"/>
                    </a:solidFill>
                  </a:tcPr>
                </a:tc>
                <a:tc>
                  <a:txBody>
                    <a:bodyPr/>
                    <a:lstStyle/>
                    <a:p>
                      <a:pPr algn="ctr"/>
                      <a:r>
                        <a:rPr sz="1400" b="0">
                          <a:solidFill>
                            <a:srgbClr val="FFFFFF"/>
                          </a:solidFill>
                          <a:latin typeface="Segoe UI"/>
                        </a:rPr>
                        <a:t>1</a:t>
                      </a:r>
                    </a:p>
                  </a:txBody>
                  <a:tcPr anchor="ctr">
                    <a:solidFill>
                      <a:srgbClr val="002050"/>
                    </a:solidFill>
                  </a:tcPr>
                </a:tc>
              </a:tr>
              <a:tr h="467360">
                <a:tc>
                  <a:txBody>
                    <a:bodyPr/>
                    <a:lstStyle/>
                    <a:p>
                      <a:pPr algn="l"/>
                      <a:r>
                        <a:rPr sz="1400" b="0">
                          <a:solidFill>
                            <a:srgbClr val="FFFFFF"/>
                          </a:solidFill>
                          <a:latin typeface="Segoe UI"/>
                        </a:rPr>
                        <a:t>platform-connectivity</a:t>
                      </a:r>
                    </a:p>
                  </a:txBody>
                  <a:tcPr anchor="ctr">
                    <a:solidFill>
                      <a:srgbClr val="002050"/>
                    </a:solidFill>
                  </a:tcPr>
                </a:tc>
                <a:tc>
                  <a:txBody>
                    <a:bodyPr/>
                    <a:lstStyle/>
                    <a:p>
                      <a:pPr algn="l"/>
                      <a:r>
                        <a:rPr sz="1400" b="0">
                          <a:solidFill>
                            <a:srgbClr val="FFFFFF"/>
                          </a:solidFill>
                          <a:latin typeface="Segoe UI"/>
                        </a:rPr>
                        <a:t>Hub networking, Firewall, DNS</a:t>
                      </a:r>
                    </a:p>
                  </a:txBody>
                  <a:tcPr anchor="ctr">
                    <a:solidFill>
                      <a:srgbClr val="002050"/>
                    </a:solidFill>
                  </a:tcPr>
                </a:tc>
                <a:tc>
                  <a:txBody>
                    <a:bodyPr/>
                    <a:lstStyle/>
                    <a:p>
                      <a:pPr algn="ctr"/>
                      <a:r>
                        <a:rPr sz="1400" b="0">
                          <a:solidFill>
                            <a:srgbClr val="FFFFFF"/>
                          </a:solidFill>
                          <a:latin typeface="Segoe UI"/>
                        </a:rPr>
                        <a:t>2</a:t>
                      </a:r>
                    </a:p>
                  </a:txBody>
                  <a:tcPr anchor="ctr">
                    <a:solidFill>
                      <a:srgbClr val="002050"/>
                    </a:solidFill>
                  </a:tcPr>
                </a:tc>
              </a:tr>
              <a:tr h="467360">
                <a:tc>
                  <a:txBody>
                    <a:bodyPr/>
                    <a:lstStyle/>
                    <a:p>
                      <a:pPr algn="l"/>
                      <a:r>
                        <a:rPr sz="1400" b="0">
                          <a:solidFill>
                            <a:srgbClr val="FFFFFF"/>
                          </a:solidFill>
                          <a:latin typeface="Segoe UI"/>
                        </a:rPr>
                        <a:t>platform-identity</a:t>
                      </a:r>
                    </a:p>
                  </a:txBody>
                  <a:tcPr anchor="ctr">
                    <a:solidFill>
                      <a:srgbClr val="002050"/>
                    </a:solidFill>
                  </a:tcPr>
                </a:tc>
                <a:tc>
                  <a:txBody>
                    <a:bodyPr/>
                    <a:lstStyle/>
                    <a:p>
                      <a:pPr algn="l"/>
                      <a:r>
                        <a:rPr sz="1400" b="0">
                          <a:solidFill>
                            <a:srgbClr val="FFFFFF"/>
                          </a:solidFill>
                          <a:latin typeface="Segoe UI"/>
                        </a:rPr>
                        <a:t>AD DS, PIM, RBAC</a:t>
                      </a:r>
                    </a:p>
                  </a:txBody>
                  <a:tcPr anchor="ctr">
                    <a:solidFill>
                      <a:srgbClr val="002050"/>
                    </a:solidFill>
                  </a:tcPr>
                </a:tc>
                <a:tc>
                  <a:txBody>
                    <a:bodyPr/>
                    <a:lstStyle/>
                    <a:p>
                      <a:pPr algn="ctr"/>
                      <a:r>
                        <a:rPr sz="1400" b="0">
                          <a:solidFill>
                            <a:srgbClr val="FFFFFF"/>
                          </a:solidFill>
                          <a:latin typeface="Segoe UI"/>
                        </a:rPr>
                        <a:t>3</a:t>
                      </a:r>
                    </a:p>
                  </a:txBody>
                  <a:tcPr anchor="ctr">
                    <a:solidFill>
                      <a:srgbClr val="002050"/>
                    </a:solidFill>
                  </a:tcPr>
                </a:tc>
              </a:tr>
              <a:tr h="467360">
                <a:tc>
                  <a:txBody>
                    <a:bodyPr/>
                    <a:lstStyle/>
                    <a:p>
                      <a:pPr algn="l"/>
                      <a:r>
                        <a:rPr sz="1400" b="0">
                          <a:solidFill>
                            <a:srgbClr val="FFFFFF"/>
                          </a:solidFill>
                          <a:latin typeface="Segoe UI"/>
                        </a:rPr>
                        <a:t>platform-security</a:t>
                      </a:r>
                    </a:p>
                  </a:txBody>
                  <a:tcPr anchor="ctr">
                    <a:solidFill>
                      <a:srgbClr val="002050"/>
                    </a:solidFill>
                  </a:tcPr>
                </a:tc>
                <a:tc>
                  <a:txBody>
                    <a:bodyPr/>
                    <a:lstStyle/>
                    <a:p>
                      <a:pPr algn="l"/>
                      <a:r>
                        <a:rPr sz="1400" b="0">
                          <a:solidFill>
                            <a:srgbClr val="FFFFFF"/>
                          </a:solidFill>
                          <a:latin typeface="Segoe UI"/>
                        </a:rPr>
                        <a:t>Sentinel, Defender, SOAR</a:t>
                      </a:r>
                    </a:p>
                  </a:txBody>
                  <a:tcPr anchor="ctr">
                    <a:solidFill>
                      <a:srgbClr val="002050"/>
                    </a:solidFill>
                  </a:tcPr>
                </a:tc>
                <a:tc>
                  <a:txBody>
                    <a:bodyPr/>
                    <a:lstStyle/>
                    <a:p>
                      <a:pPr algn="ctr"/>
                      <a:r>
                        <a:rPr sz="1400" b="0">
                          <a:solidFill>
                            <a:srgbClr val="FFFFFF"/>
                          </a:solidFill>
                          <a:latin typeface="Segoe UI"/>
                        </a:rPr>
                        <a:t>4</a:t>
                      </a:r>
                    </a:p>
                  </a:txBody>
                  <a:tcPr anchor="ctr">
                    <a:solidFill>
                      <a:srgbClr val="002050"/>
                    </a:solidFill>
                  </a:tcPr>
                </a:tc>
              </a:tr>
              <a:tr h="467360">
                <a:tc>
                  <a:txBody>
                    <a:bodyPr/>
                    <a:lstStyle/>
                    <a:p>
                      <a:pPr algn="l"/>
                      <a:r>
                        <a:rPr sz="1400" b="0">
                          <a:solidFill>
                            <a:srgbClr val="FFFFFF"/>
                          </a:solidFill>
                          <a:latin typeface="Segoe UI"/>
                        </a:rPr>
                        <a:t>online</a:t>
                      </a:r>
                    </a:p>
                  </a:txBody>
                  <a:tcPr anchor="ctr">
                    <a:solidFill>
                      <a:srgbClr val="002050"/>
                    </a:solidFill>
                  </a:tcPr>
                </a:tc>
                <a:tc>
                  <a:txBody>
                    <a:bodyPr/>
                    <a:lstStyle/>
                    <a:p>
                      <a:pPr algn="l"/>
                      <a:r>
                        <a:rPr sz="1400" b="0">
                          <a:solidFill>
                            <a:srgbClr val="FFFFFF"/>
                          </a:solidFill>
                          <a:latin typeface="Segoe UI"/>
                        </a:rPr>
                        <a:t>Internet-facing apps, WAF</a:t>
                      </a:r>
                    </a:p>
                  </a:txBody>
                  <a:tcPr anchor="ctr">
                    <a:solidFill>
                      <a:srgbClr val="002050"/>
                    </a:solidFill>
                  </a:tcPr>
                </a:tc>
                <a:tc>
                  <a:txBody>
                    <a:bodyPr/>
                    <a:lstStyle/>
                    <a:p>
                      <a:pPr algn="ctr"/>
                      <a:r>
                        <a:rPr sz="1400" b="0">
                          <a:solidFill>
                            <a:srgbClr val="FFFFFF"/>
                          </a:solidFill>
                          <a:latin typeface="Segoe UI"/>
                        </a:rPr>
                        <a:t>App</a:t>
                      </a:r>
                    </a:p>
                  </a:txBody>
                  <a:tcPr anchor="ctr">
                    <a:solidFill>
                      <a:srgbClr val="002050"/>
                    </a:solidFill>
                  </a:tcPr>
                </a:tc>
              </a:tr>
              <a:tr h="467360">
                <a:tc>
                  <a:txBody>
                    <a:bodyPr/>
                    <a:lstStyle/>
                    <a:p>
                      <a:pPr algn="l"/>
                      <a:r>
                        <a:rPr sz="1400" b="0">
                          <a:solidFill>
                            <a:srgbClr val="FFFFFF"/>
                          </a:solidFill>
                          <a:latin typeface="Segoe UI"/>
                        </a:rPr>
                        <a:t>corp</a:t>
                      </a:r>
                    </a:p>
                  </a:txBody>
                  <a:tcPr anchor="ctr">
                    <a:solidFill>
                      <a:srgbClr val="002050"/>
                    </a:solidFill>
                  </a:tcPr>
                </a:tc>
                <a:tc>
                  <a:txBody>
                    <a:bodyPr/>
                    <a:lstStyle/>
                    <a:p>
                      <a:pPr algn="l"/>
                      <a:r>
                        <a:rPr sz="1400" b="0">
                          <a:solidFill>
                            <a:srgbClr val="FFFFFF"/>
                          </a:solidFill>
                          <a:latin typeface="Segoe UI"/>
                        </a:rPr>
                        <a:t>Internal, private connectivity</a:t>
                      </a:r>
                    </a:p>
                  </a:txBody>
                  <a:tcPr anchor="ctr">
                    <a:solidFill>
                      <a:srgbClr val="002050"/>
                    </a:solidFill>
                  </a:tcPr>
                </a:tc>
                <a:tc>
                  <a:txBody>
                    <a:bodyPr/>
                    <a:lstStyle/>
                    <a:p>
                      <a:pPr algn="ctr"/>
                      <a:r>
                        <a:rPr sz="1400" b="0">
                          <a:solidFill>
                            <a:srgbClr val="FFFFFF"/>
                          </a:solidFill>
                          <a:latin typeface="Segoe UI"/>
                        </a:rPr>
                        <a:t>App</a:t>
                      </a:r>
                    </a:p>
                  </a:txBody>
                  <a:tcPr anchor="ctr">
                    <a:solidFill>
                      <a:srgbClr val="002050"/>
                    </a:solidFill>
                  </a:tcPr>
                </a:tc>
              </a:tr>
              <a:tr h="467360">
                <a:tc>
                  <a:txBody>
                    <a:bodyPr/>
                    <a:lstStyle/>
                    <a:p>
                      <a:pPr algn="l"/>
                      <a:r>
                        <a:rPr sz="1400" b="0">
                          <a:solidFill>
                            <a:srgbClr val="FFFFFF"/>
                          </a:solidFill>
                          <a:latin typeface="Segoe UI"/>
                        </a:rPr>
                        <a:t>sandbox</a:t>
                      </a:r>
                    </a:p>
                  </a:txBody>
                  <a:tcPr anchor="ctr">
                    <a:solidFill>
                      <a:srgbClr val="002050"/>
                    </a:solidFill>
                  </a:tcPr>
                </a:tc>
                <a:tc>
                  <a:txBody>
                    <a:bodyPr/>
                    <a:lstStyle/>
                    <a:p>
                      <a:pPr algn="l"/>
                      <a:r>
                        <a:rPr sz="1400" b="0">
                          <a:solidFill>
                            <a:srgbClr val="FFFFFF"/>
                          </a:solidFill>
                          <a:latin typeface="Segoe UI"/>
                        </a:rPr>
                        <a:t>Dev/test, relaxed policies</a:t>
                      </a:r>
                    </a:p>
                  </a:txBody>
                  <a:tcPr anchor="ctr">
                    <a:solidFill>
                      <a:srgbClr val="002050"/>
                    </a:solidFill>
                  </a:tcPr>
                </a:tc>
                <a:tc>
                  <a:txBody>
                    <a:bodyPr/>
                    <a:lstStyle/>
                    <a:p>
                      <a:pPr algn="ctr"/>
                      <a:r>
                        <a:rPr sz="1400" b="0">
                          <a:solidFill>
                            <a:srgbClr val="FFFFFF"/>
                          </a:solidFill>
                          <a:latin typeface="Segoe UI"/>
                        </a:rPr>
                        <a:t>App</a:t>
                      </a:r>
                    </a:p>
                  </a:txBody>
                  <a:tcPr anchor="ctr">
                    <a:solidFill>
                      <a:srgbClr val="002050"/>
                    </a:solidFill>
                  </a:tcPr>
                </a:tc>
              </a:tr>
              <a:tr h="467360">
                <a:tc>
                  <a:txBody>
                    <a:bodyPr/>
                    <a:lstStyle/>
                    <a:p>
                      <a:pPr algn="l"/>
                      <a:r>
                        <a:rPr sz="1400" b="0">
                          <a:solidFill>
                            <a:srgbClr val="FFFFFF"/>
                          </a:solidFill>
                          <a:latin typeface="Segoe UI"/>
                        </a:rPr>
                        <a:t>sap</a:t>
                      </a:r>
                    </a:p>
                  </a:txBody>
                  <a:tcPr anchor="ctr">
                    <a:solidFill>
                      <a:srgbClr val="002050"/>
                    </a:solidFill>
                  </a:tcPr>
                </a:tc>
                <a:tc>
                  <a:txBody>
                    <a:bodyPr/>
                    <a:lstStyle/>
                    <a:p>
                      <a:pPr algn="l"/>
                      <a:r>
                        <a:rPr sz="1400" b="0">
                          <a:solidFill>
                            <a:srgbClr val="FFFFFF"/>
                          </a:solidFill>
                          <a:latin typeface="Segoe UI"/>
                        </a:rPr>
                        <a:t>SAP workloads, ANF, proximity</a:t>
                      </a:r>
                    </a:p>
                  </a:txBody>
                  <a:tcPr anchor="ctr">
                    <a:solidFill>
                      <a:srgbClr val="002050"/>
                    </a:solidFill>
                  </a:tcPr>
                </a:tc>
                <a:tc>
                  <a:txBody>
                    <a:bodyPr/>
                    <a:lstStyle/>
                    <a:p>
                      <a:pPr algn="ctr"/>
                      <a:r>
                        <a:rPr sz="1400" b="0">
                          <a:solidFill>
                            <a:srgbClr val="FFFFFF"/>
                          </a:solidFill>
                          <a:latin typeface="Segoe UI"/>
                        </a:rPr>
                        <a:t>App</a:t>
                      </a:r>
                    </a:p>
                  </a:txBody>
                  <a:tcPr anchor="ctr">
                    <a:solidFill>
                      <a:srgbClr val="002050"/>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Auto-Generated As-Built Documentation</a:t>
            </a:r>
          </a:p>
        </p:txBody>
      </p:sp>
      <p:graphicFrame>
        <p:nvGraphicFramePr>
          <p:cNvPr id="4" name="Table 3"/>
          <p:cNvGraphicFramePr>
            <a:graphicFrameLocks noGrp="1"/>
          </p:cNvGraphicFramePr>
          <p:nvPr/>
        </p:nvGraphicFramePr>
        <p:xfrm>
          <a:off x="731520" y="1325880"/>
          <a:ext cx="10698480" cy="4206240"/>
        </p:xfrm>
        <a:graphic>
          <a:graphicData uri="http://schemas.openxmlformats.org/drawingml/2006/table">
            <a:tbl>
              <a:tblPr firstRow="1" bandRow="1">
                <a:tableStyleId>{5C22544A-7EE6-4342-B048-85BDC9FD1C3A}</a:tableStyleId>
              </a:tblPr>
              <a:tblGrid>
                <a:gridCol w="5349240"/>
                <a:gridCol w="5349240"/>
              </a:tblGrid>
              <a:tr h="467360">
                <a:tc>
                  <a:txBody>
                    <a:bodyPr/>
                    <a:lstStyle/>
                    <a:p>
                      <a:pPr algn="ctr"/>
                      <a:r>
                        <a:rPr sz="1500" b="1">
                          <a:solidFill>
                            <a:srgbClr val="FFFFFF"/>
                          </a:solidFill>
                          <a:latin typeface="Segoe UI"/>
                        </a:rPr>
                        <a:t>TDD Section</a:t>
                      </a:r>
                    </a:p>
                  </a:txBody>
                  <a:tcPr>
                    <a:solidFill>
                      <a:srgbClr val="0078D4"/>
                    </a:solidFill>
                  </a:tcPr>
                </a:tc>
                <a:tc>
                  <a:txBody>
                    <a:bodyPr/>
                    <a:lstStyle/>
                    <a:p>
                      <a:pPr algn="ctr"/>
                      <a:r>
                        <a:rPr sz="1500" b="1">
                          <a:solidFill>
                            <a:srgbClr val="FFFFFF"/>
                          </a:solidFill>
                          <a:latin typeface="Segoe UI"/>
                        </a:rPr>
                        <a:t>Contents</a:t>
                      </a:r>
                    </a:p>
                  </a:txBody>
                  <a:tcPr>
                    <a:solidFill>
                      <a:srgbClr val="0078D4"/>
                    </a:solidFill>
                  </a:tcPr>
                </a:tc>
              </a:tr>
              <a:tr h="467360">
                <a:tc>
                  <a:txBody>
                    <a:bodyPr/>
                    <a:lstStyle/>
                    <a:p>
                      <a:pPr algn="l"/>
                      <a:r>
                        <a:rPr sz="1400" b="0">
                          <a:solidFill>
                            <a:srgbClr val="FFFFFF"/>
                          </a:solidFill>
                          <a:latin typeface="Segoe UI"/>
                        </a:rPr>
                        <a:t>Cover Page</a:t>
                      </a:r>
                    </a:p>
                  </a:txBody>
                  <a:tcPr anchor="ctr">
                    <a:solidFill>
                      <a:srgbClr val="002050"/>
                    </a:solidFill>
                  </a:tcPr>
                </a:tc>
                <a:tc>
                  <a:txBody>
                    <a:bodyPr/>
                    <a:lstStyle/>
                    <a:p>
                      <a:pPr algn="ctr"/>
                      <a:r>
                        <a:rPr sz="1400" b="0">
                          <a:solidFill>
                            <a:srgbClr val="FFFFFF"/>
                          </a:solidFill>
                          <a:latin typeface="Segoe UI"/>
                        </a:rPr>
                        <a:t>Deployment metadata, subscription, profile</a:t>
                      </a:r>
                    </a:p>
                  </a:txBody>
                  <a:tcPr anchor="ctr">
                    <a:solidFill>
                      <a:srgbClr val="002050"/>
                    </a:solidFill>
                  </a:tcPr>
                </a:tc>
              </a:tr>
              <a:tr h="467360">
                <a:tc>
                  <a:txBody>
                    <a:bodyPr/>
                    <a:lstStyle/>
                    <a:p>
                      <a:pPr algn="l"/>
                      <a:r>
                        <a:rPr sz="1400" b="0">
                          <a:solidFill>
                            <a:srgbClr val="FFFFFF"/>
                          </a:solidFill>
                          <a:latin typeface="Segoe UI"/>
                        </a:rPr>
                        <a:t>Architecture Diagram</a:t>
                      </a:r>
                    </a:p>
                  </a:txBody>
                  <a:tcPr anchor="ctr">
                    <a:solidFill>
                      <a:srgbClr val="002050"/>
                    </a:solidFill>
                  </a:tcPr>
                </a:tc>
                <a:tc>
                  <a:txBody>
                    <a:bodyPr/>
                    <a:lstStyle/>
                    <a:p>
                      <a:pPr algn="ctr"/>
                      <a:r>
                        <a:rPr sz="1400" b="0">
                          <a:solidFill>
                            <a:srgbClr val="FFFFFF"/>
                          </a:solidFill>
                          <a:latin typeface="Segoe UI"/>
                        </a:rPr>
                        <a:t>SVG with Azure icons → PNG</a:t>
                      </a:r>
                    </a:p>
                  </a:txBody>
                  <a:tcPr anchor="ctr">
                    <a:solidFill>
                      <a:srgbClr val="002050"/>
                    </a:solidFill>
                  </a:tcPr>
                </a:tc>
              </a:tr>
              <a:tr h="467360">
                <a:tc>
                  <a:txBody>
                    <a:bodyPr/>
                    <a:lstStyle/>
                    <a:p>
                      <a:pPr algn="l"/>
                      <a:r>
                        <a:rPr sz="1400" b="0">
                          <a:solidFill>
                            <a:srgbClr val="FFFFFF"/>
                          </a:solidFill>
                          <a:latin typeface="Segoe UI"/>
                        </a:rPr>
                        <a:t>Resource Inventory</a:t>
                      </a:r>
                    </a:p>
                  </a:txBody>
                  <a:tcPr anchor="ctr">
                    <a:solidFill>
                      <a:srgbClr val="002050"/>
                    </a:solidFill>
                  </a:tcPr>
                </a:tc>
                <a:tc>
                  <a:txBody>
                    <a:bodyPr/>
                    <a:lstStyle/>
                    <a:p>
                      <a:pPr algn="ctr"/>
                      <a:r>
                        <a:rPr sz="1400" b="0">
                          <a:solidFill>
                            <a:srgbClr val="FFFFFF"/>
                          </a:solidFill>
                          <a:latin typeface="Segoe UI"/>
                        </a:rPr>
                        <a:t>Full listing from Resource Graph</a:t>
                      </a:r>
                    </a:p>
                  </a:txBody>
                  <a:tcPr anchor="ctr">
                    <a:solidFill>
                      <a:srgbClr val="002050"/>
                    </a:solidFill>
                  </a:tcPr>
                </a:tc>
              </a:tr>
              <a:tr h="467360">
                <a:tc>
                  <a:txBody>
                    <a:bodyPr/>
                    <a:lstStyle/>
                    <a:p>
                      <a:pPr algn="l"/>
                      <a:r>
                        <a:rPr sz="1400" b="0">
                          <a:solidFill>
                            <a:srgbClr val="FFFFFF"/>
                          </a:solidFill>
                          <a:latin typeface="Segoe UI"/>
                        </a:rPr>
                        <a:t>Network Topology</a:t>
                      </a:r>
                    </a:p>
                  </a:txBody>
                  <a:tcPr anchor="ctr">
                    <a:solidFill>
                      <a:srgbClr val="002050"/>
                    </a:solidFill>
                  </a:tcPr>
                </a:tc>
                <a:tc>
                  <a:txBody>
                    <a:bodyPr/>
                    <a:lstStyle/>
                    <a:p>
                      <a:pPr algn="ctr"/>
                      <a:r>
                        <a:rPr sz="1400" b="0">
                          <a:solidFill>
                            <a:srgbClr val="FFFFFF"/>
                          </a:solidFill>
                          <a:latin typeface="Segoe UI"/>
                        </a:rPr>
                        <a:t>VNets, subnets, peering, DNS</a:t>
                      </a:r>
                    </a:p>
                  </a:txBody>
                  <a:tcPr anchor="ctr">
                    <a:solidFill>
                      <a:srgbClr val="002050"/>
                    </a:solidFill>
                  </a:tcPr>
                </a:tc>
              </a:tr>
              <a:tr h="467360">
                <a:tc>
                  <a:txBody>
                    <a:bodyPr/>
                    <a:lstStyle/>
                    <a:p>
                      <a:pPr algn="l"/>
                      <a:r>
                        <a:rPr sz="1400" b="0">
                          <a:solidFill>
                            <a:srgbClr val="FFFFFF"/>
                          </a:solidFill>
                          <a:latin typeface="Segoe UI"/>
                        </a:rPr>
                        <a:t>Security Posture</a:t>
                      </a:r>
                    </a:p>
                  </a:txBody>
                  <a:tcPr anchor="ctr">
                    <a:solidFill>
                      <a:srgbClr val="002050"/>
                    </a:solidFill>
                  </a:tcPr>
                </a:tc>
                <a:tc>
                  <a:txBody>
                    <a:bodyPr/>
                    <a:lstStyle/>
                    <a:p>
                      <a:pPr algn="ctr"/>
                      <a:r>
                        <a:rPr sz="1400" b="0">
                          <a:solidFill>
                            <a:srgbClr val="FFFFFF"/>
                          </a:solidFill>
                          <a:latin typeface="Segoe UI"/>
                        </a:rPr>
                        <a:t>6 baseline rules, Defender plans, Policy</a:t>
                      </a:r>
                    </a:p>
                  </a:txBody>
                  <a:tcPr anchor="ctr">
                    <a:solidFill>
                      <a:srgbClr val="002050"/>
                    </a:solidFill>
                  </a:tcPr>
                </a:tc>
              </a:tr>
              <a:tr h="467360">
                <a:tc>
                  <a:txBody>
                    <a:bodyPr/>
                    <a:lstStyle/>
                    <a:p>
                      <a:pPr algn="l"/>
                      <a:r>
                        <a:rPr sz="1400" b="0">
                          <a:solidFill>
                            <a:srgbClr val="FFFFFF"/>
                          </a:solidFill>
                          <a:latin typeface="Segoe UI"/>
                        </a:rPr>
                        <a:t>Compliance Status</a:t>
                      </a:r>
                    </a:p>
                  </a:txBody>
                  <a:tcPr anchor="ctr">
                    <a:solidFill>
                      <a:srgbClr val="002050"/>
                    </a:solidFill>
                  </a:tcPr>
                </a:tc>
                <a:tc>
                  <a:txBody>
                    <a:bodyPr/>
                    <a:lstStyle/>
                    <a:p>
                      <a:pPr algn="ctr"/>
                      <a:r>
                        <a:rPr sz="1400" b="0">
                          <a:solidFill>
                            <a:srgbClr val="FFFFFF"/>
                          </a:solidFill>
                          <a:latin typeface="Segoe UI"/>
                        </a:rPr>
                        <a:t>Live scan results post-deploy</a:t>
                      </a:r>
                    </a:p>
                  </a:txBody>
                  <a:tcPr anchor="ctr">
                    <a:solidFill>
                      <a:srgbClr val="002050"/>
                    </a:solidFill>
                  </a:tcPr>
                </a:tc>
              </a:tr>
              <a:tr h="467360">
                <a:tc>
                  <a:txBody>
                    <a:bodyPr/>
                    <a:lstStyle/>
                    <a:p>
                      <a:pPr algn="l"/>
                      <a:r>
                        <a:rPr sz="1400" b="0">
                          <a:solidFill>
                            <a:srgbClr val="FFFFFF"/>
                          </a:solidFill>
                          <a:latin typeface="Segoe UI"/>
                        </a:rPr>
                        <a:t>Cost Governance</a:t>
                      </a:r>
                    </a:p>
                  </a:txBody>
                  <a:tcPr anchor="ctr">
                    <a:solidFill>
                      <a:srgbClr val="002050"/>
                    </a:solidFill>
                  </a:tcPr>
                </a:tc>
                <a:tc>
                  <a:txBody>
                    <a:bodyPr/>
                    <a:lstStyle/>
                    <a:p>
                      <a:pPr algn="ctr"/>
                      <a:r>
                        <a:rPr sz="1400" b="0">
                          <a:solidFill>
                            <a:srgbClr val="FFFFFF"/>
                          </a:solidFill>
                          <a:latin typeface="Segoe UI"/>
                        </a:rPr>
                        <a:t>Budgets, alerts, tag compliance</a:t>
                      </a:r>
                    </a:p>
                  </a:txBody>
                  <a:tcPr anchor="ctr">
                    <a:solidFill>
                      <a:srgbClr val="002050"/>
                    </a:solidFill>
                  </a:tcPr>
                </a:tc>
              </a:tr>
              <a:tr h="467360">
                <a:tc>
                  <a:txBody>
                    <a:bodyPr/>
                    <a:lstStyle/>
                    <a:p>
                      <a:pPr algn="l"/>
                      <a:r>
                        <a:rPr sz="1400" b="0">
                          <a:solidFill>
                            <a:srgbClr val="FFFFFF"/>
                          </a:solidFill>
                          <a:latin typeface="Segoe UI"/>
                        </a:rPr>
                        <a:t>Operational Model</a:t>
                      </a:r>
                    </a:p>
                  </a:txBody>
                  <a:tcPr anchor="ctr">
                    <a:solidFill>
                      <a:srgbClr val="002050"/>
                    </a:solidFill>
                  </a:tcPr>
                </a:tc>
                <a:tc>
                  <a:txBody>
                    <a:bodyPr/>
                    <a:lstStyle/>
                    <a:p>
                      <a:pPr algn="ctr"/>
                      <a:r>
                        <a:rPr sz="1400" b="0">
                          <a:solidFill>
                            <a:srgbClr val="FFFFFF"/>
                          </a:solidFill>
                          <a:latin typeface="Segoe UI"/>
                        </a:rPr>
                        <a:t>Monitoring, DR, change management</a:t>
                      </a:r>
                    </a:p>
                  </a:txBody>
                  <a:tcPr anchor="ctr">
                    <a:solidFill>
                      <a:srgbClr val="002050"/>
                    </a:solidFill>
                  </a:tcPr>
                </a:tc>
              </a:tr>
            </a:tbl>
          </a:graphicData>
        </a:graphic>
      </p:graphicFrame>
      <p:sp>
        <p:nvSpPr>
          <p:cNvPr id="5" name="TextBox 4"/>
          <p:cNvSpPr txBox="1"/>
          <p:nvPr/>
        </p:nvSpPr>
        <p:spPr>
          <a:xfrm>
            <a:off x="822960" y="5532120"/>
            <a:ext cx="10424160" cy="411480"/>
          </a:xfrm>
          <a:prstGeom prst="rect">
            <a:avLst/>
          </a:prstGeom>
          <a:noFill/>
        </p:spPr>
        <p:txBody>
          <a:bodyPr wrap="square">
            <a:spAutoFit/>
          </a:bodyPr>
          <a:lstStyle/>
          <a:p>
            <a:pPr algn="ctr"/>
            <a:r>
              <a:rPr sz="1800" b="0">
                <a:solidFill>
                  <a:srgbClr val="FFFFFF"/>
                </a:solidFill>
                <a:latin typeface="Segoe UI"/>
              </a:rPr>
              <a:t>Generated automatically in the Verify stage — zero manual effort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In Practice — From Prompt to Production</a:t>
            </a:r>
          </a:p>
        </p:txBody>
      </p:sp>
      <p:sp>
        <p:nvSpPr>
          <p:cNvPr id="4" name="TextBox 3"/>
          <p:cNvSpPr txBox="1"/>
          <p:nvPr/>
        </p:nvSpPr>
        <p:spPr>
          <a:xfrm>
            <a:off x="822960" y="1325880"/>
            <a:ext cx="457200" cy="4846320"/>
          </a:xfrm>
          <a:prstGeom prst="rect">
            <a:avLst/>
          </a:prstGeom>
          <a:noFill/>
        </p:spPr>
        <p:txBody>
          <a:bodyPr wrap="none">
            <a:spAutoFit/>
          </a:bodyPr>
          <a:lstStyle/>
          <a:p>
            <a:pPr algn="r">
              <a:spcAft>
                <a:spcPts val="1200"/>
              </a:spcAft>
            </a:pPr>
            <a:r>
              <a:rPr sz="2000" b="1">
                <a:solidFill>
                  <a:srgbClr val="0078D4"/>
                </a:solidFill>
                <a:latin typeface="Segoe UI"/>
              </a:rPr>
              <a:t>1.</a:t>
            </a:r>
          </a:p>
          <a:p>
            <a:pPr algn="r">
              <a:spcAft>
                <a:spcPts val="1200"/>
              </a:spcAft>
            </a:pPr>
            <a:r>
              <a:rPr sz="2000" b="1">
                <a:solidFill>
                  <a:srgbClr val="0078D4"/>
                </a:solidFill>
                <a:latin typeface="Segoe UI"/>
              </a:rPr>
              <a:t>2.</a:t>
            </a:r>
          </a:p>
          <a:p>
            <a:pPr algn="r">
              <a:spcAft>
                <a:spcPts val="1200"/>
              </a:spcAft>
            </a:pPr>
            <a:r>
              <a:rPr sz="2000" b="1">
                <a:solidFill>
                  <a:srgbClr val="0078D4"/>
                </a:solidFill>
                <a:latin typeface="Segoe UI"/>
              </a:rPr>
              <a:t>3.</a:t>
            </a:r>
          </a:p>
          <a:p>
            <a:pPr algn="r">
              <a:spcAft>
                <a:spcPts val="1200"/>
              </a:spcAft>
            </a:pPr>
            <a:r>
              <a:rPr sz="2000" b="1">
                <a:solidFill>
                  <a:srgbClr val="0078D4"/>
                </a:solidFill>
                <a:latin typeface="Segoe UI"/>
              </a:rPr>
              <a:t>4.</a:t>
            </a:r>
          </a:p>
          <a:p>
            <a:pPr algn="r">
              <a:spcAft>
                <a:spcPts val="1200"/>
              </a:spcAft>
            </a:pPr>
            <a:r>
              <a:rPr sz="2000" b="1">
                <a:solidFill>
                  <a:srgbClr val="0078D4"/>
                </a:solidFill>
                <a:latin typeface="Segoe UI"/>
              </a:rPr>
              <a:t>5.</a:t>
            </a:r>
          </a:p>
          <a:p>
            <a:pPr algn="r">
              <a:spcAft>
                <a:spcPts val="1200"/>
              </a:spcAft>
            </a:pPr>
            <a:r>
              <a:rPr sz="2000" b="1">
                <a:solidFill>
                  <a:srgbClr val="0078D4"/>
                </a:solidFill>
                <a:latin typeface="Segoe UI"/>
              </a:rPr>
              <a:t>6.</a:t>
            </a:r>
          </a:p>
          <a:p>
            <a:pPr algn="r">
              <a:spcAft>
                <a:spcPts val="1200"/>
              </a:spcAft>
            </a:pPr>
            <a:r>
              <a:rPr sz="2000" b="1">
                <a:solidFill>
                  <a:srgbClr val="0078D4"/>
                </a:solidFill>
                <a:latin typeface="Segoe UI"/>
              </a:rPr>
              <a:t>7.</a:t>
            </a:r>
          </a:p>
          <a:p>
            <a:pPr algn="r">
              <a:spcAft>
                <a:spcPts val="1200"/>
              </a:spcAft>
            </a:pPr>
            <a:r>
              <a:rPr sz="2000" b="1">
                <a:solidFill>
                  <a:srgbClr val="0078D4"/>
                </a:solidFill>
                <a:latin typeface="Segoe UI"/>
              </a:rPr>
              <a:t>8.</a:t>
            </a:r>
          </a:p>
          <a:p>
            <a:pPr algn="r">
              <a:spcAft>
                <a:spcPts val="1200"/>
              </a:spcAft>
            </a:pPr>
            <a:r>
              <a:rPr sz="2000" b="1">
                <a:solidFill>
                  <a:srgbClr val="0078D4"/>
                </a:solidFill>
                <a:latin typeface="Segoe UI"/>
              </a:rPr>
              <a:t>9.</a:t>
            </a:r>
          </a:p>
        </p:txBody>
      </p:sp>
      <p:sp>
        <p:nvSpPr>
          <p:cNvPr id="5" name="TextBox 4"/>
          <p:cNvSpPr txBox="1"/>
          <p:nvPr/>
        </p:nvSpPr>
        <p:spPr>
          <a:xfrm>
            <a:off x="1371600" y="1325880"/>
            <a:ext cx="9784080" cy="4846320"/>
          </a:xfrm>
          <a:prstGeom prst="rect">
            <a:avLst/>
          </a:prstGeom>
          <a:noFill/>
        </p:spPr>
        <p:txBody>
          <a:bodyPr wrap="square">
            <a:spAutoFit/>
          </a:bodyPr>
          <a:lstStyle/>
          <a:p>
            <a:pPr>
              <a:lnSpc>
                <a:spcPct val="110000"/>
              </a:lnSpc>
              <a:spcAft>
                <a:spcPts val="1200"/>
              </a:spcAft>
            </a:pPr>
            <a:r>
              <a:rPr sz="1800" b="0">
                <a:solidFill>
                  <a:srgbClr val="FFFFFF"/>
                </a:solidFill>
                <a:latin typeface="Segoe UI"/>
              </a:rPr>
              <a:t>User: 'Deploy a hub-spoke network with Azure Firewall for a SOC2-compliant workload'</a:t>
            </a:r>
          </a:p>
          <a:p>
            <a:pPr>
              <a:lnSpc>
                <a:spcPct val="110000"/>
              </a:lnSpc>
              <a:spcAft>
                <a:spcPts val="1200"/>
              </a:spcAft>
            </a:pPr>
            <a:r>
              <a:rPr sz="1800" b="0">
                <a:solidFill>
                  <a:srgbClr val="FFFFFF"/>
                </a:solidFill>
                <a:latin typeface="Segoe UI"/>
              </a:rPr>
              <a:t>→ Scribe captures requirements (8 CAF areas)</a:t>
            </a:r>
          </a:p>
          <a:p>
            <a:pPr>
              <a:lnSpc>
                <a:spcPct val="110000"/>
              </a:lnSpc>
              <a:spcAft>
                <a:spcPts val="1200"/>
              </a:spcAft>
            </a:pPr>
            <a:r>
              <a:rPr sz="1800" b="0">
                <a:solidFill>
                  <a:srgbClr val="FFFFFF"/>
                </a:solidFill>
                <a:latin typeface="Segoe UI"/>
              </a:rPr>
              <a:t>→ Oracle assesses WAF alignment + estimates cost</a:t>
            </a:r>
          </a:p>
          <a:p>
            <a:pPr>
              <a:lnSpc>
                <a:spcPct val="110000"/>
              </a:lnSpc>
              <a:spcAft>
                <a:spcPts val="1200"/>
              </a:spcAft>
            </a:pPr>
            <a:r>
              <a:rPr sz="1800" b="0">
                <a:solidFill>
                  <a:srgbClr val="FFFFFF"/>
                </a:solidFill>
                <a:latin typeface="Segoe UI"/>
              </a:rPr>
              <a:t>→ Warden discovers existing policies, adds security baseline</a:t>
            </a:r>
          </a:p>
          <a:p>
            <a:pPr>
              <a:lnSpc>
                <a:spcPct val="110000"/>
              </a:lnSpc>
              <a:spcAft>
                <a:spcPts val="1200"/>
              </a:spcAft>
            </a:pPr>
            <a:r>
              <a:rPr sz="1800" b="0">
                <a:solidFill>
                  <a:srgbClr val="FFFFFF"/>
                </a:solidFill>
                <a:latin typeface="Segoe UI"/>
              </a:rPr>
              <a:t>→ Strategist selects AVM modules, plans dependencies</a:t>
            </a:r>
          </a:p>
          <a:p>
            <a:pPr>
              <a:lnSpc>
                <a:spcPct val="110000"/>
              </a:lnSpc>
              <a:spcAft>
                <a:spcPts val="1200"/>
              </a:spcAft>
            </a:pPr>
            <a:r>
              <a:rPr sz="1800" b="0">
                <a:solidFill>
                  <a:srgbClr val="FFFFFF"/>
                </a:solidFill>
                <a:latin typeface="Segoe UI"/>
              </a:rPr>
              <a:t>→ Forge generates Bicep/Terraform with full compliance</a:t>
            </a:r>
          </a:p>
          <a:p>
            <a:pPr>
              <a:lnSpc>
                <a:spcPct val="110000"/>
              </a:lnSpc>
              <a:spcAft>
                <a:spcPts val="1200"/>
              </a:spcAft>
            </a:pPr>
            <a:r>
              <a:rPr sz="1800" b="0">
                <a:solidFill>
                  <a:srgbClr val="FFFFFF"/>
                </a:solidFill>
                <a:latin typeface="Segoe UI"/>
              </a:rPr>
              <a:t>→ Envoy deploys with what-if preview → User approves</a:t>
            </a:r>
          </a:p>
          <a:p>
            <a:pPr>
              <a:lnSpc>
                <a:spcPct val="110000"/>
              </a:lnSpc>
              <a:spcAft>
                <a:spcPts val="1200"/>
              </a:spcAft>
            </a:pPr>
            <a:r>
              <a:rPr sz="1800" b="0">
                <a:solidFill>
                  <a:srgbClr val="FFFFFF"/>
                </a:solidFill>
                <a:latin typeface="Segoe UI"/>
              </a:rPr>
              <a:t>→ Chronicler generates TDD + runbooks</a:t>
            </a:r>
          </a:p>
          <a:p>
            <a:pPr>
              <a:lnSpc>
                <a:spcPct val="110000"/>
              </a:lnSpc>
              <a:spcAft>
                <a:spcPts val="1200"/>
              </a:spcAft>
            </a:pPr>
            <a:r>
              <a:rPr sz="1800" b="0">
                <a:solidFill>
                  <a:srgbClr val="FFFFFF"/>
                </a:solidFill>
                <a:latin typeface="Segoe UI"/>
              </a:rPr>
              <a:t>→ Sentinel begins continuous monitoring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1B44"/>
        </a:solidFill>
        <a:effectLst/>
      </p:bgPr>
    </p:bg>
    <p:spTree>
      <p:nvGrpSpPr>
        <p:cNvPr id="1" name=""/>
        <p:cNvGrpSpPr/>
        <p:nvPr/>
      </p:nvGrpSpPr>
      <p:grpSpPr/>
      <p:sp>
        <p:nvSpPr>
          <p:cNvPr id="2" name="Rectangle 1"/>
          <p:cNvSpPr/>
          <p:nvPr/>
        </p:nvSpPr>
        <p:spPr>
          <a:xfrm>
            <a:off x="0" y="6711696"/>
            <a:ext cx="12191695" cy="14630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64240" cy="640080"/>
          </a:xfrm>
          <a:prstGeom prst="rect">
            <a:avLst/>
          </a:prstGeom>
          <a:noFill/>
        </p:spPr>
        <p:txBody>
          <a:bodyPr wrap="none">
            <a:spAutoFit/>
          </a:bodyPr>
          <a:lstStyle/>
          <a:p>
            <a:pPr algn="l"/>
            <a:r>
              <a:rPr sz="3400" b="1">
                <a:solidFill>
                  <a:srgbClr val="FFFFFF"/>
                </a:solidFill>
                <a:latin typeface="Segoe UI"/>
              </a:rPr>
              <a:t>Get Started</a:t>
            </a:r>
          </a:p>
        </p:txBody>
      </p:sp>
      <p:sp>
        <p:nvSpPr>
          <p:cNvPr id="4" name="TextBox 3"/>
          <p:cNvSpPr txBox="1"/>
          <p:nvPr/>
        </p:nvSpPr>
        <p:spPr>
          <a:xfrm>
            <a:off x="822960" y="1325880"/>
            <a:ext cx="10424160" cy="3566160"/>
          </a:xfrm>
          <a:prstGeom prst="rect">
            <a:avLst/>
          </a:prstGeom>
          <a:noFill/>
        </p:spPr>
        <p:txBody>
          <a:bodyPr wrap="square" lIns="274320" rIns="0">
            <a:spAutoFit/>
          </a:bodyPr>
          <a:lstStyle/>
          <a:p>
            <a:pPr>
              <a:lnSpc>
                <a:spcPct val="115000"/>
              </a:lnSpc>
              <a:spcAft>
                <a:spcPts val="1000"/>
              </a:spcAft>
              <a:buChar char="•"/>
              <a:buSzPct val="100000"/>
              <a:buClr>
                <a:srgbClr val="FFFFFF"/>
              </a:buClr>
            </a:pPr>
            <a:r>
              <a:rPr sz="1900" b="0">
                <a:solidFill>
                  <a:srgbClr val="FFFFFF"/>
                </a:solidFill>
                <a:latin typeface="Segoe UI"/>
              </a:rPr>
              <a:t>Open source — available on GitHub</a:t>
            </a:r>
          </a:p>
          <a:p>
            <a:pPr>
              <a:lnSpc>
                <a:spcPct val="115000"/>
              </a:lnSpc>
              <a:spcAft>
                <a:spcPts val="1000"/>
              </a:spcAft>
              <a:buChar char="•"/>
              <a:buSzPct val="100000"/>
              <a:buClr>
                <a:srgbClr val="FFFFFF"/>
              </a:buClr>
            </a:pPr>
            <a:r>
              <a:rPr sz="1900" b="0">
                <a:solidFill>
                  <a:srgbClr val="FFFFFF"/>
                </a:solidFill>
                <a:latin typeface="Segoe UI"/>
              </a:rPr>
              <a:t>Flexible — Bicep or Terraform, greenfield or brownfield</a:t>
            </a:r>
          </a:p>
          <a:p>
            <a:pPr>
              <a:lnSpc>
                <a:spcPct val="115000"/>
              </a:lnSpc>
              <a:spcAft>
                <a:spcPts val="1000"/>
              </a:spcAft>
              <a:buChar char="•"/>
              <a:buSzPct val="100000"/>
              <a:buClr>
                <a:srgbClr val="FFFFFF"/>
              </a:buClr>
            </a:pPr>
            <a:r>
              <a:rPr sz="1900" b="0">
                <a:solidFill>
                  <a:srgbClr val="FFFFFF"/>
                </a:solidFill>
                <a:latin typeface="Segoe UI"/>
              </a:rPr>
              <a:t>Extensible — 60+ skills, custom MCP servers, modular agents</a:t>
            </a:r>
          </a:p>
          <a:p>
            <a:pPr>
              <a:lnSpc>
                <a:spcPct val="115000"/>
              </a:lnSpc>
              <a:spcAft>
                <a:spcPts val="1000"/>
              </a:spcAft>
              <a:buChar char="•"/>
              <a:buSzPct val="100000"/>
              <a:buClr>
                <a:srgbClr val="FFFFFF"/>
              </a:buClr>
            </a:pPr>
            <a:r>
              <a:rPr sz="1900" b="0">
                <a:solidFill>
                  <a:srgbClr val="FFFFFF"/>
                </a:solidFill>
                <a:latin typeface="Segoe UI"/>
              </a:rPr>
              <a:t>Enterprise-ready — approval gates, OIDC auth, security baseline</a:t>
            </a:r>
          </a:p>
          <a:p>
            <a:pPr>
              <a:lnSpc>
                <a:spcPct val="115000"/>
              </a:lnSpc>
              <a:spcAft>
                <a:spcPts val="1000"/>
              </a:spcAft>
              <a:buChar char="•"/>
              <a:buSzPct val="100000"/>
              <a:buClr>
                <a:srgbClr val="FFFFFF"/>
              </a:buClr>
            </a:pPr>
            <a:r>
              <a:rPr sz="1900" b="0">
                <a:solidFill>
                  <a:srgbClr val="FFFFFF"/>
                </a:solidFill>
                <a:latin typeface="Segoe UI"/>
              </a:rPr>
              <a:t>Living system — continuous monitoring + auto-remediation</a:t>
            </a:r>
          </a:p>
        </p:txBody>
      </p:sp>
      <p:sp>
        <p:nvSpPr>
          <p:cNvPr id="5" name="TextBox 4"/>
          <p:cNvSpPr txBox="1"/>
          <p:nvPr/>
        </p:nvSpPr>
        <p:spPr>
          <a:xfrm>
            <a:off x="914400" y="4892040"/>
            <a:ext cx="10058400" cy="320040"/>
          </a:xfrm>
          <a:prstGeom prst="rect">
            <a:avLst/>
          </a:prstGeom>
          <a:noFill/>
        </p:spPr>
        <p:txBody>
          <a:bodyPr wrap="square">
            <a:spAutoFit/>
          </a:bodyPr>
          <a:lstStyle/>
          <a:p>
            <a:pPr algn="ctr"/>
            <a:r>
              <a:rPr sz="1800" b="1">
                <a:solidFill>
                  <a:srgbClr val="FFFFFF"/>
                </a:solidFill>
                <a:latin typeface="Segoe UI"/>
              </a:rPr>
              <a:t>Try the brownfield assessment on your existing environment</a:t>
            </a:r>
          </a:p>
        </p:txBody>
      </p:sp>
      <p:sp>
        <p:nvSpPr>
          <p:cNvPr id="6" name="TextBox 5"/>
          <p:cNvSpPr txBox="1"/>
          <p:nvPr/>
        </p:nvSpPr>
        <p:spPr>
          <a:xfrm>
            <a:off x="914400" y="5303520"/>
            <a:ext cx="10058400" cy="320040"/>
          </a:xfrm>
          <a:prstGeom prst="rect">
            <a:avLst/>
          </a:prstGeom>
          <a:noFill/>
        </p:spPr>
        <p:txBody>
          <a:bodyPr wrap="square">
            <a:spAutoFit/>
          </a:bodyPr>
          <a:lstStyle/>
          <a:p>
            <a:pPr algn="ctr"/>
            <a:r>
              <a:rPr sz="1800" b="1">
                <a:solidFill>
                  <a:srgbClr val="FFFFFF"/>
                </a:solidFill>
                <a:latin typeface="Segoe UI"/>
              </a:rPr>
              <a:t>Run a pilot Landing Zone deployment</a:t>
            </a:r>
          </a:p>
        </p:txBody>
      </p:sp>
      <p:sp>
        <p:nvSpPr>
          <p:cNvPr id="7" name="TextBox 6"/>
          <p:cNvSpPr txBox="1"/>
          <p:nvPr/>
        </p:nvSpPr>
        <p:spPr>
          <a:xfrm>
            <a:off x="914400" y="5715000"/>
            <a:ext cx="10058400" cy="320040"/>
          </a:xfrm>
          <a:prstGeom prst="rect">
            <a:avLst/>
          </a:prstGeom>
          <a:noFill/>
        </p:spPr>
        <p:txBody>
          <a:bodyPr wrap="square">
            <a:spAutoFit/>
          </a:bodyPr>
          <a:lstStyle/>
          <a:p>
            <a:pPr algn="ctr"/>
            <a:r>
              <a:rPr sz="1800" b="1">
                <a:solidFill>
                  <a:srgbClr val="FFFFFF"/>
                </a:solidFill>
                <a:latin typeface="Segoe UI"/>
              </a:rPr>
              <a:t>Extend with custom skills for your organization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