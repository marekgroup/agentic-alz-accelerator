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78D4"/>
        </a:solidFill>
        <a:effectLst/>
      </p:bgPr>
    </p:bg>
    <p:spTree>
      <p:nvGrpSpPr>
        <p:cNvPr id="1" name=""/>
        <p:cNvGrpSpPr/>
        <p:nvPr/>
      </p:nvGrpSpPr>
      <p:grpSpPr/>
      <p:sp>
        <p:nvSpPr>
          <p:cNvPr id="2" name="TextBox 1"/>
          <p:cNvSpPr txBox="1"/>
          <p:nvPr/>
        </p:nvSpPr>
        <p:spPr>
          <a:xfrm>
            <a:off x="914400" y="1554480"/>
            <a:ext cx="10058400" cy="1280160"/>
          </a:xfrm>
          <a:prstGeom prst="rect">
            <a:avLst/>
          </a:prstGeom>
          <a:noFill/>
        </p:spPr>
        <p:txBody>
          <a:bodyPr wrap="square">
            <a:spAutoFit/>
          </a:bodyPr>
          <a:lstStyle/>
          <a:p>
            <a:pPr algn="l">
              <a:defRPr sz="3000" b="1">
                <a:solidFill>
                  <a:srgbClr val="FFFFFF"/>
                </a:solidFill>
              </a:defRPr>
            </a:pPr>
            <a:r>
              <a:t>Well-Architected Reliability Assessment</a:t>
            </a:r>
          </a:p>
          <a:p>
            <a:pPr algn="l">
              <a:spcBef>
                <a:spcPts val="800"/>
              </a:spcBef>
              <a:defRPr sz="2000">
                <a:solidFill>
                  <a:srgbClr val="FFFFFF"/>
                </a:solidFill>
              </a:defRPr>
            </a:pPr>
            <a:r>
              <a:t>Agentic ALZ Accelerator — Automated Assessment</a:t>
            </a:r>
          </a:p>
        </p:txBody>
      </p:sp>
      <p:sp>
        <p:nvSpPr>
          <p:cNvPr id="3" name="TextBox 2"/>
          <p:cNvSpPr txBox="1"/>
          <p:nvPr/>
        </p:nvSpPr>
        <p:spPr>
          <a:xfrm>
            <a:off x="914400" y="3749039"/>
            <a:ext cx="10058400" cy="1188720"/>
          </a:xfrm>
          <a:prstGeom prst="rect">
            <a:avLst/>
          </a:prstGeom>
          <a:noFill/>
        </p:spPr>
        <p:txBody>
          <a:bodyPr wrap="square">
            <a:spAutoFit/>
          </a:bodyPr>
          <a:lstStyle/>
          <a:p>
            <a:pPr algn="l">
              <a:defRPr sz="2000">
                <a:solidFill>
                  <a:srgbClr val="FFFFFF"/>
                </a:solidFill>
              </a:defRPr>
            </a:pPr>
            <a:r>
              <a:t>Scope: mrg</a:t>
            </a:r>
          </a:p>
          <a:p>
            <a:pPr algn="l">
              <a:defRPr sz="1600">
                <a:solidFill>
                  <a:srgbClr val="FFFFFF"/>
                </a:solidFill>
              </a:defRPr>
            </a:pPr>
            <a:r>
              <a:t>Generated: 2026-05-27 15:52 UTC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972800" cy="731520"/>
          </a:xfrm>
          <a:prstGeom prst="rect">
            <a:avLst/>
          </a:prstGeom>
          <a:noFill/>
        </p:spPr>
        <p:txBody>
          <a:bodyPr wrap="none">
            <a:spAutoFit/>
          </a:bodyPr>
          <a:lstStyle/>
          <a:p>
            <a:pPr algn="l">
              <a:defRPr sz="2800" b="1">
                <a:solidFill>
                  <a:srgbClr val="242424"/>
                </a:solidFill>
              </a:defRPr>
            </a:pPr>
            <a:r>
              <a:t>Assessment Overview</a:t>
            </a:r>
          </a:p>
        </p:txBody>
      </p:sp>
      <p:sp>
        <p:nvSpPr>
          <p:cNvPr id="3" name="TextBox 2"/>
          <p:cNvSpPr txBox="1"/>
          <p:nvPr/>
        </p:nvSpPr>
        <p:spPr>
          <a:xfrm>
            <a:off x="8686800" y="6400800"/>
            <a:ext cx="2926080" cy="228600"/>
          </a:xfrm>
          <a:prstGeom prst="rect">
            <a:avLst/>
          </a:prstGeom>
          <a:noFill/>
        </p:spPr>
        <p:txBody>
          <a:bodyPr wrap="none">
            <a:spAutoFit/>
          </a:bodyPr>
          <a:lstStyle/>
          <a:p>
            <a:pPr algn="r">
              <a:defRPr sz="800">
                <a:solidFill>
                  <a:srgbClr val="999999"/>
                </a:solidFill>
                <a:latin typeface="Segoe UI"/>
              </a:defRPr>
            </a:pPr>
            <a:r>
              <a:t>AUTOMATICALLY GENERATED — Please Review</a:t>
            </a:r>
          </a:p>
        </p:txBody>
      </p:sp>
      <p:sp>
        <p:nvSpPr>
          <p:cNvPr id="4" name="TextBox 3"/>
          <p:cNvSpPr txBox="1"/>
          <p:nvPr/>
        </p:nvSpPr>
        <p:spPr>
          <a:xfrm>
            <a:off x="731520" y="1371600"/>
            <a:ext cx="10607040" cy="4389120"/>
          </a:xfrm>
          <a:prstGeom prst="rect">
            <a:avLst/>
          </a:prstGeom>
          <a:noFill/>
        </p:spPr>
        <p:txBody>
          <a:bodyPr wrap="square">
            <a:spAutoFit/>
          </a:bodyPr>
          <a:lstStyle/>
          <a:p>
            <a:pPr>
              <a:spcAft>
                <a:spcPts val="1200"/>
              </a:spcAft>
              <a:defRPr sz="1800">
                <a:solidFill>
                  <a:srgbClr val="242424"/>
                </a:solidFill>
              </a:defRPr>
            </a:pPr>
            <a:r>
              <a:t>Scope: mrg</a:t>
            </a:r>
          </a:p>
          <a:p>
            <a:pPr>
              <a:spcAft>
                <a:spcPts val="1200"/>
              </a:spcAft>
              <a:defRPr sz="1800">
                <a:solidFill>
                  <a:srgbClr val="242424"/>
                </a:solidFill>
              </a:defRPr>
            </a:pPr>
            <a:r>
              <a:t>Assessment Date: 2026-05-27 15:52 UTC</a:t>
            </a:r>
          </a:p>
          <a:p>
            <a:pPr>
              <a:spcAft>
                <a:spcPts val="1200"/>
              </a:spcAft>
              <a:defRPr sz="1800">
                <a:solidFill>
                  <a:srgbClr val="242424"/>
                </a:solidFill>
              </a:defRPr>
            </a:pPr>
            <a:r>
              <a:t>Methodology: Well-Architected Framework — 5 Pillar Assessment</a:t>
            </a:r>
          </a:p>
          <a:p>
            <a:pPr>
              <a:spcAft>
                <a:spcPts val="1200"/>
              </a:spcAft>
              <a:defRPr sz="1800">
                <a:solidFill>
                  <a:srgbClr val="242424"/>
                </a:solidFill>
              </a:defRPr>
            </a:pPr>
            <a:r>
              <a:t>WAF Pillars: Security, Reliability, Cost Optimization, Operational Excellence, Performance Efficiency</a:t>
            </a:r>
          </a:p>
          <a:p>
            <a:pPr>
              <a:spcAft>
                <a:spcPts val="1200"/>
              </a:spcAft>
              <a:defRPr sz="1800">
                <a:solidFill>
                  <a:srgbClr val="242424"/>
                </a:solidFill>
              </a:defRPr>
            </a:pPr>
            <a:r>
              <a:t>Checks Executed: 280</a:t>
            </a:r>
          </a:p>
          <a:p>
            <a:pPr>
              <a:spcAft>
                <a:spcPts val="1200"/>
              </a:spcAft>
              <a:defRPr sz="1800">
                <a:solidFill>
                  <a:srgbClr val="242424"/>
                </a:solidFill>
              </a:defRPr>
            </a:pPr>
            <a:r>
              <a:t>Checks Passed: 236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972800" cy="731520"/>
          </a:xfrm>
          <a:prstGeom prst="rect">
            <a:avLst/>
          </a:prstGeom>
          <a:noFill/>
        </p:spPr>
        <p:txBody>
          <a:bodyPr wrap="none">
            <a:spAutoFit/>
          </a:bodyPr>
          <a:lstStyle/>
          <a:p>
            <a:pPr algn="l">
              <a:defRPr sz="2800" b="1">
                <a:solidFill>
                  <a:srgbClr val="242424"/>
                </a:solidFill>
              </a:defRPr>
            </a:pPr>
            <a:r>
              <a:t>Executive Summary</a:t>
            </a:r>
          </a:p>
        </p:txBody>
      </p:sp>
      <p:sp>
        <p:nvSpPr>
          <p:cNvPr id="3" name="TextBox 2"/>
          <p:cNvSpPr txBox="1"/>
          <p:nvPr/>
        </p:nvSpPr>
        <p:spPr>
          <a:xfrm>
            <a:off x="8686800" y="6400800"/>
            <a:ext cx="2926080" cy="228600"/>
          </a:xfrm>
          <a:prstGeom prst="rect">
            <a:avLst/>
          </a:prstGeom>
          <a:noFill/>
        </p:spPr>
        <p:txBody>
          <a:bodyPr wrap="none">
            <a:spAutoFit/>
          </a:bodyPr>
          <a:lstStyle/>
          <a:p>
            <a:pPr algn="r">
              <a:defRPr sz="800">
                <a:solidFill>
                  <a:srgbClr val="999999"/>
                </a:solidFill>
                <a:latin typeface="Segoe UI"/>
              </a:defRPr>
            </a:pPr>
            <a:r>
              <a:t>AUTOMATICALLY GENERATED — Please Review</a:t>
            </a:r>
          </a:p>
        </p:txBody>
      </p:sp>
      <p:sp>
        <p:nvSpPr>
          <p:cNvPr id="4" name="TextBox 3"/>
          <p:cNvSpPr txBox="1"/>
          <p:nvPr/>
        </p:nvSpPr>
        <p:spPr>
          <a:xfrm>
            <a:off x="731520" y="1371600"/>
            <a:ext cx="3657600" cy="2194560"/>
          </a:xfrm>
          <a:prstGeom prst="rect">
            <a:avLst/>
          </a:prstGeom>
          <a:noFill/>
        </p:spPr>
        <p:txBody>
          <a:bodyPr wrap="square">
            <a:spAutoFit/>
          </a:bodyPr>
          <a:lstStyle/>
          <a:p>
            <a:pPr>
              <a:defRPr sz="1600" b="1">
                <a:solidFill>
                  <a:srgbClr val="242424"/>
                </a:solidFill>
              </a:defRPr>
            </a:pPr>
            <a:r>
              <a:t>Overall Score</a:t>
            </a:r>
          </a:p>
          <a:p>
            <a:pPr>
              <a:defRPr sz="4400" b="1">
                <a:solidFill>
                  <a:srgbClr val="CC0000"/>
                </a:solidFill>
              </a:defRPr>
            </a:pPr>
            <a:r>
              <a:t>42/100</a:t>
            </a:r>
          </a:p>
          <a:p>
            <a:pPr>
              <a:spcBef>
                <a:spcPts val="400"/>
              </a:spcBef>
              <a:defRPr sz="1200">
                <a:solidFill>
                  <a:srgbClr val="242424"/>
                </a:solidFill>
              </a:defRPr>
            </a:pPr>
            <a:r>
              <a:t>🔴 1 Critical | 🟠 15 High | 🟡 21 Medium | 🔵 7 Low</a:t>
            </a:r>
          </a:p>
        </p:txBody>
      </p:sp>
      <p:sp>
        <p:nvSpPr>
          <p:cNvPr id="5" name="TextBox 4"/>
          <p:cNvSpPr txBox="1"/>
          <p:nvPr/>
        </p:nvSpPr>
        <p:spPr>
          <a:xfrm>
            <a:off x="731520" y="3657600"/>
            <a:ext cx="3474720" cy="1645920"/>
          </a:xfrm>
          <a:prstGeom prst="rect">
            <a:avLst/>
          </a:prstGeom>
          <a:noFill/>
        </p:spPr>
        <p:txBody>
          <a:bodyPr wrap="square">
            <a:spAutoFit/>
          </a:bodyPr>
          <a:lstStyle/>
          <a:p>
            <a:pPr>
              <a:spcAft>
                <a:spcPts val="400"/>
              </a:spcAft>
              <a:defRPr sz="1400">
                <a:solidFill>
                  <a:srgbClr val="242424"/>
                </a:solidFill>
              </a:defRPr>
            </a:pPr>
            <a:r>
              <a:t>Resources: 91</a:t>
            </a:r>
          </a:p>
          <a:p>
            <a:pPr>
              <a:spcAft>
                <a:spcPts val="400"/>
              </a:spcAft>
              <a:defRPr sz="1400">
                <a:solidFill>
                  <a:srgbClr val="242424"/>
                </a:solidFill>
              </a:defRPr>
            </a:pPr>
            <a:r>
              <a:t>Checks Run: 280</a:t>
            </a:r>
          </a:p>
          <a:p>
            <a:pPr>
              <a:spcAft>
                <a:spcPts val="400"/>
              </a:spcAft>
              <a:defRPr sz="1400">
                <a:solidFill>
                  <a:srgbClr val="242424"/>
                </a:solidFill>
              </a:defRPr>
            </a:pPr>
            <a:r>
              <a:t>Checks Passed: 236</a:t>
            </a:r>
          </a:p>
          <a:p>
            <a:pPr>
              <a:spcAft>
                <a:spcPts val="400"/>
              </a:spcAft>
              <a:defRPr sz="1400">
                <a:solidFill>
                  <a:srgbClr val="242424"/>
                </a:solidFill>
              </a:defRPr>
            </a:pPr>
            <a:r>
              <a:t>Findings: 44</a:t>
            </a:r>
          </a:p>
        </p:txBody>
      </p:sp>
      <p:graphicFrame>
        <p:nvGraphicFramePr>
          <p:cNvPr id="6" name="Table 5"/>
          <p:cNvGraphicFramePr>
            <a:graphicFrameLocks noGrp="1"/>
          </p:cNvGraphicFramePr>
          <p:nvPr/>
        </p:nvGraphicFramePr>
        <p:xfrm>
          <a:off x="4663440" y="1371600"/>
          <a:ext cx="6858000" cy="2194560"/>
        </p:xfrm>
        <a:graphic>
          <a:graphicData uri="http://schemas.openxmlformats.org/drawingml/2006/table">
            <a:tbl>
              <a:tblPr firstRow="1" bandRow="1">
                <a:tableStyleId>{5C22544A-7EE6-4342-B048-85BDC9FD1C3A}</a:tableStyleId>
              </a:tblPr>
              <a:tblGrid>
                <a:gridCol w="2743200"/>
                <a:gridCol w="1371600"/>
                <a:gridCol w="1371600"/>
                <a:gridCol w="1371600"/>
              </a:tblGrid>
              <a:tr h="365760">
                <a:tc>
                  <a:txBody>
                    <a:bodyPr/>
                    <a:lstStyle/>
                    <a:p>
                      <a:pPr algn="l">
                        <a:defRPr sz="1200" b="1">
                          <a:solidFill>
                            <a:srgbClr val="FFFFFF"/>
                          </a:solidFill>
                        </a:defRPr>
                      </a:pPr>
                      <a:r>
                        <a:t>Pillar</a:t>
                      </a:r>
                    </a:p>
                  </a:txBody>
                  <a:tcPr>
                    <a:solidFill>
                      <a:srgbClr val="0078D4"/>
                    </a:solidFill>
                  </a:tcPr>
                </a:tc>
                <a:tc>
                  <a:txBody>
                    <a:bodyPr/>
                    <a:lstStyle/>
                    <a:p>
                      <a:pPr algn="l">
                        <a:defRPr sz="1200" b="1">
                          <a:solidFill>
                            <a:srgbClr val="FFFFFF"/>
                          </a:solidFill>
                        </a:defRPr>
                      </a:pPr>
                      <a:r>
                        <a:t>Score</a:t>
                      </a:r>
                    </a:p>
                  </a:txBody>
                  <a:tcPr>
                    <a:solidFill>
                      <a:srgbClr val="0078D4"/>
                    </a:solidFill>
                  </a:tcPr>
                </a:tc>
                <a:tc>
                  <a:txBody>
                    <a:bodyPr/>
                    <a:lstStyle/>
                    <a:p>
                      <a:pPr algn="l">
                        <a:defRPr sz="1200" b="1">
                          <a:solidFill>
                            <a:srgbClr val="FFFFFF"/>
                          </a:solidFill>
                        </a:defRPr>
                      </a:pPr>
                      <a:r>
                        <a:t>Findings</a:t>
                      </a:r>
                    </a:p>
                  </a:txBody>
                  <a:tcPr>
                    <a:solidFill>
                      <a:srgbClr val="0078D4"/>
                    </a:solidFill>
                  </a:tcPr>
                </a:tc>
                <a:tc>
                  <a:txBody>
                    <a:bodyPr/>
                    <a:lstStyle/>
                    <a:p>
                      <a:pPr algn="l">
                        <a:defRPr sz="1200" b="1">
                          <a:solidFill>
                            <a:srgbClr val="FFFFFF"/>
                          </a:solidFill>
                        </a:defRPr>
                      </a:pPr>
                      <a:r>
                        <a:t>Critical</a:t>
                      </a:r>
                    </a:p>
                  </a:txBody>
                  <a:tcPr>
                    <a:solidFill>
                      <a:srgbClr val="0078D4"/>
                    </a:solidFill>
                  </a:tcPr>
                </a:tc>
              </a:tr>
              <a:tr h="365760">
                <a:tc>
                  <a:txBody>
                    <a:bodyPr/>
                    <a:lstStyle/>
                    <a:p>
                      <a:pPr algn="l">
                        <a:defRPr sz="1200">
                          <a:solidFill>
                            <a:srgbClr val="242424"/>
                          </a:solidFill>
                        </a:defRPr>
                      </a:pPr>
                      <a:r>
                        <a:t>Security</a:t>
                      </a:r>
                    </a:p>
                  </a:txBody>
                  <a:tcPr>
                    <a:solidFill>
                      <a:srgbClr val="FFFFFF"/>
                    </a:solidFill>
                  </a:tcPr>
                </a:tc>
                <a:tc>
                  <a:txBody>
                    <a:bodyPr/>
                    <a:lstStyle/>
                    <a:p>
                      <a:pPr algn="l">
                        <a:defRPr sz="1200" b="1">
                          <a:solidFill>
                            <a:srgbClr val="FFFFFF"/>
                          </a:solidFill>
                        </a:defRPr>
                      </a:pPr>
                      <a:r>
                        <a:t>30</a:t>
                      </a:r>
                    </a:p>
                  </a:txBody>
                  <a:tcPr>
                    <a:solidFill>
                      <a:srgbClr val="CC0000"/>
                    </a:solidFill>
                  </a:tcPr>
                </a:tc>
                <a:tc>
                  <a:txBody>
                    <a:bodyPr/>
                    <a:lstStyle/>
                    <a:p>
                      <a:pPr algn="l">
                        <a:defRPr sz="1200">
                          <a:solidFill>
                            <a:srgbClr val="242424"/>
                          </a:solidFill>
                        </a:defRPr>
                      </a:pPr>
                      <a:r>
                        <a:t>8</a:t>
                      </a:r>
                    </a:p>
                  </a:txBody>
                  <a:tcPr>
                    <a:solidFill>
                      <a:srgbClr val="FFFFFF"/>
                    </a:solidFill>
                  </a:tcPr>
                </a:tc>
                <a:tc>
                  <a:txBody>
                    <a:bodyPr/>
                    <a:lstStyle/>
                    <a:p>
                      <a:pPr algn="l">
                        <a:defRPr sz="1200">
                          <a:solidFill>
                            <a:srgbClr val="242424"/>
                          </a:solidFill>
                        </a:defRPr>
                      </a:pPr>
                      <a:r>
                        <a:t>1</a:t>
                      </a:r>
                    </a:p>
                  </a:txBody>
                  <a:tcPr>
                    <a:solidFill>
                      <a:srgbClr val="FFFFFF"/>
                    </a:solidFill>
                  </a:tcPr>
                </a:tc>
              </a:tr>
              <a:tr h="365760">
                <a:tc>
                  <a:txBody>
                    <a:bodyPr/>
                    <a:lstStyle/>
                    <a:p>
                      <a:pPr algn="l">
                        <a:defRPr sz="1200">
                          <a:solidFill>
                            <a:srgbClr val="242424"/>
                          </a:solidFill>
                        </a:defRPr>
                      </a:pPr>
                      <a:r>
                        <a:t>Reliability</a:t>
                      </a:r>
                    </a:p>
                  </a:txBody>
                  <a:tcPr>
                    <a:solidFill>
                      <a:srgbClr val="FFFFFF"/>
                    </a:solidFill>
                  </a:tcPr>
                </a:tc>
                <a:tc>
                  <a:txBody>
                    <a:bodyPr/>
                    <a:lstStyle/>
                    <a:p>
                      <a:pPr algn="l">
                        <a:defRPr sz="1200" b="1">
                          <a:solidFill>
                            <a:srgbClr val="FFFFFF"/>
                          </a:solidFill>
                        </a:defRPr>
                      </a:pPr>
                      <a:r>
                        <a:t>15</a:t>
                      </a:r>
                    </a:p>
                  </a:txBody>
                  <a:tcPr>
                    <a:solidFill>
                      <a:srgbClr val="CC0000"/>
                    </a:solidFill>
                  </a:tcPr>
                </a:tc>
                <a:tc>
                  <a:txBody>
                    <a:bodyPr/>
                    <a:lstStyle/>
                    <a:p>
                      <a:pPr algn="l">
                        <a:defRPr sz="1200">
                          <a:solidFill>
                            <a:srgbClr val="242424"/>
                          </a:solidFill>
                        </a:defRPr>
                      </a:pPr>
                      <a:r>
                        <a:t>11</a:t>
                      </a:r>
                    </a:p>
                  </a:txBody>
                  <a:tcPr>
                    <a:solidFill>
                      <a:srgbClr val="FFFFFF"/>
                    </a:solidFill>
                  </a:tcPr>
                </a:tc>
                <a:tc>
                  <a:txBody>
                    <a:bodyPr/>
                    <a:lstStyle/>
                    <a:p>
                      <a:pPr algn="l">
                        <a:defRPr sz="1200">
                          <a:solidFill>
                            <a:srgbClr val="242424"/>
                          </a:solidFill>
                        </a:defRPr>
                      </a:pPr>
                      <a:r>
                        <a:t>0</a:t>
                      </a:r>
                    </a:p>
                  </a:txBody>
                  <a:tcPr>
                    <a:solidFill>
                      <a:srgbClr val="FFFFFF"/>
                    </a:solidFill>
                  </a:tcPr>
                </a:tc>
              </a:tr>
              <a:tr h="365760">
                <a:tc>
                  <a:txBody>
                    <a:bodyPr/>
                    <a:lstStyle/>
                    <a:p>
                      <a:pPr algn="l">
                        <a:defRPr sz="1200">
                          <a:solidFill>
                            <a:srgbClr val="242424"/>
                          </a:solidFill>
                        </a:defRPr>
                      </a:pPr>
                      <a:r>
                        <a:t>Cost Optimization</a:t>
                      </a:r>
                    </a:p>
                  </a:txBody>
                  <a:tcPr>
                    <a:solidFill>
                      <a:srgbClr val="FFFFFF"/>
                    </a:solidFill>
                  </a:tcPr>
                </a:tc>
                <a:tc>
                  <a:txBody>
                    <a:bodyPr/>
                    <a:lstStyle/>
                    <a:p>
                      <a:pPr algn="l">
                        <a:defRPr sz="1200" b="1">
                          <a:solidFill>
                            <a:srgbClr val="FFFFFF"/>
                          </a:solidFill>
                        </a:defRPr>
                      </a:pPr>
                      <a:r>
                        <a:t>33</a:t>
                      </a:r>
                    </a:p>
                  </a:txBody>
                  <a:tcPr>
                    <a:solidFill>
                      <a:srgbClr val="CC0000"/>
                    </a:solidFill>
                  </a:tcPr>
                </a:tc>
                <a:tc>
                  <a:txBody>
                    <a:bodyPr/>
                    <a:lstStyle/>
                    <a:p>
                      <a:pPr algn="l">
                        <a:defRPr sz="1200">
                          <a:solidFill>
                            <a:srgbClr val="242424"/>
                          </a:solidFill>
                        </a:defRPr>
                      </a:pPr>
                      <a:r>
                        <a:t>10</a:t>
                      </a:r>
                    </a:p>
                  </a:txBody>
                  <a:tcPr>
                    <a:solidFill>
                      <a:srgbClr val="FFFFFF"/>
                    </a:solidFill>
                  </a:tcPr>
                </a:tc>
                <a:tc>
                  <a:txBody>
                    <a:bodyPr/>
                    <a:lstStyle/>
                    <a:p>
                      <a:pPr algn="l">
                        <a:defRPr sz="1200">
                          <a:solidFill>
                            <a:srgbClr val="242424"/>
                          </a:solidFill>
                        </a:defRPr>
                      </a:pPr>
                      <a:r>
                        <a:t>0</a:t>
                      </a:r>
                    </a:p>
                  </a:txBody>
                  <a:tcPr>
                    <a:solidFill>
                      <a:srgbClr val="FFFFFF"/>
                    </a:solidFill>
                  </a:tcPr>
                </a:tc>
              </a:tr>
              <a:tr h="365760">
                <a:tc>
                  <a:txBody>
                    <a:bodyPr/>
                    <a:lstStyle/>
                    <a:p>
                      <a:pPr algn="l">
                        <a:defRPr sz="1200">
                          <a:solidFill>
                            <a:srgbClr val="242424"/>
                          </a:solidFill>
                        </a:defRPr>
                      </a:pPr>
                      <a:r>
                        <a:t>Operational Excellence</a:t>
                      </a:r>
                    </a:p>
                  </a:txBody>
                  <a:tcPr>
                    <a:solidFill>
                      <a:srgbClr val="FFFFFF"/>
                    </a:solidFill>
                  </a:tcPr>
                </a:tc>
                <a:tc>
                  <a:txBody>
                    <a:bodyPr/>
                    <a:lstStyle/>
                    <a:p>
                      <a:pPr algn="l">
                        <a:defRPr sz="1200" b="1">
                          <a:solidFill>
                            <a:srgbClr val="FFFFFF"/>
                          </a:solidFill>
                        </a:defRPr>
                      </a:pPr>
                      <a:r>
                        <a:t>50</a:t>
                      </a:r>
                    </a:p>
                  </a:txBody>
                  <a:tcPr>
                    <a:solidFill>
                      <a:srgbClr val="CC0000"/>
                    </a:solidFill>
                  </a:tcPr>
                </a:tc>
                <a:tc>
                  <a:txBody>
                    <a:bodyPr/>
                    <a:lstStyle/>
                    <a:p>
                      <a:pPr algn="l">
                        <a:defRPr sz="1200">
                          <a:solidFill>
                            <a:srgbClr val="242424"/>
                          </a:solidFill>
                        </a:defRPr>
                      </a:pPr>
                      <a:r>
                        <a:t>12</a:t>
                      </a:r>
                    </a:p>
                  </a:txBody>
                  <a:tcPr>
                    <a:solidFill>
                      <a:srgbClr val="FFFFFF"/>
                    </a:solidFill>
                  </a:tcPr>
                </a:tc>
                <a:tc>
                  <a:txBody>
                    <a:bodyPr/>
                    <a:lstStyle/>
                    <a:p>
                      <a:pPr algn="l">
                        <a:defRPr sz="1200">
                          <a:solidFill>
                            <a:srgbClr val="242424"/>
                          </a:solidFill>
                        </a:defRPr>
                      </a:pPr>
                      <a:r>
                        <a:t>0</a:t>
                      </a:r>
                    </a:p>
                  </a:txBody>
                  <a:tcPr>
                    <a:solidFill>
                      <a:srgbClr val="FFFFFF"/>
                    </a:solidFill>
                  </a:tcPr>
                </a:tc>
              </a:tr>
              <a:tr h="365760">
                <a:tc>
                  <a:txBody>
                    <a:bodyPr/>
                    <a:lstStyle/>
                    <a:p>
                      <a:pPr algn="l">
                        <a:defRPr sz="1200">
                          <a:solidFill>
                            <a:srgbClr val="242424"/>
                          </a:solidFill>
                        </a:defRPr>
                      </a:pPr>
                      <a:r>
                        <a:t>Performance Efficiency</a:t>
                      </a:r>
                    </a:p>
                  </a:txBody>
                  <a:tcPr>
                    <a:solidFill>
                      <a:srgbClr val="FFFFFF"/>
                    </a:solidFill>
                  </a:tcPr>
                </a:tc>
                <a:tc>
                  <a:txBody>
                    <a:bodyPr/>
                    <a:lstStyle/>
                    <a:p>
                      <a:pPr algn="l">
                        <a:defRPr sz="1200" b="1">
                          <a:solidFill>
                            <a:srgbClr val="FFFFFF"/>
                          </a:solidFill>
                        </a:defRPr>
                      </a:pPr>
                      <a:r>
                        <a:t>83</a:t>
                      </a:r>
                    </a:p>
                  </a:txBody>
                  <a:tcPr>
                    <a:solidFill>
                      <a:srgbClr val="107C10"/>
                    </a:solidFill>
                  </a:tcPr>
                </a:tc>
                <a:tc>
                  <a:txBody>
                    <a:bodyPr/>
                    <a:lstStyle/>
                    <a:p>
                      <a:pPr algn="l">
                        <a:defRPr sz="1200">
                          <a:solidFill>
                            <a:srgbClr val="242424"/>
                          </a:solidFill>
                        </a:defRPr>
                      </a:pPr>
                      <a:r>
                        <a:t>3</a:t>
                      </a:r>
                    </a:p>
                  </a:txBody>
                  <a:tcPr>
                    <a:solidFill>
                      <a:srgbClr val="FFFFFF"/>
                    </a:solidFill>
                  </a:tcPr>
                </a:tc>
                <a:tc>
                  <a:txBody>
                    <a:bodyPr/>
                    <a:lstStyle/>
                    <a:p>
                      <a:pPr algn="l">
                        <a:defRPr sz="1200">
                          <a:solidFill>
                            <a:srgbClr val="242424"/>
                          </a:solidFill>
                        </a:defRPr>
                      </a:pPr>
                      <a:r>
                        <a:t>0</a:t>
                      </a:r>
                    </a:p>
                  </a:txBody>
                  <a:tcPr>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972800" cy="731520"/>
          </a:xfrm>
          <a:prstGeom prst="rect">
            <a:avLst/>
          </a:prstGeom>
          <a:noFill/>
        </p:spPr>
        <p:txBody>
          <a:bodyPr wrap="none">
            <a:spAutoFit/>
          </a:bodyPr>
          <a:lstStyle/>
          <a:p>
            <a:pPr algn="l">
              <a:defRPr sz="2800" b="1">
                <a:solidFill>
                  <a:srgbClr val="242424"/>
                </a:solidFill>
              </a:defRPr>
            </a:pPr>
            <a:r>
              <a:t>Health &amp; Risk Dashboard</a:t>
            </a:r>
          </a:p>
        </p:txBody>
      </p:sp>
      <p:sp>
        <p:nvSpPr>
          <p:cNvPr id="3" name="TextBox 2"/>
          <p:cNvSpPr txBox="1"/>
          <p:nvPr/>
        </p:nvSpPr>
        <p:spPr>
          <a:xfrm>
            <a:off x="8686800" y="6400800"/>
            <a:ext cx="2926080" cy="228600"/>
          </a:xfrm>
          <a:prstGeom prst="rect">
            <a:avLst/>
          </a:prstGeom>
          <a:noFill/>
        </p:spPr>
        <p:txBody>
          <a:bodyPr wrap="none">
            <a:spAutoFit/>
          </a:bodyPr>
          <a:lstStyle/>
          <a:p>
            <a:pPr algn="r">
              <a:defRPr sz="800">
                <a:solidFill>
                  <a:srgbClr val="999999"/>
                </a:solidFill>
                <a:latin typeface="Segoe UI"/>
              </a:defRPr>
            </a:pPr>
            <a:r>
              <a:t>AUTOMATICALLY GENERATED — Please Review</a:t>
            </a:r>
          </a:p>
        </p:txBody>
      </p:sp>
      <p:sp>
        <p:nvSpPr>
          <p:cNvPr id="4" name="TextBox 3"/>
          <p:cNvSpPr txBox="1"/>
          <p:nvPr/>
        </p:nvSpPr>
        <p:spPr>
          <a:xfrm>
            <a:off x="731520" y="1280160"/>
            <a:ext cx="3108960" cy="640080"/>
          </a:xfrm>
          <a:prstGeom prst="rect">
            <a:avLst/>
          </a:prstGeom>
          <a:noFill/>
        </p:spPr>
        <p:txBody>
          <a:bodyPr wrap="square">
            <a:spAutoFit/>
          </a:bodyPr>
          <a:lstStyle/>
          <a:p>
            <a:pPr>
              <a:defRPr sz="1200">
                <a:solidFill>
                  <a:srgbClr val="242424"/>
                </a:solidFill>
              </a:defRPr>
            </a:pPr>
            <a:r>
              <a:t>Total Findings</a:t>
            </a:r>
          </a:p>
          <a:p>
            <a:pPr>
              <a:spcBef>
                <a:spcPts val="200"/>
              </a:spcBef>
              <a:defRPr sz="3000" b="1">
                <a:solidFill>
                  <a:srgbClr val="242424"/>
                </a:solidFill>
              </a:defRPr>
            </a:pPr>
            <a:r>
              <a:t>44</a:t>
            </a:r>
          </a:p>
        </p:txBody>
      </p:sp>
      <p:sp>
        <p:nvSpPr>
          <p:cNvPr id="5" name="TextBox 4"/>
          <p:cNvSpPr txBox="1"/>
          <p:nvPr/>
        </p:nvSpPr>
        <p:spPr>
          <a:xfrm>
            <a:off x="731520" y="2011680"/>
            <a:ext cx="3108960" cy="640080"/>
          </a:xfrm>
          <a:prstGeom prst="rect">
            <a:avLst/>
          </a:prstGeom>
          <a:noFill/>
        </p:spPr>
        <p:txBody>
          <a:bodyPr wrap="square">
            <a:spAutoFit/>
          </a:bodyPr>
          <a:lstStyle/>
          <a:p>
            <a:pPr>
              <a:defRPr sz="1200">
                <a:solidFill>
                  <a:srgbClr val="242424"/>
                </a:solidFill>
              </a:defRPr>
            </a:pPr>
            <a:r>
              <a:t>Total Resources</a:t>
            </a:r>
          </a:p>
          <a:p>
            <a:pPr>
              <a:spcBef>
                <a:spcPts val="200"/>
              </a:spcBef>
              <a:defRPr sz="3000" b="1">
                <a:solidFill>
                  <a:srgbClr val="242424"/>
                </a:solidFill>
              </a:defRPr>
            </a:pPr>
            <a:r>
              <a:t>91</a:t>
            </a:r>
          </a:p>
        </p:txBody>
      </p:sp>
      <p:sp>
        <p:nvSpPr>
          <p:cNvPr id="6" name="TextBox 5"/>
          <p:cNvSpPr txBox="1"/>
          <p:nvPr/>
        </p:nvSpPr>
        <p:spPr>
          <a:xfrm>
            <a:off x="731520" y="2743200"/>
            <a:ext cx="3108960" cy="640080"/>
          </a:xfrm>
          <a:prstGeom prst="rect">
            <a:avLst/>
          </a:prstGeom>
          <a:noFill/>
        </p:spPr>
        <p:txBody>
          <a:bodyPr wrap="square">
            <a:spAutoFit/>
          </a:bodyPr>
          <a:lstStyle/>
          <a:p>
            <a:pPr>
              <a:defRPr sz="1200">
                <a:solidFill>
                  <a:srgbClr val="242424"/>
                </a:solidFill>
              </a:defRPr>
            </a:pPr>
            <a:r>
              <a:t>Critical</a:t>
            </a:r>
          </a:p>
          <a:p>
            <a:pPr>
              <a:spcBef>
                <a:spcPts val="200"/>
              </a:spcBef>
              <a:defRPr sz="2400" b="1">
                <a:solidFill>
                  <a:srgbClr val="CC0000"/>
                </a:solidFill>
              </a:defRPr>
            </a:pPr>
            <a:r>
              <a:t>1</a:t>
            </a:r>
          </a:p>
        </p:txBody>
      </p:sp>
      <p:sp>
        <p:nvSpPr>
          <p:cNvPr id="7" name="TextBox 6"/>
          <p:cNvSpPr txBox="1"/>
          <p:nvPr/>
        </p:nvSpPr>
        <p:spPr>
          <a:xfrm>
            <a:off x="731520" y="3474720"/>
            <a:ext cx="3108960" cy="640080"/>
          </a:xfrm>
          <a:prstGeom prst="rect">
            <a:avLst/>
          </a:prstGeom>
          <a:noFill/>
        </p:spPr>
        <p:txBody>
          <a:bodyPr wrap="square">
            <a:spAutoFit/>
          </a:bodyPr>
          <a:lstStyle/>
          <a:p>
            <a:pPr>
              <a:defRPr sz="1200">
                <a:solidFill>
                  <a:srgbClr val="242424"/>
                </a:solidFill>
              </a:defRPr>
            </a:pPr>
            <a:r>
              <a:t>High</a:t>
            </a:r>
          </a:p>
          <a:p>
            <a:pPr>
              <a:spcBef>
                <a:spcPts val="200"/>
              </a:spcBef>
              <a:defRPr sz="2400" b="1">
                <a:solidFill>
                  <a:srgbClr val="E67300"/>
                </a:solidFill>
              </a:defRPr>
            </a:pPr>
            <a:r>
              <a:t>15</a:t>
            </a:r>
          </a:p>
        </p:txBody>
      </p:sp>
      <p:sp>
        <p:nvSpPr>
          <p:cNvPr id="8" name="TextBox 7"/>
          <p:cNvSpPr txBox="1"/>
          <p:nvPr/>
        </p:nvSpPr>
        <p:spPr>
          <a:xfrm>
            <a:off x="731520" y="4206240"/>
            <a:ext cx="3108960" cy="640080"/>
          </a:xfrm>
          <a:prstGeom prst="rect">
            <a:avLst/>
          </a:prstGeom>
          <a:noFill/>
        </p:spPr>
        <p:txBody>
          <a:bodyPr wrap="square">
            <a:spAutoFit/>
          </a:bodyPr>
          <a:lstStyle/>
          <a:p>
            <a:pPr>
              <a:defRPr sz="1200">
                <a:solidFill>
                  <a:srgbClr val="242424"/>
                </a:solidFill>
              </a:defRPr>
            </a:pPr>
            <a:r>
              <a:t>Medium</a:t>
            </a:r>
          </a:p>
          <a:p>
            <a:pPr>
              <a:spcBef>
                <a:spcPts val="200"/>
              </a:spcBef>
              <a:defRPr sz="2400" b="1">
                <a:solidFill>
                  <a:srgbClr val="CCA300"/>
                </a:solidFill>
              </a:defRPr>
            </a:pPr>
            <a:r>
              <a:t>21</a:t>
            </a:r>
          </a:p>
        </p:txBody>
      </p:sp>
      <p:sp>
        <p:nvSpPr>
          <p:cNvPr id="9" name="TextBox 8"/>
          <p:cNvSpPr txBox="1"/>
          <p:nvPr/>
        </p:nvSpPr>
        <p:spPr>
          <a:xfrm>
            <a:off x="731520" y="4937760"/>
            <a:ext cx="3108960" cy="640080"/>
          </a:xfrm>
          <a:prstGeom prst="rect">
            <a:avLst/>
          </a:prstGeom>
          <a:noFill/>
        </p:spPr>
        <p:txBody>
          <a:bodyPr wrap="square">
            <a:spAutoFit/>
          </a:bodyPr>
          <a:lstStyle/>
          <a:p>
            <a:pPr>
              <a:defRPr sz="1200">
                <a:solidFill>
                  <a:srgbClr val="242424"/>
                </a:solidFill>
              </a:defRPr>
            </a:pPr>
            <a:r>
              <a:t>Low</a:t>
            </a:r>
          </a:p>
          <a:p>
            <a:pPr>
              <a:spcBef>
                <a:spcPts val="200"/>
              </a:spcBef>
              <a:defRPr sz="2400" b="1">
                <a:solidFill>
                  <a:srgbClr val="3366CC"/>
                </a:solidFill>
              </a:defRPr>
            </a:pPr>
            <a:r>
              <a:t>7</a:t>
            </a:r>
          </a:p>
        </p:txBody>
      </p:sp>
      <p:graphicFrame>
        <p:nvGraphicFramePr>
          <p:cNvPr id="10" name="Table 9"/>
          <p:cNvGraphicFramePr>
            <a:graphicFrameLocks noGrp="1"/>
          </p:cNvGraphicFramePr>
          <p:nvPr/>
        </p:nvGraphicFramePr>
        <p:xfrm>
          <a:off x="4206240" y="1371600"/>
          <a:ext cx="7132320" cy="3291840"/>
        </p:xfrm>
        <a:graphic>
          <a:graphicData uri="http://schemas.openxmlformats.org/drawingml/2006/table">
            <a:tbl>
              <a:tblPr firstRow="1" bandRow="1">
                <a:tableStyleId>{5C22544A-7EE6-4342-B048-85BDC9FD1C3A}</a:tableStyleId>
              </a:tblPr>
              <a:tblGrid>
                <a:gridCol w="4389120"/>
                <a:gridCol w="1280160"/>
                <a:gridCol w="1463040"/>
              </a:tblGrid>
              <a:tr h="470262">
                <a:tc>
                  <a:txBody>
                    <a:bodyPr/>
                    <a:lstStyle/>
                    <a:p>
                      <a:pPr algn="l">
                        <a:defRPr sz="1200" b="1">
                          <a:solidFill>
                            <a:srgbClr val="FFFFFF"/>
                          </a:solidFill>
                        </a:defRPr>
                      </a:pPr>
                      <a:r>
                        <a:t>Resource Type</a:t>
                      </a:r>
                    </a:p>
                  </a:txBody>
                  <a:tcPr>
                    <a:solidFill>
                      <a:srgbClr val="0078D4"/>
                    </a:solidFill>
                  </a:tcPr>
                </a:tc>
                <a:tc>
                  <a:txBody>
                    <a:bodyPr/>
                    <a:lstStyle/>
                    <a:p>
                      <a:pPr algn="l">
                        <a:defRPr sz="1200" b="1">
                          <a:solidFill>
                            <a:srgbClr val="FFFFFF"/>
                          </a:solidFill>
                        </a:defRPr>
                      </a:pPr>
                      <a:r>
                        <a:t>Finding Count</a:t>
                      </a:r>
                    </a:p>
                  </a:txBody>
                  <a:tcPr>
                    <a:solidFill>
                      <a:srgbClr val="0078D4"/>
                    </a:solidFill>
                  </a:tcPr>
                </a:tc>
                <a:tc>
                  <a:txBody>
                    <a:bodyPr/>
                    <a:lstStyle/>
                    <a:p>
                      <a:pPr algn="l">
                        <a:defRPr sz="1200" b="1">
                          <a:solidFill>
                            <a:srgbClr val="FFFFFF"/>
                          </a:solidFill>
                        </a:defRPr>
                      </a:pPr>
                      <a:r>
                        <a:t>Top Severity</a:t>
                      </a:r>
                    </a:p>
                  </a:txBody>
                  <a:tcPr>
                    <a:solidFill>
                      <a:srgbClr val="0078D4"/>
                    </a:solidFill>
                  </a:tcPr>
                </a:tc>
              </a:tr>
              <a:tr h="470262">
                <a:tc>
                  <a:txBody>
                    <a:bodyPr/>
                    <a:lstStyle/>
                    <a:p>
                      <a:pPr algn="l">
                        <a:defRPr sz="1100">
                          <a:solidFill>
                            <a:srgbClr val="242424"/>
                          </a:solidFill>
                        </a:defRPr>
                      </a:pPr>
                      <a:r>
                        <a:t>Operational Excellence</a:t>
                      </a:r>
                    </a:p>
                  </a:txBody>
                  <a:tcPr>
                    <a:solidFill>
                      <a:srgbClr val="FFFFFF"/>
                    </a:solidFill>
                  </a:tcPr>
                </a:tc>
                <a:tc>
                  <a:txBody>
                    <a:bodyPr/>
                    <a:lstStyle/>
                    <a:p>
                      <a:pPr algn="l">
                        <a:defRPr sz="1100">
                          <a:solidFill>
                            <a:srgbClr val="242424"/>
                          </a:solidFill>
                        </a:defRPr>
                      </a:pPr>
                      <a:r>
                        <a:t>12</a:t>
                      </a:r>
                    </a:p>
                  </a:txBody>
                  <a:tcPr>
                    <a:solidFill>
                      <a:srgbClr val="FFFFFF"/>
                    </a:solidFill>
                  </a:tcPr>
                </a:tc>
                <a:tc>
                  <a:txBody>
                    <a:bodyPr/>
                    <a:lstStyle/>
                    <a:p>
                      <a:pPr algn="l">
                        <a:defRPr sz="1100" b="1">
                          <a:solidFill>
                            <a:srgbClr val="FFFFFF"/>
                          </a:solidFill>
                        </a:defRPr>
                      </a:pPr>
                      <a:r>
                        <a:t>High</a:t>
                      </a:r>
                    </a:p>
                  </a:txBody>
                  <a:tcPr>
                    <a:solidFill>
                      <a:srgbClr val="E67300"/>
                    </a:solidFill>
                  </a:tcPr>
                </a:tc>
              </a:tr>
              <a:tr h="470262">
                <a:tc>
                  <a:txBody>
                    <a:bodyPr/>
                    <a:lstStyle/>
                    <a:p>
                      <a:pPr algn="l">
                        <a:defRPr sz="1100">
                          <a:solidFill>
                            <a:srgbClr val="242424"/>
                          </a:solidFill>
                        </a:defRPr>
                      </a:pPr>
                      <a:r>
                        <a:t>Reliability</a:t>
                      </a:r>
                    </a:p>
                  </a:txBody>
                  <a:tcPr>
                    <a:solidFill>
                      <a:srgbClr val="FFFFFF"/>
                    </a:solidFill>
                  </a:tcPr>
                </a:tc>
                <a:tc>
                  <a:txBody>
                    <a:bodyPr/>
                    <a:lstStyle/>
                    <a:p>
                      <a:pPr algn="l">
                        <a:defRPr sz="1100">
                          <a:solidFill>
                            <a:srgbClr val="242424"/>
                          </a:solidFill>
                        </a:defRPr>
                      </a:pPr>
                      <a:r>
                        <a:t>11</a:t>
                      </a:r>
                    </a:p>
                  </a:txBody>
                  <a:tcPr>
                    <a:solidFill>
                      <a:srgbClr val="FFFFFF"/>
                    </a:solidFill>
                  </a:tcPr>
                </a:tc>
                <a:tc>
                  <a:txBody>
                    <a:bodyPr/>
                    <a:lstStyle/>
                    <a:p>
                      <a:pPr algn="l">
                        <a:defRPr sz="1100" b="1">
                          <a:solidFill>
                            <a:srgbClr val="FFFFFF"/>
                          </a:solidFill>
                        </a:defRPr>
                      </a:pPr>
                      <a:r>
                        <a:t>High</a:t>
                      </a:r>
                    </a:p>
                  </a:txBody>
                  <a:tcPr>
                    <a:solidFill>
                      <a:srgbClr val="E67300"/>
                    </a:solidFill>
                  </a:tcPr>
                </a:tc>
              </a:tr>
              <a:tr h="470262">
                <a:tc>
                  <a:txBody>
                    <a:bodyPr/>
                    <a:lstStyle/>
                    <a:p>
                      <a:pPr algn="l">
                        <a:defRPr sz="1100">
                          <a:solidFill>
                            <a:srgbClr val="242424"/>
                          </a:solidFill>
                        </a:defRPr>
                      </a:pPr>
                      <a:r>
                        <a:t>Cost Optimization</a:t>
                      </a:r>
                    </a:p>
                  </a:txBody>
                  <a:tcPr>
                    <a:solidFill>
                      <a:srgbClr val="FFFFFF"/>
                    </a:solidFill>
                  </a:tcPr>
                </a:tc>
                <a:tc>
                  <a:txBody>
                    <a:bodyPr/>
                    <a:lstStyle/>
                    <a:p>
                      <a:pPr algn="l">
                        <a:defRPr sz="1100">
                          <a:solidFill>
                            <a:srgbClr val="242424"/>
                          </a:solidFill>
                        </a:defRPr>
                      </a:pPr>
                      <a:r>
                        <a:t>10</a:t>
                      </a:r>
                    </a:p>
                  </a:txBody>
                  <a:tcPr>
                    <a:solidFill>
                      <a:srgbClr val="FFFFFF"/>
                    </a:solidFill>
                  </a:tcPr>
                </a:tc>
                <a:tc>
                  <a:txBody>
                    <a:bodyPr/>
                    <a:lstStyle/>
                    <a:p>
                      <a:pPr algn="l">
                        <a:defRPr sz="1100" b="1">
                          <a:solidFill>
                            <a:srgbClr val="FFFFFF"/>
                          </a:solidFill>
                        </a:defRPr>
                      </a:pPr>
                      <a:r>
                        <a:t>High</a:t>
                      </a:r>
                    </a:p>
                  </a:txBody>
                  <a:tcPr>
                    <a:solidFill>
                      <a:srgbClr val="E67300"/>
                    </a:solidFill>
                  </a:tcPr>
                </a:tc>
              </a:tr>
              <a:tr h="470262">
                <a:tc>
                  <a:txBody>
                    <a:bodyPr/>
                    <a:lstStyle/>
                    <a:p>
                      <a:pPr algn="l">
                        <a:defRPr sz="1100">
                          <a:solidFill>
                            <a:srgbClr val="242424"/>
                          </a:solidFill>
                        </a:defRPr>
                      </a:pPr>
                      <a:r>
                        <a:t>Security</a:t>
                      </a:r>
                    </a:p>
                  </a:txBody>
                  <a:tcPr>
                    <a:solidFill>
                      <a:srgbClr val="FFFFFF"/>
                    </a:solidFill>
                  </a:tcPr>
                </a:tc>
                <a:tc>
                  <a:txBody>
                    <a:bodyPr/>
                    <a:lstStyle/>
                    <a:p>
                      <a:pPr algn="l">
                        <a:defRPr sz="1100">
                          <a:solidFill>
                            <a:srgbClr val="242424"/>
                          </a:solidFill>
                        </a:defRPr>
                      </a:pPr>
                      <a:r>
                        <a:t>6</a:t>
                      </a:r>
                    </a:p>
                  </a:txBody>
                  <a:tcPr>
                    <a:solidFill>
                      <a:srgbClr val="FFFFFF"/>
                    </a:solidFill>
                  </a:tcPr>
                </a:tc>
                <a:tc>
                  <a:txBody>
                    <a:bodyPr/>
                    <a:lstStyle/>
                    <a:p>
                      <a:pPr algn="l">
                        <a:defRPr sz="1100" b="1">
                          <a:solidFill>
                            <a:srgbClr val="FFFFFF"/>
                          </a:solidFill>
                        </a:defRPr>
                      </a:pPr>
                      <a:r>
                        <a:t>Critical</a:t>
                      </a:r>
                    </a:p>
                  </a:txBody>
                  <a:tcPr>
                    <a:solidFill>
                      <a:srgbClr val="CC0000"/>
                    </a:solidFill>
                  </a:tcPr>
                </a:tc>
              </a:tr>
              <a:tr h="470262">
                <a:tc>
                  <a:txBody>
                    <a:bodyPr/>
                    <a:lstStyle/>
                    <a:p>
                      <a:pPr algn="l">
                        <a:defRPr sz="1100">
                          <a:solidFill>
                            <a:srgbClr val="242424"/>
                          </a:solidFill>
                        </a:defRPr>
                      </a:pPr>
                      <a:r>
                        <a:t>Performance Efficiency</a:t>
                      </a:r>
                    </a:p>
                  </a:txBody>
                  <a:tcPr>
                    <a:solidFill>
                      <a:srgbClr val="FFFFFF"/>
                    </a:solidFill>
                  </a:tcPr>
                </a:tc>
                <a:tc>
                  <a:txBody>
                    <a:bodyPr/>
                    <a:lstStyle/>
                    <a:p>
                      <a:pPr algn="l">
                        <a:defRPr sz="1100">
                          <a:solidFill>
                            <a:srgbClr val="242424"/>
                          </a:solidFill>
                        </a:defRPr>
                      </a:pPr>
                      <a:r>
                        <a:t>3</a:t>
                      </a:r>
                    </a:p>
                  </a:txBody>
                  <a:tcPr>
                    <a:solidFill>
                      <a:srgbClr val="FFFFFF"/>
                    </a:solidFill>
                  </a:tcPr>
                </a:tc>
                <a:tc>
                  <a:txBody>
                    <a:bodyPr/>
                    <a:lstStyle/>
                    <a:p>
                      <a:pPr algn="l">
                        <a:defRPr sz="1100" b="1">
                          <a:solidFill>
                            <a:srgbClr val="FFFFFF"/>
                          </a:solidFill>
                        </a:defRPr>
                      </a:pPr>
                      <a:r>
                        <a:t>High</a:t>
                      </a:r>
                    </a:p>
                  </a:txBody>
                  <a:tcPr>
                    <a:solidFill>
                      <a:srgbClr val="E67300"/>
                    </a:solidFill>
                  </a:tcPr>
                </a:tc>
              </a:tr>
              <a:tr h="470268">
                <a:tc>
                  <a:txBody>
                    <a:bodyPr/>
                    <a:lstStyle/>
                    <a:p>
                      <a:pPr algn="l">
                        <a:defRPr sz="1100">
                          <a:solidFill>
                            <a:srgbClr val="242424"/>
                          </a:solidFill>
                        </a:defRPr>
                      </a:pPr>
                      <a:r>
                        <a:t>microsoft.compute/virtualmachines</a:t>
                      </a:r>
                    </a:p>
                  </a:txBody>
                  <a:tcPr>
                    <a:solidFill>
                      <a:srgbClr val="FFFFFF"/>
                    </a:solidFill>
                  </a:tcPr>
                </a:tc>
                <a:tc>
                  <a:txBody>
                    <a:bodyPr/>
                    <a:lstStyle/>
                    <a:p>
                      <a:pPr algn="l">
                        <a:defRPr sz="1100">
                          <a:solidFill>
                            <a:srgbClr val="242424"/>
                          </a:solidFill>
                        </a:defRPr>
                      </a:pPr>
                      <a:r>
                        <a:t>1</a:t>
                      </a:r>
                    </a:p>
                  </a:txBody>
                  <a:tcPr>
                    <a:solidFill>
                      <a:srgbClr val="FFFFFF"/>
                    </a:solidFill>
                  </a:tcPr>
                </a:tc>
                <a:tc>
                  <a:txBody>
                    <a:bodyPr/>
                    <a:lstStyle/>
                    <a:p>
                      <a:pPr algn="l">
                        <a:defRPr sz="1100" b="1">
                          <a:solidFill>
                            <a:srgbClr val="FFFFFF"/>
                          </a:solidFill>
                        </a:defRPr>
                      </a:pPr>
                      <a:r>
                        <a:t>High</a:t>
                      </a:r>
                    </a:p>
                  </a:txBody>
                  <a:tcPr>
                    <a:solidFill>
                      <a:srgbClr val="E67300"/>
                    </a:solidFill>
                  </a:tcPr>
                </a:tc>
              </a:tr>
            </a:tbl>
          </a:graphicData>
        </a:graphic>
      </p:graphicFrame>
      <p:sp>
        <p:nvSpPr>
          <p:cNvPr id="11" name="TextBox 10"/>
          <p:cNvSpPr txBox="1"/>
          <p:nvPr/>
        </p:nvSpPr>
        <p:spPr>
          <a:xfrm>
            <a:off x="4206240" y="1005840"/>
            <a:ext cx="3657600" cy="274320"/>
          </a:xfrm>
          <a:prstGeom prst="rect">
            <a:avLst/>
          </a:prstGeom>
          <a:noFill/>
        </p:spPr>
        <p:txBody>
          <a:bodyPr wrap="none">
            <a:spAutoFit/>
          </a:bodyPr>
          <a:lstStyle/>
          <a:p>
            <a:pPr>
              <a:defRPr sz="1600" b="1">
                <a:solidFill>
                  <a:srgbClr val="242424"/>
                </a:solidFill>
              </a:defRPr>
            </a:pPr>
            <a:r>
              <a:t>Top Impacted Services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972800" cy="731520"/>
          </a:xfrm>
          <a:prstGeom prst="rect">
            <a:avLst/>
          </a:prstGeom>
          <a:noFill/>
        </p:spPr>
        <p:txBody>
          <a:bodyPr wrap="none">
            <a:spAutoFit/>
          </a:bodyPr>
          <a:lstStyle/>
          <a:p>
            <a:pPr algn="l">
              <a:defRPr sz="2800" b="1">
                <a:solidFill>
                  <a:srgbClr val="242424"/>
                </a:solidFill>
              </a:defRPr>
            </a:pPr>
            <a:r>
              <a:t>Resource Inventory Summary</a:t>
            </a:r>
          </a:p>
        </p:txBody>
      </p:sp>
      <p:sp>
        <p:nvSpPr>
          <p:cNvPr id="3" name="TextBox 2"/>
          <p:cNvSpPr txBox="1"/>
          <p:nvPr/>
        </p:nvSpPr>
        <p:spPr>
          <a:xfrm>
            <a:off x="8686800" y="6400800"/>
            <a:ext cx="2926080" cy="228600"/>
          </a:xfrm>
          <a:prstGeom prst="rect">
            <a:avLst/>
          </a:prstGeom>
          <a:noFill/>
        </p:spPr>
        <p:txBody>
          <a:bodyPr wrap="none">
            <a:spAutoFit/>
          </a:bodyPr>
          <a:lstStyle/>
          <a:p>
            <a:pPr algn="r">
              <a:defRPr sz="800">
                <a:solidFill>
                  <a:srgbClr val="999999"/>
                </a:solidFill>
                <a:latin typeface="Segoe UI"/>
              </a:defRPr>
            </a:pPr>
            <a:r>
              <a:t>AUTOMATICALLY GENERATED — Please Review</a:t>
            </a:r>
          </a:p>
        </p:txBody>
      </p:sp>
      <p:graphicFrame>
        <p:nvGraphicFramePr>
          <p:cNvPr id="4" name="Table 3"/>
          <p:cNvGraphicFramePr>
            <a:graphicFrameLocks noGrp="1"/>
          </p:cNvGraphicFramePr>
          <p:nvPr/>
        </p:nvGraphicFramePr>
        <p:xfrm>
          <a:off x="731520" y="1371600"/>
          <a:ext cx="7315200" cy="4389120"/>
        </p:xfrm>
        <a:graphic>
          <a:graphicData uri="http://schemas.openxmlformats.org/drawingml/2006/table">
            <a:tbl>
              <a:tblPr firstRow="1" bandRow="1">
                <a:tableStyleId>{5C22544A-7EE6-4342-B048-85BDC9FD1C3A}</a:tableStyleId>
              </a:tblPr>
              <a:tblGrid>
                <a:gridCol w="5486400"/>
                <a:gridCol w="1828800"/>
              </a:tblGrid>
              <a:tr h="274320">
                <a:tc>
                  <a:txBody>
                    <a:bodyPr/>
                    <a:lstStyle/>
                    <a:p>
                      <a:pPr algn="l">
                        <a:defRPr sz="1200" b="1">
                          <a:solidFill>
                            <a:srgbClr val="FFFFFF"/>
                          </a:solidFill>
                        </a:defRPr>
                      </a:pPr>
                      <a:r>
                        <a:t>Resource Type</a:t>
                      </a:r>
                    </a:p>
                  </a:txBody>
                  <a:tcPr>
                    <a:solidFill>
                      <a:srgbClr val="0078D4"/>
                    </a:solidFill>
                  </a:tcPr>
                </a:tc>
                <a:tc>
                  <a:txBody>
                    <a:bodyPr/>
                    <a:lstStyle/>
                    <a:p>
                      <a:pPr algn="l">
                        <a:defRPr sz="1200" b="1">
                          <a:solidFill>
                            <a:srgbClr val="FFFFFF"/>
                          </a:solidFill>
                        </a:defRPr>
                      </a:pPr>
                      <a:r>
                        <a:t>Count</a:t>
                      </a:r>
                    </a:p>
                  </a:txBody>
                  <a:tcPr>
                    <a:solidFill>
                      <a:srgbClr val="0078D4"/>
                    </a:solidFill>
                  </a:tcPr>
                </a:tc>
              </a:tr>
              <a:tr h="274320">
                <a:tc>
                  <a:txBody>
                    <a:bodyPr/>
                    <a:lstStyle/>
                    <a:p>
                      <a:pPr algn="l">
                        <a:defRPr sz="1100">
                          <a:solidFill>
                            <a:srgbClr val="242424"/>
                          </a:solidFill>
                        </a:defRPr>
                      </a:pPr>
                      <a:r>
                        <a:t>microsoft.network/networksecuritygroups</a:t>
                      </a:r>
                    </a:p>
                  </a:txBody>
                  <a:tcPr>
                    <a:solidFill>
                      <a:srgbClr val="FFFFFF"/>
                    </a:solidFill>
                  </a:tcPr>
                </a:tc>
                <a:tc>
                  <a:txBody>
                    <a:bodyPr/>
                    <a:lstStyle/>
                    <a:p>
                      <a:pPr algn="l">
                        <a:defRPr sz="1100">
                          <a:solidFill>
                            <a:srgbClr val="242424"/>
                          </a:solidFill>
                        </a:defRPr>
                      </a:pPr>
                      <a:r>
                        <a:t>15</a:t>
                      </a:r>
                    </a:p>
                  </a:txBody>
                  <a:tcPr>
                    <a:solidFill>
                      <a:srgbClr val="FFFFFF"/>
                    </a:solidFill>
                  </a:tcPr>
                </a:tc>
              </a:tr>
              <a:tr h="274320">
                <a:tc>
                  <a:txBody>
                    <a:bodyPr/>
                    <a:lstStyle/>
                    <a:p>
                      <a:pPr algn="l">
                        <a:defRPr sz="1100">
                          <a:solidFill>
                            <a:srgbClr val="242424"/>
                          </a:solidFill>
                        </a:defRPr>
                      </a:pPr>
                      <a:r>
                        <a:t>microsoft.network/privatednszones/virtualnetworklinks</a:t>
                      </a:r>
                    </a:p>
                  </a:txBody>
                  <a:tcPr>
                    <a:solidFill>
                      <a:srgbClr val="FFFFFF"/>
                    </a:solidFill>
                  </a:tcPr>
                </a:tc>
                <a:tc>
                  <a:txBody>
                    <a:bodyPr/>
                    <a:lstStyle/>
                    <a:p>
                      <a:pPr algn="l">
                        <a:defRPr sz="1100">
                          <a:solidFill>
                            <a:srgbClr val="242424"/>
                          </a:solidFill>
                        </a:defRPr>
                      </a:pPr>
                      <a:r>
                        <a:t>10</a:t>
                      </a:r>
                    </a:p>
                  </a:txBody>
                  <a:tcPr>
                    <a:solidFill>
                      <a:srgbClr val="FFFFFF"/>
                    </a:solidFill>
                  </a:tcPr>
                </a:tc>
              </a:tr>
              <a:tr h="274320">
                <a:tc>
                  <a:txBody>
                    <a:bodyPr/>
                    <a:lstStyle/>
                    <a:p>
                      <a:pPr algn="l">
                        <a:defRPr sz="1100">
                          <a:solidFill>
                            <a:srgbClr val="242424"/>
                          </a:solidFill>
                        </a:defRPr>
                      </a:pPr>
                      <a:r>
                        <a:t>microsoft.network/privatednszones</a:t>
                      </a:r>
                    </a:p>
                  </a:txBody>
                  <a:tcPr>
                    <a:solidFill>
                      <a:srgbClr val="FFFFFF"/>
                    </a:solidFill>
                  </a:tcPr>
                </a:tc>
                <a:tc>
                  <a:txBody>
                    <a:bodyPr/>
                    <a:lstStyle/>
                    <a:p>
                      <a:pPr algn="l">
                        <a:defRPr sz="1100">
                          <a:solidFill>
                            <a:srgbClr val="242424"/>
                          </a:solidFill>
                        </a:defRPr>
                      </a:pPr>
                      <a:r>
                        <a:t>10</a:t>
                      </a:r>
                    </a:p>
                  </a:txBody>
                  <a:tcPr>
                    <a:solidFill>
                      <a:srgbClr val="FFFFFF"/>
                    </a:solidFill>
                  </a:tcPr>
                </a:tc>
              </a:tr>
              <a:tr h="274320">
                <a:tc>
                  <a:txBody>
                    <a:bodyPr/>
                    <a:lstStyle/>
                    <a:p>
                      <a:pPr algn="l">
                        <a:defRPr sz="1100">
                          <a:solidFill>
                            <a:srgbClr val="242424"/>
                          </a:solidFill>
                        </a:defRPr>
                      </a:pPr>
                      <a:r>
                        <a:t>microsoft.network/networkwatchers</a:t>
                      </a:r>
                    </a:p>
                  </a:txBody>
                  <a:tcPr>
                    <a:solidFill>
                      <a:srgbClr val="FFFFFF"/>
                    </a:solidFill>
                  </a:tcPr>
                </a:tc>
                <a:tc>
                  <a:txBody>
                    <a:bodyPr/>
                    <a:lstStyle/>
                    <a:p>
                      <a:pPr algn="l">
                        <a:defRPr sz="1100">
                          <a:solidFill>
                            <a:srgbClr val="242424"/>
                          </a:solidFill>
                        </a:defRPr>
                      </a:pPr>
                      <a:r>
                        <a:t>7</a:t>
                      </a:r>
                    </a:p>
                  </a:txBody>
                  <a:tcPr>
                    <a:solidFill>
                      <a:srgbClr val="FFFFFF"/>
                    </a:solidFill>
                  </a:tcPr>
                </a:tc>
              </a:tr>
              <a:tr h="274320">
                <a:tc>
                  <a:txBody>
                    <a:bodyPr/>
                    <a:lstStyle/>
                    <a:p>
                      <a:pPr algn="l">
                        <a:defRPr sz="1100">
                          <a:solidFill>
                            <a:srgbClr val="242424"/>
                          </a:solidFill>
                        </a:defRPr>
                      </a:pPr>
                      <a:r>
                        <a:t>microsoft.network/virtualnetworks</a:t>
                      </a:r>
                    </a:p>
                  </a:txBody>
                  <a:tcPr>
                    <a:solidFill>
                      <a:srgbClr val="FFFFFF"/>
                    </a:solidFill>
                  </a:tcPr>
                </a:tc>
                <a:tc>
                  <a:txBody>
                    <a:bodyPr/>
                    <a:lstStyle/>
                    <a:p>
                      <a:pPr algn="l">
                        <a:defRPr sz="1100">
                          <a:solidFill>
                            <a:srgbClr val="242424"/>
                          </a:solidFill>
                        </a:defRPr>
                      </a:pPr>
                      <a:r>
                        <a:t>7</a:t>
                      </a:r>
                    </a:p>
                  </a:txBody>
                  <a:tcPr>
                    <a:solidFill>
                      <a:srgbClr val="FFFFFF"/>
                    </a:solidFill>
                  </a:tcPr>
                </a:tc>
              </a:tr>
              <a:tr h="274320">
                <a:tc>
                  <a:txBody>
                    <a:bodyPr/>
                    <a:lstStyle/>
                    <a:p>
                      <a:pPr algn="l">
                        <a:defRPr sz="1100">
                          <a:solidFill>
                            <a:srgbClr val="242424"/>
                          </a:solidFill>
                        </a:defRPr>
                      </a:pPr>
                      <a:r>
                        <a:t>microsoft.insights/actiongroups</a:t>
                      </a:r>
                    </a:p>
                  </a:txBody>
                  <a:tcPr>
                    <a:solidFill>
                      <a:srgbClr val="FFFFFF"/>
                    </a:solidFill>
                  </a:tcPr>
                </a:tc>
                <a:tc>
                  <a:txBody>
                    <a:bodyPr/>
                    <a:lstStyle/>
                    <a:p>
                      <a:pPr algn="l">
                        <a:defRPr sz="1100">
                          <a:solidFill>
                            <a:srgbClr val="242424"/>
                          </a:solidFill>
                        </a:defRPr>
                      </a:pPr>
                      <a:r>
                        <a:t>5</a:t>
                      </a:r>
                    </a:p>
                  </a:txBody>
                  <a:tcPr>
                    <a:solidFill>
                      <a:srgbClr val="FFFFFF"/>
                    </a:solidFill>
                  </a:tcPr>
                </a:tc>
              </a:tr>
              <a:tr h="274320">
                <a:tc>
                  <a:txBody>
                    <a:bodyPr/>
                    <a:lstStyle/>
                    <a:p>
                      <a:pPr algn="l">
                        <a:defRPr sz="1100">
                          <a:solidFill>
                            <a:srgbClr val="242424"/>
                          </a:solidFill>
                        </a:defRPr>
                      </a:pPr>
                      <a:r>
                        <a:t>microsoft.storage/storageaccounts</a:t>
                      </a:r>
                    </a:p>
                  </a:txBody>
                  <a:tcPr>
                    <a:solidFill>
                      <a:srgbClr val="FFFFFF"/>
                    </a:solidFill>
                  </a:tcPr>
                </a:tc>
                <a:tc>
                  <a:txBody>
                    <a:bodyPr/>
                    <a:lstStyle/>
                    <a:p>
                      <a:pPr algn="l">
                        <a:defRPr sz="1100">
                          <a:solidFill>
                            <a:srgbClr val="242424"/>
                          </a:solidFill>
                        </a:defRPr>
                      </a:pPr>
                      <a:r>
                        <a:t>5</a:t>
                      </a:r>
                    </a:p>
                  </a:txBody>
                  <a:tcPr>
                    <a:solidFill>
                      <a:srgbClr val="FFFFFF"/>
                    </a:solidFill>
                  </a:tcPr>
                </a:tc>
              </a:tr>
              <a:tr h="274320">
                <a:tc>
                  <a:txBody>
                    <a:bodyPr/>
                    <a:lstStyle/>
                    <a:p>
                      <a:pPr algn="l">
                        <a:defRPr sz="1100">
                          <a:solidFill>
                            <a:srgbClr val="242424"/>
                          </a:solidFill>
                        </a:defRPr>
                      </a:pPr>
                      <a:r>
                        <a:t>microsoft.eventgrid/systemtopics</a:t>
                      </a:r>
                    </a:p>
                  </a:txBody>
                  <a:tcPr>
                    <a:solidFill>
                      <a:srgbClr val="FFFFFF"/>
                    </a:solidFill>
                  </a:tcPr>
                </a:tc>
                <a:tc>
                  <a:txBody>
                    <a:bodyPr/>
                    <a:lstStyle/>
                    <a:p>
                      <a:pPr algn="l">
                        <a:defRPr sz="1100">
                          <a:solidFill>
                            <a:srgbClr val="242424"/>
                          </a:solidFill>
                        </a:defRPr>
                      </a:pPr>
                      <a:r>
                        <a:t>5</a:t>
                      </a:r>
                    </a:p>
                  </a:txBody>
                  <a:tcPr>
                    <a:solidFill>
                      <a:srgbClr val="FFFFFF"/>
                    </a:solidFill>
                  </a:tcPr>
                </a:tc>
              </a:tr>
              <a:tr h="274320">
                <a:tc>
                  <a:txBody>
                    <a:bodyPr/>
                    <a:lstStyle/>
                    <a:p>
                      <a:pPr algn="l">
                        <a:defRPr sz="1100">
                          <a:solidFill>
                            <a:srgbClr val="242424"/>
                          </a:solidFill>
                        </a:defRPr>
                      </a:pPr>
                      <a:r>
                        <a:t>microsoft.logic/workflows</a:t>
                      </a:r>
                    </a:p>
                  </a:txBody>
                  <a:tcPr>
                    <a:solidFill>
                      <a:srgbClr val="FFFFFF"/>
                    </a:solidFill>
                  </a:tcPr>
                </a:tc>
                <a:tc>
                  <a:txBody>
                    <a:bodyPr/>
                    <a:lstStyle/>
                    <a:p>
                      <a:pPr algn="l">
                        <a:defRPr sz="1100">
                          <a:solidFill>
                            <a:srgbClr val="242424"/>
                          </a:solidFill>
                        </a:defRPr>
                      </a:pPr>
                      <a:r>
                        <a:t>4</a:t>
                      </a:r>
                    </a:p>
                  </a:txBody>
                  <a:tcPr>
                    <a:solidFill>
                      <a:srgbClr val="FFFFFF"/>
                    </a:solidFill>
                  </a:tcPr>
                </a:tc>
              </a:tr>
              <a:tr h="274320">
                <a:tc>
                  <a:txBody>
                    <a:bodyPr/>
                    <a:lstStyle/>
                    <a:p>
                      <a:pPr algn="l">
                        <a:defRPr sz="1100">
                          <a:solidFill>
                            <a:srgbClr val="242424"/>
                          </a:solidFill>
                        </a:defRPr>
                      </a:pPr>
                      <a:r>
                        <a:t>microsoft.automation/automationaccounts</a:t>
                      </a:r>
                    </a:p>
                  </a:txBody>
                  <a:tcPr>
                    <a:solidFill>
                      <a:srgbClr val="FFFFFF"/>
                    </a:solidFill>
                  </a:tcPr>
                </a:tc>
                <a:tc>
                  <a:txBody>
                    <a:bodyPr/>
                    <a:lstStyle/>
                    <a:p>
                      <a:pPr algn="l">
                        <a:defRPr sz="1100">
                          <a:solidFill>
                            <a:srgbClr val="242424"/>
                          </a:solidFill>
                        </a:defRPr>
                      </a:pPr>
                      <a:r>
                        <a:t>3</a:t>
                      </a:r>
                    </a:p>
                  </a:txBody>
                  <a:tcPr>
                    <a:solidFill>
                      <a:srgbClr val="FFFFFF"/>
                    </a:solidFill>
                  </a:tcPr>
                </a:tc>
              </a:tr>
              <a:tr h="274320">
                <a:tc>
                  <a:txBody>
                    <a:bodyPr/>
                    <a:lstStyle/>
                    <a:p>
                      <a:pPr algn="l">
                        <a:defRPr sz="1100">
                          <a:solidFill>
                            <a:srgbClr val="242424"/>
                          </a:solidFill>
                        </a:defRPr>
                      </a:pPr>
                      <a:r>
                        <a:t>microsoft.managedidentity/userassignedidentities</a:t>
                      </a:r>
                    </a:p>
                  </a:txBody>
                  <a:tcPr>
                    <a:solidFill>
                      <a:srgbClr val="FFFFFF"/>
                    </a:solidFill>
                  </a:tcPr>
                </a:tc>
                <a:tc>
                  <a:txBody>
                    <a:bodyPr/>
                    <a:lstStyle/>
                    <a:p>
                      <a:pPr algn="l">
                        <a:defRPr sz="1100">
                          <a:solidFill>
                            <a:srgbClr val="242424"/>
                          </a:solidFill>
                        </a:defRPr>
                      </a:pPr>
                      <a:r>
                        <a:t>3</a:t>
                      </a:r>
                    </a:p>
                  </a:txBody>
                  <a:tcPr>
                    <a:solidFill>
                      <a:srgbClr val="FFFFFF"/>
                    </a:solidFill>
                  </a:tcPr>
                </a:tc>
              </a:tr>
              <a:tr h="274320">
                <a:tc>
                  <a:txBody>
                    <a:bodyPr/>
                    <a:lstStyle/>
                    <a:p>
                      <a:pPr algn="l">
                        <a:defRPr sz="1100">
                          <a:solidFill>
                            <a:srgbClr val="242424"/>
                          </a:solidFill>
                        </a:defRPr>
                      </a:pPr>
                      <a:r>
                        <a:t>microsoft.automation/automationaccounts/runbooks</a:t>
                      </a:r>
                    </a:p>
                  </a:txBody>
                  <a:tcPr>
                    <a:solidFill>
                      <a:srgbClr val="FFFFFF"/>
                    </a:solidFill>
                  </a:tcPr>
                </a:tc>
                <a:tc>
                  <a:txBody>
                    <a:bodyPr/>
                    <a:lstStyle/>
                    <a:p>
                      <a:pPr algn="l">
                        <a:defRPr sz="1100">
                          <a:solidFill>
                            <a:srgbClr val="242424"/>
                          </a:solidFill>
                        </a:defRPr>
                      </a:pPr>
                      <a:r>
                        <a:t>3</a:t>
                      </a:r>
                    </a:p>
                  </a:txBody>
                  <a:tcPr>
                    <a:solidFill>
                      <a:srgbClr val="FFFFFF"/>
                    </a:solidFill>
                  </a:tcPr>
                </a:tc>
              </a:tr>
              <a:tr h="274320">
                <a:tc>
                  <a:txBody>
                    <a:bodyPr/>
                    <a:lstStyle/>
                    <a:p>
                      <a:pPr algn="l">
                        <a:defRPr sz="1100">
                          <a:solidFill>
                            <a:srgbClr val="242424"/>
                          </a:solidFill>
                        </a:defRPr>
                      </a:pPr>
                      <a:r>
                        <a:t>microsoft.network/bastionhosts</a:t>
                      </a:r>
                    </a:p>
                  </a:txBody>
                  <a:tcPr>
                    <a:solidFill>
                      <a:srgbClr val="FFFFFF"/>
                    </a:solidFill>
                  </a:tcPr>
                </a:tc>
                <a:tc>
                  <a:txBody>
                    <a:bodyPr/>
                    <a:lstStyle/>
                    <a:p>
                      <a:pPr algn="l">
                        <a:defRPr sz="1100">
                          <a:solidFill>
                            <a:srgbClr val="242424"/>
                          </a:solidFill>
                        </a:defRPr>
                      </a:pPr>
                      <a:r>
                        <a:t>2</a:t>
                      </a:r>
                    </a:p>
                  </a:txBody>
                  <a:tcPr>
                    <a:solidFill>
                      <a:srgbClr val="FFFFFF"/>
                    </a:solidFill>
                  </a:tcPr>
                </a:tc>
              </a:tr>
              <a:tr h="274320">
                <a:tc>
                  <a:txBody>
                    <a:bodyPr/>
                    <a:lstStyle/>
                    <a:p>
                      <a:pPr algn="l">
                        <a:defRPr sz="1100">
                          <a:solidFill>
                            <a:srgbClr val="242424"/>
                          </a:solidFill>
                        </a:defRPr>
                      </a:pPr>
                      <a:r>
                        <a:t>microsoft.operationalinsights/workspaces</a:t>
                      </a:r>
                    </a:p>
                  </a:txBody>
                  <a:tcPr>
                    <a:solidFill>
                      <a:srgbClr val="FFFFFF"/>
                    </a:solidFill>
                  </a:tcPr>
                </a:tc>
                <a:tc>
                  <a:txBody>
                    <a:bodyPr/>
                    <a:lstStyle/>
                    <a:p>
                      <a:pPr algn="l">
                        <a:defRPr sz="1100">
                          <a:solidFill>
                            <a:srgbClr val="242424"/>
                          </a:solidFill>
                        </a:defRPr>
                      </a:pPr>
                      <a:r>
                        <a:t>2</a:t>
                      </a:r>
                    </a:p>
                  </a:txBody>
                  <a:tcPr>
                    <a:solidFill>
                      <a:srgbClr val="FFFFFF"/>
                    </a:solidFill>
                  </a:tcPr>
                </a:tc>
              </a:tr>
              <a:tr h="274320">
                <a:tc>
                  <a:txBody>
                    <a:bodyPr/>
                    <a:lstStyle/>
                    <a:p>
                      <a:pPr algn="l">
                        <a:defRPr sz="1100">
                          <a:solidFill>
                            <a:srgbClr val="242424"/>
                          </a:solidFill>
                        </a:defRPr>
                      </a:pPr>
                      <a:r>
                        <a:t>microsoft.network/networkinterfaces</a:t>
                      </a:r>
                    </a:p>
                  </a:txBody>
                  <a:tcPr>
                    <a:solidFill>
                      <a:srgbClr val="FFFFFF"/>
                    </a:solidFill>
                  </a:tcPr>
                </a:tc>
                <a:tc>
                  <a:txBody>
                    <a:bodyPr/>
                    <a:lstStyle/>
                    <a:p>
                      <a:pPr algn="l">
                        <a:defRPr sz="1100">
                          <a:solidFill>
                            <a:srgbClr val="242424"/>
                          </a:solidFill>
                        </a:defRPr>
                      </a:pPr>
                      <a:r>
                        <a:t>2</a:t>
                      </a:r>
                    </a:p>
                  </a:txBody>
                  <a:tcPr>
                    <a:solidFill>
                      <a:srgbClr val="FFFFFF"/>
                    </a:solidFill>
                  </a:tcPr>
                </a:tc>
              </a:tr>
            </a:tbl>
          </a:graphicData>
        </a:graphic>
      </p:graphicFrame>
      <p:sp>
        <p:nvSpPr>
          <p:cNvPr id="5" name="TextBox 4"/>
          <p:cNvSpPr txBox="1"/>
          <p:nvPr/>
        </p:nvSpPr>
        <p:spPr>
          <a:xfrm>
            <a:off x="731520" y="5806440"/>
            <a:ext cx="3657600" cy="365760"/>
          </a:xfrm>
          <a:prstGeom prst="rect">
            <a:avLst/>
          </a:prstGeom>
          <a:noFill/>
        </p:spPr>
        <p:txBody>
          <a:bodyPr wrap="none">
            <a:spAutoFit/>
          </a:bodyPr>
          <a:lstStyle/>
          <a:p>
            <a:pPr>
              <a:defRPr sz="1400" b="1">
                <a:solidFill>
                  <a:srgbClr val="242424"/>
                </a:solidFill>
              </a:defRPr>
            </a:pPr>
            <a:r>
              <a:t>Total resources: 91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972800" cy="731520"/>
          </a:xfrm>
          <a:prstGeom prst="rect">
            <a:avLst/>
          </a:prstGeom>
          <a:noFill/>
        </p:spPr>
        <p:txBody>
          <a:bodyPr wrap="none">
            <a:spAutoFit/>
          </a:bodyPr>
          <a:lstStyle/>
          <a:p>
            <a:pPr algn="l">
              <a:defRPr sz="2800" b="1">
                <a:solidFill>
                  <a:srgbClr val="242424"/>
                </a:solidFill>
              </a:defRPr>
            </a:pPr>
            <a:r>
              <a:t>Pillar: Security</a:t>
            </a:r>
          </a:p>
        </p:txBody>
      </p:sp>
      <p:sp>
        <p:nvSpPr>
          <p:cNvPr id="3" name="TextBox 2"/>
          <p:cNvSpPr txBox="1"/>
          <p:nvPr/>
        </p:nvSpPr>
        <p:spPr>
          <a:xfrm>
            <a:off x="8686800" y="6400800"/>
            <a:ext cx="2926080" cy="228600"/>
          </a:xfrm>
          <a:prstGeom prst="rect">
            <a:avLst/>
          </a:prstGeom>
          <a:noFill/>
        </p:spPr>
        <p:txBody>
          <a:bodyPr wrap="none">
            <a:spAutoFit/>
          </a:bodyPr>
          <a:lstStyle/>
          <a:p>
            <a:pPr algn="r">
              <a:defRPr sz="800">
                <a:solidFill>
                  <a:srgbClr val="999999"/>
                </a:solidFill>
                <a:latin typeface="Segoe UI"/>
              </a:defRPr>
            </a:pPr>
            <a:r>
              <a:t>AUTOMATICALLY GENERATED — Please Review</a:t>
            </a:r>
          </a:p>
        </p:txBody>
      </p:sp>
      <p:sp>
        <p:nvSpPr>
          <p:cNvPr id="4" name="TextBox 3"/>
          <p:cNvSpPr txBox="1"/>
          <p:nvPr/>
        </p:nvSpPr>
        <p:spPr>
          <a:xfrm>
            <a:off x="731520" y="1371600"/>
            <a:ext cx="3108960" cy="1097280"/>
          </a:xfrm>
          <a:prstGeom prst="rect">
            <a:avLst/>
          </a:prstGeom>
          <a:noFill/>
        </p:spPr>
        <p:txBody>
          <a:bodyPr wrap="square">
            <a:spAutoFit/>
          </a:bodyPr>
          <a:lstStyle/>
          <a:p>
            <a:pPr>
              <a:defRPr sz="4400" b="1">
                <a:solidFill>
                  <a:srgbClr val="CC0000"/>
                </a:solidFill>
              </a:defRPr>
            </a:pPr>
            <a:r>
              <a:t>30/100</a:t>
            </a:r>
          </a:p>
        </p:txBody>
      </p:sp>
      <p:sp>
        <p:nvSpPr>
          <p:cNvPr id="5" name="TextBox 4"/>
          <p:cNvSpPr txBox="1"/>
          <p:nvPr/>
        </p:nvSpPr>
        <p:spPr>
          <a:xfrm>
            <a:off x="731520" y="2834640"/>
            <a:ext cx="3108960" cy="1920240"/>
          </a:xfrm>
          <a:prstGeom prst="rect">
            <a:avLst/>
          </a:prstGeom>
          <a:noFill/>
        </p:spPr>
        <p:txBody>
          <a:bodyPr wrap="square">
            <a:spAutoFit/>
          </a:bodyPr>
          <a:lstStyle/>
          <a:p>
            <a:pPr>
              <a:spcAft>
                <a:spcPts val="300"/>
              </a:spcAft>
              <a:defRPr sz="1400">
                <a:solidFill>
                  <a:srgbClr val="242424"/>
                </a:solidFill>
              </a:defRPr>
            </a:pPr>
            <a:r>
              <a:t>Critical: 1</a:t>
            </a:r>
          </a:p>
          <a:p>
            <a:pPr>
              <a:spcAft>
                <a:spcPts val="300"/>
              </a:spcAft>
              <a:defRPr sz="1400">
                <a:solidFill>
                  <a:srgbClr val="242424"/>
                </a:solidFill>
              </a:defRPr>
            </a:pPr>
            <a:r>
              <a:t>High: 3</a:t>
            </a:r>
          </a:p>
          <a:p>
            <a:pPr>
              <a:spcAft>
                <a:spcPts val="300"/>
              </a:spcAft>
              <a:defRPr sz="1400">
                <a:solidFill>
                  <a:srgbClr val="242424"/>
                </a:solidFill>
              </a:defRPr>
            </a:pPr>
            <a:r>
              <a:t>Medium: 4</a:t>
            </a:r>
          </a:p>
          <a:p>
            <a:pPr>
              <a:spcAft>
                <a:spcPts val="300"/>
              </a:spcAft>
              <a:defRPr sz="1400">
                <a:solidFill>
                  <a:srgbClr val="242424"/>
                </a:solidFill>
              </a:defRPr>
            </a:pPr>
            <a:r>
              <a:t>Low: 0</a:t>
            </a:r>
          </a:p>
          <a:p>
            <a:pPr>
              <a:spcAft>
                <a:spcPts val="300"/>
              </a:spcAft>
              <a:defRPr sz="1400">
                <a:solidFill>
                  <a:srgbClr val="242424"/>
                </a:solidFill>
              </a:defRPr>
            </a:pPr>
            <a:r>
              <a:t>Total: 8</a:t>
            </a:r>
          </a:p>
        </p:txBody>
      </p:sp>
      <p:graphicFrame>
        <p:nvGraphicFramePr>
          <p:cNvPr id="6" name="Table 5"/>
          <p:cNvGraphicFramePr>
            <a:graphicFrameLocks noGrp="1"/>
          </p:cNvGraphicFramePr>
          <p:nvPr/>
        </p:nvGraphicFramePr>
        <p:xfrm>
          <a:off x="4206240" y="1371600"/>
          <a:ext cx="6949440" cy="2377440"/>
        </p:xfrm>
        <a:graphic>
          <a:graphicData uri="http://schemas.openxmlformats.org/drawingml/2006/table">
            <a:tbl>
              <a:tblPr firstRow="1" bandRow="1">
                <a:tableStyleId>{5C22544A-7EE6-4342-B048-85BDC9FD1C3A}</a:tableStyleId>
              </a:tblPr>
              <a:tblGrid>
                <a:gridCol w="1097280"/>
                <a:gridCol w="1371600"/>
                <a:gridCol w="4480560"/>
              </a:tblGrid>
              <a:tr h="396240">
                <a:tc>
                  <a:txBody>
                    <a:bodyPr/>
                    <a:lstStyle/>
                    <a:p>
                      <a:pPr algn="l">
                        <a:defRPr sz="1200" b="1">
                          <a:solidFill>
                            <a:srgbClr val="FFFFFF"/>
                          </a:solidFill>
                        </a:defRPr>
                      </a:pPr>
                      <a:r>
                        <a:t>Severity</a:t>
                      </a:r>
                    </a:p>
                  </a:txBody>
                  <a:tcPr>
                    <a:solidFill>
                      <a:srgbClr val="0078D4"/>
                    </a:solidFill>
                  </a:tcPr>
                </a:tc>
                <a:tc>
                  <a:txBody>
                    <a:bodyPr/>
                    <a:lstStyle/>
                    <a:p>
                      <a:pPr algn="l">
                        <a:defRPr sz="1200" b="1">
                          <a:solidFill>
                            <a:srgbClr val="FFFFFF"/>
                          </a:solidFill>
                        </a:defRPr>
                      </a:pPr>
                      <a:r>
                        <a:t>Rule ID</a:t>
                      </a:r>
                    </a:p>
                  </a:txBody>
                  <a:tcPr>
                    <a:solidFill>
                      <a:srgbClr val="0078D4"/>
                    </a:solidFill>
                  </a:tcPr>
                </a:tc>
                <a:tc>
                  <a:txBody>
                    <a:bodyPr/>
                    <a:lstStyle/>
                    <a:p>
                      <a:pPr algn="l">
                        <a:defRPr sz="1200" b="1">
                          <a:solidFill>
                            <a:srgbClr val="FFFFFF"/>
                          </a:solidFill>
                        </a:defRPr>
                      </a:pPr>
                      <a:r>
                        <a:t>Title</a:t>
                      </a:r>
                    </a:p>
                  </a:txBody>
                  <a:tcPr>
                    <a:solidFill>
                      <a:srgbClr val="0078D4"/>
                    </a:solidFill>
                  </a:tcPr>
                </a:tc>
              </a:tr>
              <a:tr h="396240">
                <a:tc>
                  <a:txBody>
                    <a:bodyPr/>
                    <a:lstStyle/>
                    <a:p>
                      <a:pPr algn="l">
                        <a:defRPr sz="1100" b="1">
                          <a:solidFill>
                            <a:srgbClr val="FFFFFF"/>
                          </a:solidFill>
                        </a:defRPr>
                      </a:pPr>
                      <a:r>
                        <a:t>Critical</a:t>
                      </a:r>
                    </a:p>
                  </a:txBody>
                  <a:tcPr>
                    <a:solidFill>
                      <a:srgbClr val="CC0000"/>
                    </a:solidFill>
                  </a:tcPr>
                </a:tc>
                <a:tc>
                  <a:txBody>
                    <a:bodyPr/>
                    <a:lstStyle/>
                    <a:p>
                      <a:pPr algn="l">
                        <a:defRPr sz="1100">
                          <a:solidFill>
                            <a:srgbClr val="242424"/>
                          </a:solidFill>
                        </a:defRPr>
                      </a:pPr>
                      <a:r>
                        <a:t>SEC-010</a:t>
                      </a:r>
                    </a:p>
                  </a:txBody>
                  <a:tcPr>
                    <a:solidFill>
                      <a:srgbClr val="FFFFFF"/>
                    </a:solidFill>
                  </a:tcPr>
                </a:tc>
                <a:tc>
                  <a:txBody>
                    <a:bodyPr/>
                    <a:lstStyle/>
                    <a:p>
                      <a:pPr algn="l">
                        <a:defRPr sz="1100">
                          <a:solidFill>
                            <a:srgbClr val="242424"/>
                          </a:solidFill>
                        </a:defRPr>
                      </a:pPr>
                      <a:r>
                        <a:t>Defender for Cloud enabled on subscriptions</a:t>
                      </a:r>
                    </a:p>
                  </a:txBody>
                  <a:tcPr>
                    <a:solidFill>
                      <a:srgbClr val="FFFFFF"/>
                    </a:solidFill>
                  </a:tcPr>
                </a:tc>
              </a:tr>
              <a:tr h="396240">
                <a:tc>
                  <a:txBody>
                    <a:bodyPr/>
                    <a:lstStyle/>
                    <a:p>
                      <a:pPr algn="l">
                        <a:defRPr sz="1100" b="1">
                          <a:solidFill>
                            <a:srgbClr val="FFFFFF"/>
                          </a:solidFill>
                        </a:defRPr>
                      </a:pPr>
                      <a:r>
                        <a:t>High</a:t>
                      </a:r>
                    </a:p>
                  </a:txBody>
                  <a:tcPr>
                    <a:solidFill>
                      <a:srgbClr val="E67300"/>
                    </a:solidFill>
                  </a:tcPr>
                </a:tc>
                <a:tc>
                  <a:txBody>
                    <a:bodyPr/>
                    <a:lstStyle/>
                    <a:p>
                      <a:pPr algn="l">
                        <a:defRPr sz="1100">
                          <a:solidFill>
                            <a:srgbClr val="242424"/>
                          </a:solidFill>
                        </a:defRPr>
                      </a:pPr>
                      <a:r>
                        <a:t>SEC-014</a:t>
                      </a:r>
                    </a:p>
                  </a:txBody>
                  <a:tcPr>
                    <a:solidFill>
                      <a:srgbClr val="FFFFFF"/>
                    </a:solidFill>
                  </a:tcPr>
                </a:tc>
                <a:tc>
                  <a:txBody>
                    <a:bodyPr/>
                    <a:lstStyle/>
                    <a:p>
                      <a:pPr algn="l">
                        <a:defRPr sz="1100">
                          <a:solidFill>
                            <a:srgbClr val="242424"/>
                          </a:solidFill>
                        </a:defRPr>
                      </a:pPr>
                      <a:r>
                        <a:t>DDoS Protection Plan on hub VNet</a:t>
                      </a:r>
                    </a:p>
                  </a:txBody>
                  <a:tcPr>
                    <a:solidFill>
                      <a:srgbClr val="FFFFFF"/>
                    </a:solidFill>
                  </a:tcPr>
                </a:tc>
              </a:tr>
              <a:tr h="396240">
                <a:tc>
                  <a:txBody>
                    <a:bodyPr/>
                    <a:lstStyle/>
                    <a:p>
                      <a:pPr algn="l">
                        <a:defRPr sz="1100" b="1">
                          <a:solidFill>
                            <a:srgbClr val="FFFFFF"/>
                          </a:solidFill>
                        </a:defRPr>
                      </a:pPr>
                      <a:r>
                        <a:t>High</a:t>
                      </a:r>
                    </a:p>
                  </a:txBody>
                  <a:tcPr>
                    <a:solidFill>
                      <a:srgbClr val="E67300"/>
                    </a:solidFill>
                  </a:tcPr>
                </a:tc>
                <a:tc>
                  <a:txBody>
                    <a:bodyPr/>
                    <a:lstStyle/>
                    <a:p>
                      <a:pPr algn="l">
                        <a:defRPr sz="1100">
                          <a:solidFill>
                            <a:srgbClr val="242424"/>
                          </a:solidFill>
                        </a:defRPr>
                      </a:pPr>
                      <a:r>
                        <a:t>SEC-025</a:t>
                      </a:r>
                    </a:p>
                  </a:txBody>
                  <a:tcPr>
                    <a:solidFill>
                      <a:srgbClr val="FFFFFF"/>
                    </a:solidFill>
                  </a:tcPr>
                </a:tc>
                <a:tc>
                  <a:txBody>
                    <a:bodyPr/>
                    <a:lstStyle/>
                    <a:p>
                      <a:pPr algn="l">
                        <a:defRPr sz="1100">
                          <a:solidFill>
                            <a:srgbClr val="242424"/>
                          </a:solidFill>
                        </a:defRPr>
                      </a:pPr>
                      <a:r>
                        <a:t>Managed Identity preferred over service principal secrets</a:t>
                      </a:r>
                    </a:p>
                  </a:txBody>
                  <a:tcPr>
                    <a:solidFill>
                      <a:srgbClr val="FFFFFF"/>
                    </a:solidFill>
                  </a:tcPr>
                </a:tc>
              </a:tr>
              <a:tr h="396240">
                <a:tc>
                  <a:txBody>
                    <a:bodyPr/>
                    <a:lstStyle/>
                    <a:p>
                      <a:pPr algn="l">
                        <a:defRPr sz="1100" b="1">
                          <a:solidFill>
                            <a:srgbClr val="FFFFFF"/>
                          </a:solidFill>
                        </a:defRPr>
                      </a:pPr>
                      <a:r>
                        <a:t>High</a:t>
                      </a:r>
                    </a:p>
                  </a:txBody>
                  <a:tcPr>
                    <a:solidFill>
                      <a:srgbClr val="E67300"/>
                    </a:solidFill>
                  </a:tcPr>
                </a:tc>
                <a:tc>
                  <a:txBody>
                    <a:bodyPr/>
                    <a:lstStyle/>
                    <a:p>
                      <a:pPr algn="l">
                        <a:defRPr sz="1100">
                          <a:solidFill>
                            <a:srgbClr val="242424"/>
                          </a:solidFill>
                        </a:defRPr>
                      </a:pPr>
                      <a:r>
                        <a:t>SEC-029</a:t>
                      </a:r>
                    </a:p>
                  </a:txBody>
                  <a:tcPr>
                    <a:solidFill>
                      <a:srgbClr val="FFFFFF"/>
                    </a:solidFill>
                  </a:tcPr>
                </a:tc>
                <a:tc>
                  <a:txBody>
                    <a:bodyPr/>
                    <a:lstStyle/>
                    <a:p>
                      <a:pPr algn="l">
                        <a:defRPr sz="1100">
                          <a:solidFill>
                            <a:srgbClr val="242424"/>
                          </a:solidFill>
                        </a:defRPr>
                      </a:pPr>
                      <a:r>
                        <a:t>Storage accounts require secure transfer (SMB encryption)</a:t>
                      </a:r>
                    </a:p>
                  </a:txBody>
                  <a:tcPr>
                    <a:solidFill>
                      <a:srgbClr val="FFFFFF"/>
                    </a:solidFill>
                  </a:tcPr>
                </a:tc>
              </a:tr>
              <a:tr h="396240">
                <a:tc>
                  <a:txBody>
                    <a:bodyPr/>
                    <a:lstStyle/>
                    <a:p>
                      <a:pPr algn="l">
                        <a:defRPr sz="1100" b="1">
                          <a:solidFill>
                            <a:srgbClr val="FFFFFF"/>
                          </a:solidFill>
                        </a:defRPr>
                      </a:pPr>
                      <a:r>
                        <a:t>Medium</a:t>
                      </a:r>
                    </a:p>
                  </a:txBody>
                  <a:tcPr>
                    <a:solidFill>
                      <a:srgbClr val="CCA300"/>
                    </a:solidFill>
                  </a:tcPr>
                </a:tc>
                <a:tc>
                  <a:txBody>
                    <a:bodyPr/>
                    <a:lstStyle/>
                    <a:p>
                      <a:pPr algn="l">
                        <a:defRPr sz="1100">
                          <a:solidFill>
                            <a:srgbClr val="242424"/>
                          </a:solidFill>
                        </a:defRPr>
                      </a:pPr>
                      <a:r>
                        <a:t>SEC-008</a:t>
                      </a:r>
                    </a:p>
                  </a:txBody>
                  <a:tcPr>
                    <a:solidFill>
                      <a:srgbClr val="FFFFFF"/>
                    </a:solidFill>
                  </a:tcPr>
                </a:tc>
                <a:tc>
                  <a:txBody>
                    <a:bodyPr/>
                    <a:lstStyle/>
                    <a:p>
                      <a:pPr algn="l">
                        <a:defRPr sz="1100">
                          <a:solidFill>
                            <a:srgbClr val="242424"/>
                          </a:solidFill>
                        </a:defRPr>
                      </a:pPr>
                      <a:r>
                        <a:t>Public IP addresses detected</a:t>
                      </a:r>
                    </a:p>
                  </a:txBody>
                  <a:tcP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972800" cy="731520"/>
          </a:xfrm>
          <a:prstGeom prst="rect">
            <a:avLst/>
          </a:prstGeom>
          <a:noFill/>
        </p:spPr>
        <p:txBody>
          <a:bodyPr wrap="none">
            <a:spAutoFit/>
          </a:bodyPr>
          <a:lstStyle/>
          <a:p>
            <a:pPr algn="l">
              <a:defRPr sz="2800" b="1">
                <a:solidFill>
                  <a:srgbClr val="242424"/>
                </a:solidFill>
              </a:defRPr>
            </a:pPr>
            <a:r>
              <a:t>Pillar: Reliability</a:t>
            </a:r>
          </a:p>
        </p:txBody>
      </p:sp>
      <p:sp>
        <p:nvSpPr>
          <p:cNvPr id="3" name="TextBox 2"/>
          <p:cNvSpPr txBox="1"/>
          <p:nvPr/>
        </p:nvSpPr>
        <p:spPr>
          <a:xfrm>
            <a:off x="8686800" y="6400800"/>
            <a:ext cx="2926080" cy="228600"/>
          </a:xfrm>
          <a:prstGeom prst="rect">
            <a:avLst/>
          </a:prstGeom>
          <a:noFill/>
        </p:spPr>
        <p:txBody>
          <a:bodyPr wrap="none">
            <a:spAutoFit/>
          </a:bodyPr>
          <a:lstStyle/>
          <a:p>
            <a:pPr algn="r">
              <a:defRPr sz="800">
                <a:solidFill>
                  <a:srgbClr val="999999"/>
                </a:solidFill>
                <a:latin typeface="Segoe UI"/>
              </a:defRPr>
            </a:pPr>
            <a:r>
              <a:t>AUTOMATICALLY GENERATED — Please Review</a:t>
            </a:r>
          </a:p>
        </p:txBody>
      </p:sp>
      <p:sp>
        <p:nvSpPr>
          <p:cNvPr id="4" name="TextBox 3"/>
          <p:cNvSpPr txBox="1"/>
          <p:nvPr/>
        </p:nvSpPr>
        <p:spPr>
          <a:xfrm>
            <a:off x="731520" y="1371600"/>
            <a:ext cx="3108960" cy="1097280"/>
          </a:xfrm>
          <a:prstGeom prst="rect">
            <a:avLst/>
          </a:prstGeom>
          <a:noFill/>
        </p:spPr>
        <p:txBody>
          <a:bodyPr wrap="square">
            <a:spAutoFit/>
          </a:bodyPr>
          <a:lstStyle/>
          <a:p>
            <a:pPr>
              <a:defRPr sz="4400" b="1">
                <a:solidFill>
                  <a:srgbClr val="CC0000"/>
                </a:solidFill>
              </a:defRPr>
            </a:pPr>
            <a:r>
              <a:t>15/100</a:t>
            </a:r>
          </a:p>
        </p:txBody>
      </p:sp>
      <p:sp>
        <p:nvSpPr>
          <p:cNvPr id="5" name="TextBox 4"/>
          <p:cNvSpPr txBox="1"/>
          <p:nvPr/>
        </p:nvSpPr>
        <p:spPr>
          <a:xfrm>
            <a:off x="731520" y="2834640"/>
            <a:ext cx="3108960" cy="1920240"/>
          </a:xfrm>
          <a:prstGeom prst="rect">
            <a:avLst/>
          </a:prstGeom>
          <a:noFill/>
        </p:spPr>
        <p:txBody>
          <a:bodyPr wrap="square">
            <a:spAutoFit/>
          </a:bodyPr>
          <a:lstStyle/>
          <a:p>
            <a:pPr>
              <a:spcAft>
                <a:spcPts val="300"/>
              </a:spcAft>
              <a:defRPr sz="1400">
                <a:solidFill>
                  <a:srgbClr val="242424"/>
                </a:solidFill>
              </a:defRPr>
            </a:pPr>
            <a:r>
              <a:t>Critical: 0</a:t>
            </a:r>
          </a:p>
          <a:p>
            <a:pPr>
              <a:spcAft>
                <a:spcPts val="300"/>
              </a:spcAft>
              <a:defRPr sz="1400">
                <a:solidFill>
                  <a:srgbClr val="242424"/>
                </a:solidFill>
              </a:defRPr>
            </a:pPr>
            <a:r>
              <a:t>High: 6</a:t>
            </a:r>
          </a:p>
          <a:p>
            <a:pPr>
              <a:spcAft>
                <a:spcPts val="300"/>
              </a:spcAft>
              <a:defRPr sz="1400">
                <a:solidFill>
                  <a:srgbClr val="242424"/>
                </a:solidFill>
              </a:defRPr>
            </a:pPr>
            <a:r>
              <a:t>Medium: 5</a:t>
            </a:r>
          </a:p>
          <a:p>
            <a:pPr>
              <a:spcAft>
                <a:spcPts val="300"/>
              </a:spcAft>
              <a:defRPr sz="1400">
                <a:solidFill>
                  <a:srgbClr val="242424"/>
                </a:solidFill>
              </a:defRPr>
            </a:pPr>
            <a:r>
              <a:t>Low: 0</a:t>
            </a:r>
          </a:p>
          <a:p>
            <a:pPr>
              <a:spcAft>
                <a:spcPts val="300"/>
              </a:spcAft>
              <a:defRPr sz="1400">
                <a:solidFill>
                  <a:srgbClr val="242424"/>
                </a:solidFill>
              </a:defRPr>
            </a:pPr>
            <a:r>
              <a:t>Total: 11</a:t>
            </a:r>
          </a:p>
        </p:txBody>
      </p:sp>
      <p:graphicFrame>
        <p:nvGraphicFramePr>
          <p:cNvPr id="6" name="Table 5"/>
          <p:cNvGraphicFramePr>
            <a:graphicFrameLocks noGrp="1"/>
          </p:cNvGraphicFramePr>
          <p:nvPr/>
        </p:nvGraphicFramePr>
        <p:xfrm>
          <a:off x="4206240" y="1371600"/>
          <a:ext cx="6949440" cy="2377440"/>
        </p:xfrm>
        <a:graphic>
          <a:graphicData uri="http://schemas.openxmlformats.org/drawingml/2006/table">
            <a:tbl>
              <a:tblPr firstRow="1" bandRow="1">
                <a:tableStyleId>{5C22544A-7EE6-4342-B048-85BDC9FD1C3A}</a:tableStyleId>
              </a:tblPr>
              <a:tblGrid>
                <a:gridCol w="1097280"/>
                <a:gridCol w="1371600"/>
                <a:gridCol w="4480560"/>
              </a:tblGrid>
              <a:tr h="396240">
                <a:tc>
                  <a:txBody>
                    <a:bodyPr/>
                    <a:lstStyle/>
                    <a:p>
                      <a:pPr algn="l">
                        <a:defRPr sz="1200" b="1">
                          <a:solidFill>
                            <a:srgbClr val="FFFFFF"/>
                          </a:solidFill>
                        </a:defRPr>
                      </a:pPr>
                      <a:r>
                        <a:t>Severity</a:t>
                      </a:r>
                    </a:p>
                  </a:txBody>
                  <a:tcPr>
                    <a:solidFill>
                      <a:srgbClr val="0078D4"/>
                    </a:solidFill>
                  </a:tcPr>
                </a:tc>
                <a:tc>
                  <a:txBody>
                    <a:bodyPr/>
                    <a:lstStyle/>
                    <a:p>
                      <a:pPr algn="l">
                        <a:defRPr sz="1200" b="1">
                          <a:solidFill>
                            <a:srgbClr val="FFFFFF"/>
                          </a:solidFill>
                        </a:defRPr>
                      </a:pPr>
                      <a:r>
                        <a:t>Rule ID</a:t>
                      </a:r>
                    </a:p>
                  </a:txBody>
                  <a:tcPr>
                    <a:solidFill>
                      <a:srgbClr val="0078D4"/>
                    </a:solidFill>
                  </a:tcPr>
                </a:tc>
                <a:tc>
                  <a:txBody>
                    <a:bodyPr/>
                    <a:lstStyle/>
                    <a:p>
                      <a:pPr algn="l">
                        <a:defRPr sz="1200" b="1">
                          <a:solidFill>
                            <a:srgbClr val="FFFFFF"/>
                          </a:solidFill>
                        </a:defRPr>
                      </a:pPr>
                      <a:r>
                        <a:t>Title</a:t>
                      </a:r>
                    </a:p>
                  </a:txBody>
                  <a:tcPr>
                    <a:solidFill>
                      <a:srgbClr val="0078D4"/>
                    </a:solidFill>
                  </a:tcPr>
                </a:tc>
              </a:tr>
              <a:tr h="396240">
                <a:tc>
                  <a:txBody>
                    <a:bodyPr/>
                    <a:lstStyle/>
                    <a:p>
                      <a:pPr algn="l">
                        <a:defRPr sz="1100" b="1">
                          <a:solidFill>
                            <a:srgbClr val="FFFFFF"/>
                          </a:solidFill>
                        </a:defRPr>
                      </a:pPr>
                      <a:r>
                        <a:t>High</a:t>
                      </a:r>
                    </a:p>
                  </a:txBody>
                  <a:tcPr>
                    <a:solidFill>
                      <a:srgbClr val="E67300"/>
                    </a:solidFill>
                  </a:tcPr>
                </a:tc>
                <a:tc>
                  <a:txBody>
                    <a:bodyPr/>
                    <a:lstStyle/>
                    <a:p>
                      <a:pPr algn="l">
                        <a:defRPr sz="1100">
                          <a:solidFill>
                            <a:srgbClr val="242424"/>
                          </a:solidFill>
                        </a:defRPr>
                      </a:pPr>
                      <a:r>
                        <a:t>APRL-REL-E6C7E1CC</a:t>
                      </a:r>
                    </a:p>
                  </a:txBody>
                  <a:tcPr>
                    <a:solidFill>
                      <a:srgbClr val="FFFFFF"/>
                    </a:solidFill>
                  </a:tcPr>
                </a:tc>
                <a:tc>
                  <a:txBody>
                    <a:bodyPr/>
                    <a:lstStyle/>
                    <a:p>
                      <a:pPr algn="l">
                        <a:defRPr sz="1100">
                          <a:solidFill>
                            <a:srgbClr val="242424"/>
                          </a:solidFill>
                        </a:defRPr>
                      </a:pPr>
                      <a:r>
                        <a:t>Ensure that storage accounts are zone or region redundant (storageAccounts)</a:t>
                      </a:r>
                    </a:p>
                  </a:txBody>
                  <a:tcPr>
                    <a:solidFill>
                      <a:srgbClr val="FFFFFF"/>
                    </a:solidFill>
                  </a:tcPr>
                </a:tc>
              </a:tr>
              <a:tr h="396240">
                <a:tc>
                  <a:txBody>
                    <a:bodyPr/>
                    <a:lstStyle/>
                    <a:p>
                      <a:pPr algn="l">
                        <a:defRPr sz="1100" b="1">
                          <a:solidFill>
                            <a:srgbClr val="FFFFFF"/>
                          </a:solidFill>
                        </a:defRPr>
                      </a:pPr>
                      <a:r>
                        <a:t>High</a:t>
                      </a:r>
                    </a:p>
                  </a:txBody>
                  <a:tcPr>
                    <a:solidFill>
                      <a:srgbClr val="E67300"/>
                    </a:solidFill>
                  </a:tcPr>
                </a:tc>
                <a:tc>
                  <a:txBody>
                    <a:bodyPr/>
                    <a:lstStyle/>
                    <a:p>
                      <a:pPr algn="l">
                        <a:defRPr sz="1100">
                          <a:solidFill>
                            <a:srgbClr val="242424"/>
                          </a:solidFill>
                        </a:defRPr>
                      </a:pPr>
                      <a:r>
                        <a:t>APRL-REL-C63B81FB</a:t>
                      </a:r>
                    </a:p>
                  </a:txBody>
                  <a:tcPr>
                    <a:solidFill>
                      <a:srgbClr val="FFFFFF"/>
                    </a:solidFill>
                  </a:tcPr>
                </a:tc>
                <a:tc>
                  <a:txBody>
                    <a:bodyPr/>
                    <a:lstStyle/>
                    <a:p>
                      <a:pPr algn="l">
                        <a:defRPr sz="1100">
                          <a:solidFill>
                            <a:srgbClr val="242424"/>
                          </a:solidFill>
                        </a:defRPr>
                      </a:pPr>
                      <a:r>
                        <a:t>Use Standard SKU and Zone-Redundant IPs when applicable (publicIPAddresses)</a:t>
                      </a:r>
                    </a:p>
                  </a:txBody>
                  <a:tcPr>
                    <a:solidFill>
                      <a:srgbClr val="FFFFFF"/>
                    </a:solidFill>
                  </a:tcPr>
                </a:tc>
              </a:tr>
              <a:tr h="396240">
                <a:tc>
                  <a:txBody>
                    <a:bodyPr/>
                    <a:lstStyle/>
                    <a:p>
                      <a:pPr algn="l">
                        <a:defRPr sz="1100" b="1">
                          <a:solidFill>
                            <a:srgbClr val="FFFFFF"/>
                          </a:solidFill>
                        </a:defRPr>
                      </a:pPr>
                      <a:r>
                        <a:t>High</a:t>
                      </a:r>
                    </a:p>
                  </a:txBody>
                  <a:tcPr>
                    <a:solidFill>
                      <a:srgbClr val="E67300"/>
                    </a:solidFill>
                  </a:tcPr>
                </a:tc>
                <a:tc>
                  <a:txBody>
                    <a:bodyPr/>
                    <a:lstStyle/>
                    <a:p>
                      <a:pPr algn="l">
                        <a:defRPr sz="1100">
                          <a:solidFill>
                            <a:srgbClr val="242424"/>
                          </a:solidFill>
                        </a:defRPr>
                      </a:pPr>
                      <a:r>
                        <a:t>APRL-REL-273F6B30</a:t>
                      </a:r>
                    </a:p>
                  </a:txBody>
                  <a:tcPr>
                    <a:solidFill>
                      <a:srgbClr val="FFFFFF"/>
                    </a:solidFill>
                  </a:tcPr>
                </a:tc>
                <a:tc>
                  <a:txBody>
                    <a:bodyPr/>
                    <a:lstStyle/>
                    <a:p>
                      <a:pPr algn="l">
                        <a:defRPr sz="1100">
                          <a:solidFill>
                            <a:srgbClr val="242424"/>
                          </a:solidFill>
                        </a:defRPr>
                      </a:pPr>
                      <a:r>
                        <a:t>Run production workloads on two or more VMs using VMSS Flex (virtualMachines)</a:t>
                      </a:r>
                    </a:p>
                  </a:txBody>
                  <a:tcPr>
                    <a:solidFill>
                      <a:srgbClr val="FFFFFF"/>
                    </a:solidFill>
                  </a:tcPr>
                </a:tc>
              </a:tr>
              <a:tr h="396240">
                <a:tc>
                  <a:txBody>
                    <a:bodyPr/>
                    <a:lstStyle/>
                    <a:p>
                      <a:pPr algn="l">
                        <a:defRPr sz="1100" b="1">
                          <a:solidFill>
                            <a:srgbClr val="FFFFFF"/>
                          </a:solidFill>
                        </a:defRPr>
                      </a:pPr>
                      <a:r>
                        <a:t>High</a:t>
                      </a:r>
                    </a:p>
                  </a:txBody>
                  <a:tcPr>
                    <a:solidFill>
                      <a:srgbClr val="E67300"/>
                    </a:solidFill>
                  </a:tcPr>
                </a:tc>
                <a:tc>
                  <a:txBody>
                    <a:bodyPr/>
                    <a:lstStyle/>
                    <a:p>
                      <a:pPr algn="l">
                        <a:defRPr sz="1100">
                          <a:solidFill>
                            <a:srgbClr val="242424"/>
                          </a:solidFill>
                        </a:defRPr>
                      </a:pPr>
                      <a:r>
                        <a:t>APRL-REL-2BD0BE95</a:t>
                      </a:r>
                    </a:p>
                  </a:txBody>
                  <a:tcPr>
                    <a:solidFill>
                      <a:srgbClr val="FFFFFF"/>
                    </a:solidFill>
                  </a:tcPr>
                </a:tc>
                <a:tc>
                  <a:txBody>
                    <a:bodyPr/>
                    <a:lstStyle/>
                    <a:p>
                      <a:pPr algn="l">
                        <a:defRPr sz="1100">
                          <a:solidFill>
                            <a:srgbClr val="242424"/>
                          </a:solidFill>
                        </a:defRPr>
                      </a:pPr>
                      <a:r>
                        <a:t>Deploy VMs across Availability Zones (virtualMachines)</a:t>
                      </a:r>
                    </a:p>
                  </a:txBody>
                  <a:tcPr>
                    <a:solidFill>
                      <a:srgbClr val="FFFFFF"/>
                    </a:solidFill>
                  </a:tcPr>
                </a:tc>
              </a:tr>
              <a:tr h="396240">
                <a:tc>
                  <a:txBody>
                    <a:bodyPr/>
                    <a:lstStyle/>
                    <a:p>
                      <a:pPr algn="l">
                        <a:defRPr sz="1100" b="1">
                          <a:solidFill>
                            <a:srgbClr val="FFFFFF"/>
                          </a:solidFill>
                        </a:defRPr>
                      </a:pPr>
                      <a:r>
                        <a:t>High</a:t>
                      </a:r>
                    </a:p>
                  </a:txBody>
                  <a:tcPr>
                    <a:solidFill>
                      <a:srgbClr val="E67300"/>
                    </a:solidFill>
                  </a:tcPr>
                </a:tc>
                <a:tc>
                  <a:txBody>
                    <a:bodyPr/>
                    <a:lstStyle/>
                    <a:p>
                      <a:pPr algn="l">
                        <a:defRPr sz="1100">
                          <a:solidFill>
                            <a:srgbClr val="242424"/>
                          </a:solidFill>
                        </a:defRPr>
                      </a:pPr>
                      <a:r>
                        <a:t>REL-001</a:t>
                      </a:r>
                    </a:p>
                  </a:txBody>
                  <a:tcPr>
                    <a:solidFill>
                      <a:srgbClr val="FFFFFF"/>
                    </a:solidFill>
                  </a:tcPr>
                </a:tc>
                <a:tc>
                  <a:txBody>
                    <a:bodyPr/>
                    <a:lstStyle/>
                    <a:p>
                      <a:pPr algn="l">
                        <a:defRPr sz="1100">
                          <a:solidFill>
                            <a:srgbClr val="242424"/>
                          </a:solidFill>
                        </a:defRPr>
                      </a:pPr>
                      <a:r>
                        <a:t>VMs without availability zones</a:t>
                      </a:r>
                    </a:p>
                  </a:txBody>
                  <a:tcP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972800" cy="731520"/>
          </a:xfrm>
          <a:prstGeom prst="rect">
            <a:avLst/>
          </a:prstGeom>
          <a:noFill/>
        </p:spPr>
        <p:txBody>
          <a:bodyPr wrap="none">
            <a:spAutoFit/>
          </a:bodyPr>
          <a:lstStyle/>
          <a:p>
            <a:pPr algn="l">
              <a:defRPr sz="2800" b="1">
                <a:solidFill>
                  <a:srgbClr val="242424"/>
                </a:solidFill>
              </a:defRPr>
            </a:pPr>
            <a:r>
              <a:t>Pillar: Cost Optimization</a:t>
            </a:r>
          </a:p>
        </p:txBody>
      </p:sp>
      <p:sp>
        <p:nvSpPr>
          <p:cNvPr id="3" name="TextBox 2"/>
          <p:cNvSpPr txBox="1"/>
          <p:nvPr/>
        </p:nvSpPr>
        <p:spPr>
          <a:xfrm>
            <a:off x="8686800" y="6400800"/>
            <a:ext cx="2926080" cy="228600"/>
          </a:xfrm>
          <a:prstGeom prst="rect">
            <a:avLst/>
          </a:prstGeom>
          <a:noFill/>
        </p:spPr>
        <p:txBody>
          <a:bodyPr wrap="none">
            <a:spAutoFit/>
          </a:bodyPr>
          <a:lstStyle/>
          <a:p>
            <a:pPr algn="r">
              <a:defRPr sz="800">
                <a:solidFill>
                  <a:srgbClr val="999999"/>
                </a:solidFill>
                <a:latin typeface="Segoe UI"/>
              </a:defRPr>
            </a:pPr>
            <a:r>
              <a:t>AUTOMATICALLY GENERATED — Please Review</a:t>
            </a:r>
          </a:p>
        </p:txBody>
      </p:sp>
      <p:sp>
        <p:nvSpPr>
          <p:cNvPr id="4" name="TextBox 3"/>
          <p:cNvSpPr txBox="1"/>
          <p:nvPr/>
        </p:nvSpPr>
        <p:spPr>
          <a:xfrm>
            <a:off x="731520" y="1371600"/>
            <a:ext cx="3108960" cy="1097280"/>
          </a:xfrm>
          <a:prstGeom prst="rect">
            <a:avLst/>
          </a:prstGeom>
          <a:noFill/>
        </p:spPr>
        <p:txBody>
          <a:bodyPr wrap="square">
            <a:spAutoFit/>
          </a:bodyPr>
          <a:lstStyle/>
          <a:p>
            <a:pPr>
              <a:defRPr sz="4400" b="1">
                <a:solidFill>
                  <a:srgbClr val="CC0000"/>
                </a:solidFill>
              </a:defRPr>
            </a:pPr>
            <a:r>
              <a:t>33/100</a:t>
            </a:r>
          </a:p>
        </p:txBody>
      </p:sp>
      <p:sp>
        <p:nvSpPr>
          <p:cNvPr id="5" name="TextBox 4"/>
          <p:cNvSpPr txBox="1"/>
          <p:nvPr/>
        </p:nvSpPr>
        <p:spPr>
          <a:xfrm>
            <a:off x="731520" y="2834640"/>
            <a:ext cx="3108960" cy="1920240"/>
          </a:xfrm>
          <a:prstGeom prst="rect">
            <a:avLst/>
          </a:prstGeom>
          <a:noFill/>
        </p:spPr>
        <p:txBody>
          <a:bodyPr wrap="square">
            <a:spAutoFit/>
          </a:bodyPr>
          <a:lstStyle/>
          <a:p>
            <a:pPr>
              <a:spcAft>
                <a:spcPts val="300"/>
              </a:spcAft>
              <a:defRPr sz="1400">
                <a:solidFill>
                  <a:srgbClr val="242424"/>
                </a:solidFill>
              </a:defRPr>
            </a:pPr>
            <a:r>
              <a:t>Critical: 0</a:t>
            </a:r>
          </a:p>
          <a:p>
            <a:pPr>
              <a:spcAft>
                <a:spcPts val="300"/>
              </a:spcAft>
              <a:defRPr sz="1400">
                <a:solidFill>
                  <a:srgbClr val="242424"/>
                </a:solidFill>
              </a:defRPr>
            </a:pPr>
            <a:r>
              <a:t>High: 4</a:t>
            </a:r>
          </a:p>
          <a:p>
            <a:pPr>
              <a:spcAft>
                <a:spcPts val="300"/>
              </a:spcAft>
              <a:defRPr sz="1400">
                <a:solidFill>
                  <a:srgbClr val="242424"/>
                </a:solidFill>
              </a:defRPr>
            </a:pPr>
            <a:r>
              <a:t>Medium: 5</a:t>
            </a:r>
          </a:p>
          <a:p>
            <a:pPr>
              <a:spcAft>
                <a:spcPts val="300"/>
              </a:spcAft>
              <a:defRPr sz="1400">
                <a:solidFill>
                  <a:srgbClr val="242424"/>
                </a:solidFill>
              </a:defRPr>
            </a:pPr>
            <a:r>
              <a:t>Low: 1</a:t>
            </a:r>
          </a:p>
          <a:p>
            <a:pPr>
              <a:spcAft>
                <a:spcPts val="300"/>
              </a:spcAft>
              <a:defRPr sz="1400">
                <a:solidFill>
                  <a:srgbClr val="242424"/>
                </a:solidFill>
              </a:defRPr>
            </a:pPr>
            <a:r>
              <a:t>Total: 10</a:t>
            </a:r>
          </a:p>
        </p:txBody>
      </p:sp>
      <p:graphicFrame>
        <p:nvGraphicFramePr>
          <p:cNvPr id="6" name="Table 5"/>
          <p:cNvGraphicFramePr>
            <a:graphicFrameLocks noGrp="1"/>
          </p:cNvGraphicFramePr>
          <p:nvPr/>
        </p:nvGraphicFramePr>
        <p:xfrm>
          <a:off x="4206240" y="1371600"/>
          <a:ext cx="6949440" cy="2377440"/>
        </p:xfrm>
        <a:graphic>
          <a:graphicData uri="http://schemas.openxmlformats.org/drawingml/2006/table">
            <a:tbl>
              <a:tblPr firstRow="1" bandRow="1">
                <a:tableStyleId>{5C22544A-7EE6-4342-B048-85BDC9FD1C3A}</a:tableStyleId>
              </a:tblPr>
              <a:tblGrid>
                <a:gridCol w="1097280"/>
                <a:gridCol w="1371600"/>
                <a:gridCol w="4480560"/>
              </a:tblGrid>
              <a:tr h="396240">
                <a:tc>
                  <a:txBody>
                    <a:bodyPr/>
                    <a:lstStyle/>
                    <a:p>
                      <a:pPr algn="l">
                        <a:defRPr sz="1200" b="1">
                          <a:solidFill>
                            <a:srgbClr val="FFFFFF"/>
                          </a:solidFill>
                        </a:defRPr>
                      </a:pPr>
                      <a:r>
                        <a:t>Severity</a:t>
                      </a:r>
                    </a:p>
                  </a:txBody>
                  <a:tcPr>
                    <a:solidFill>
                      <a:srgbClr val="0078D4"/>
                    </a:solidFill>
                  </a:tcPr>
                </a:tc>
                <a:tc>
                  <a:txBody>
                    <a:bodyPr/>
                    <a:lstStyle/>
                    <a:p>
                      <a:pPr algn="l">
                        <a:defRPr sz="1200" b="1">
                          <a:solidFill>
                            <a:srgbClr val="FFFFFF"/>
                          </a:solidFill>
                        </a:defRPr>
                      </a:pPr>
                      <a:r>
                        <a:t>Rule ID</a:t>
                      </a:r>
                    </a:p>
                  </a:txBody>
                  <a:tcPr>
                    <a:solidFill>
                      <a:srgbClr val="0078D4"/>
                    </a:solidFill>
                  </a:tcPr>
                </a:tc>
                <a:tc>
                  <a:txBody>
                    <a:bodyPr/>
                    <a:lstStyle/>
                    <a:p>
                      <a:pPr algn="l">
                        <a:defRPr sz="1200" b="1">
                          <a:solidFill>
                            <a:srgbClr val="FFFFFF"/>
                          </a:solidFill>
                        </a:defRPr>
                      </a:pPr>
                      <a:r>
                        <a:t>Title</a:t>
                      </a:r>
                    </a:p>
                  </a:txBody>
                  <a:tcPr>
                    <a:solidFill>
                      <a:srgbClr val="0078D4"/>
                    </a:solidFill>
                  </a:tcPr>
                </a:tc>
              </a:tr>
              <a:tr h="396240">
                <a:tc>
                  <a:txBody>
                    <a:bodyPr/>
                    <a:lstStyle/>
                    <a:p>
                      <a:pPr algn="l">
                        <a:defRPr sz="1100" b="1">
                          <a:solidFill>
                            <a:srgbClr val="FFFFFF"/>
                          </a:solidFill>
                        </a:defRPr>
                      </a:pPr>
                      <a:r>
                        <a:t>High</a:t>
                      </a:r>
                    </a:p>
                  </a:txBody>
                  <a:tcPr>
                    <a:solidFill>
                      <a:srgbClr val="E67300"/>
                    </a:solidFill>
                  </a:tcPr>
                </a:tc>
                <a:tc>
                  <a:txBody>
                    <a:bodyPr/>
                    <a:lstStyle/>
                    <a:p>
                      <a:pPr algn="l">
                        <a:defRPr sz="1100">
                          <a:solidFill>
                            <a:srgbClr val="242424"/>
                          </a:solidFill>
                        </a:defRPr>
                      </a:pPr>
                      <a:r>
                        <a:t>COS-001</a:t>
                      </a:r>
                    </a:p>
                  </a:txBody>
                  <a:tcPr>
                    <a:solidFill>
                      <a:srgbClr val="FFFFFF"/>
                    </a:solidFill>
                  </a:tcPr>
                </a:tc>
                <a:tc>
                  <a:txBody>
                    <a:bodyPr/>
                    <a:lstStyle/>
                    <a:p>
                      <a:pPr algn="l">
                        <a:defRPr sz="1100">
                          <a:solidFill>
                            <a:srgbClr val="242424"/>
                          </a:solidFill>
                        </a:defRPr>
                      </a:pPr>
                      <a:r>
                        <a:t>No budget resources found</a:t>
                      </a:r>
                    </a:p>
                  </a:txBody>
                  <a:tcPr>
                    <a:solidFill>
                      <a:srgbClr val="FFFFFF"/>
                    </a:solidFill>
                  </a:tcPr>
                </a:tc>
              </a:tr>
              <a:tr h="396240">
                <a:tc>
                  <a:txBody>
                    <a:bodyPr/>
                    <a:lstStyle/>
                    <a:p>
                      <a:pPr algn="l">
                        <a:defRPr sz="1100" b="1">
                          <a:solidFill>
                            <a:srgbClr val="FFFFFF"/>
                          </a:solidFill>
                        </a:defRPr>
                      </a:pPr>
                      <a:r>
                        <a:t>High</a:t>
                      </a:r>
                    </a:p>
                  </a:txBody>
                  <a:tcPr>
                    <a:solidFill>
                      <a:srgbClr val="E67300"/>
                    </a:solidFill>
                  </a:tcPr>
                </a:tc>
                <a:tc>
                  <a:txBody>
                    <a:bodyPr/>
                    <a:lstStyle/>
                    <a:p>
                      <a:pPr algn="l">
                        <a:defRPr sz="1100">
                          <a:solidFill>
                            <a:srgbClr val="242424"/>
                          </a:solidFill>
                        </a:defRPr>
                      </a:pPr>
                      <a:r>
                        <a:t>COS-014</a:t>
                      </a:r>
                    </a:p>
                  </a:txBody>
                  <a:tcPr>
                    <a:solidFill>
                      <a:srgbClr val="FFFFFF"/>
                    </a:solidFill>
                  </a:tcPr>
                </a:tc>
                <a:tc>
                  <a:txBody>
                    <a:bodyPr/>
                    <a:lstStyle/>
                    <a:p>
                      <a:pPr algn="l">
                        <a:defRPr sz="1100">
                          <a:solidFill>
                            <a:srgbClr val="242424"/>
                          </a:solidFill>
                        </a:defRPr>
                      </a:pPr>
                      <a:r>
                        <a:t>Azure Advisor cost recommendations pending</a:t>
                      </a:r>
                    </a:p>
                  </a:txBody>
                  <a:tcPr>
                    <a:solidFill>
                      <a:srgbClr val="FFFFFF"/>
                    </a:solidFill>
                  </a:tcPr>
                </a:tc>
              </a:tr>
              <a:tr h="396240">
                <a:tc>
                  <a:txBody>
                    <a:bodyPr/>
                    <a:lstStyle/>
                    <a:p>
                      <a:pPr algn="l">
                        <a:defRPr sz="1100" b="1">
                          <a:solidFill>
                            <a:srgbClr val="FFFFFF"/>
                          </a:solidFill>
                        </a:defRPr>
                      </a:pPr>
                      <a:r>
                        <a:t>High</a:t>
                      </a:r>
                    </a:p>
                  </a:txBody>
                  <a:tcPr>
                    <a:solidFill>
                      <a:srgbClr val="E67300"/>
                    </a:solidFill>
                  </a:tcPr>
                </a:tc>
                <a:tc>
                  <a:txBody>
                    <a:bodyPr/>
                    <a:lstStyle/>
                    <a:p>
                      <a:pPr algn="l">
                        <a:defRPr sz="1100">
                          <a:solidFill>
                            <a:srgbClr val="242424"/>
                          </a:solidFill>
                        </a:defRPr>
                      </a:pPr>
                      <a:r>
                        <a:t>COS-017</a:t>
                      </a:r>
                    </a:p>
                  </a:txBody>
                  <a:tcPr>
                    <a:solidFill>
                      <a:srgbClr val="FFFFFF"/>
                    </a:solidFill>
                  </a:tcPr>
                </a:tc>
                <a:tc>
                  <a:txBody>
                    <a:bodyPr/>
                    <a:lstStyle/>
                    <a:p>
                      <a:pPr algn="l">
                        <a:defRPr sz="1100">
                          <a:solidFill>
                            <a:srgbClr val="242424"/>
                          </a:solidFill>
                        </a:defRPr>
                      </a:pPr>
                      <a:r>
                        <a:t>Resource groups missing CostCenter tag</a:t>
                      </a:r>
                    </a:p>
                  </a:txBody>
                  <a:tcPr>
                    <a:solidFill>
                      <a:srgbClr val="FFFFFF"/>
                    </a:solidFill>
                  </a:tcPr>
                </a:tc>
              </a:tr>
              <a:tr h="396240">
                <a:tc>
                  <a:txBody>
                    <a:bodyPr/>
                    <a:lstStyle/>
                    <a:p>
                      <a:pPr algn="l">
                        <a:defRPr sz="1100" b="1">
                          <a:solidFill>
                            <a:srgbClr val="FFFFFF"/>
                          </a:solidFill>
                        </a:defRPr>
                      </a:pPr>
                      <a:r>
                        <a:t>High</a:t>
                      </a:r>
                    </a:p>
                  </a:txBody>
                  <a:tcPr>
                    <a:solidFill>
                      <a:srgbClr val="E67300"/>
                    </a:solidFill>
                  </a:tcPr>
                </a:tc>
                <a:tc>
                  <a:txBody>
                    <a:bodyPr/>
                    <a:lstStyle/>
                    <a:p>
                      <a:pPr algn="l">
                        <a:defRPr sz="1100">
                          <a:solidFill>
                            <a:srgbClr val="242424"/>
                          </a:solidFill>
                        </a:defRPr>
                      </a:pPr>
                      <a:r>
                        <a:t>COS-009</a:t>
                      </a:r>
                    </a:p>
                  </a:txBody>
                  <a:tcPr>
                    <a:solidFill>
                      <a:srgbClr val="FFFFFF"/>
                    </a:solidFill>
                  </a:tcPr>
                </a:tc>
                <a:tc>
                  <a:txBody>
                    <a:bodyPr/>
                    <a:lstStyle/>
                    <a:p>
                      <a:pPr algn="l">
                        <a:defRPr sz="1100">
                          <a:solidFill>
                            <a:srgbClr val="242424"/>
                          </a:solidFill>
                        </a:defRPr>
                      </a:pPr>
                      <a:r>
                        <a:t>Long-running VMs without Reserved Instances</a:t>
                      </a:r>
                    </a:p>
                  </a:txBody>
                  <a:tcPr>
                    <a:solidFill>
                      <a:srgbClr val="FFFFFF"/>
                    </a:solidFill>
                  </a:tcPr>
                </a:tc>
              </a:tr>
              <a:tr h="396240">
                <a:tc>
                  <a:txBody>
                    <a:bodyPr/>
                    <a:lstStyle/>
                    <a:p>
                      <a:pPr algn="l">
                        <a:defRPr sz="1100" b="1">
                          <a:solidFill>
                            <a:srgbClr val="FFFFFF"/>
                          </a:solidFill>
                        </a:defRPr>
                      </a:pPr>
                      <a:r>
                        <a:t>Medium</a:t>
                      </a:r>
                    </a:p>
                  </a:txBody>
                  <a:tcPr>
                    <a:solidFill>
                      <a:srgbClr val="CCA300"/>
                    </a:solidFill>
                  </a:tcPr>
                </a:tc>
                <a:tc>
                  <a:txBody>
                    <a:bodyPr/>
                    <a:lstStyle/>
                    <a:p>
                      <a:pPr algn="l">
                        <a:defRPr sz="1100">
                          <a:solidFill>
                            <a:srgbClr val="242424"/>
                          </a:solidFill>
                        </a:defRPr>
                      </a:pPr>
                      <a:r>
                        <a:t>COS-004</a:t>
                      </a:r>
                    </a:p>
                  </a:txBody>
                  <a:tcPr>
                    <a:solidFill>
                      <a:srgbClr val="FFFFFF"/>
                    </a:solidFill>
                  </a:tcPr>
                </a:tc>
                <a:tc>
                  <a:txBody>
                    <a:bodyPr/>
                    <a:lstStyle/>
                    <a:p>
                      <a:pPr algn="l">
                        <a:defRPr sz="1100">
                          <a:solidFill>
                            <a:srgbClr val="242424"/>
                          </a:solidFill>
                        </a:defRPr>
                      </a:pPr>
                      <a:r>
                        <a:t>Orphan network interfaces (unattached)</a:t>
                      </a:r>
                    </a:p>
                  </a:txBody>
                  <a:tcP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972800" cy="731520"/>
          </a:xfrm>
          <a:prstGeom prst="rect">
            <a:avLst/>
          </a:prstGeom>
          <a:noFill/>
        </p:spPr>
        <p:txBody>
          <a:bodyPr wrap="none">
            <a:spAutoFit/>
          </a:bodyPr>
          <a:lstStyle/>
          <a:p>
            <a:pPr algn="l">
              <a:defRPr sz="2800" b="1">
                <a:solidFill>
                  <a:srgbClr val="242424"/>
                </a:solidFill>
              </a:defRPr>
            </a:pPr>
            <a:r>
              <a:t>Pillar: Operational Excellence</a:t>
            </a:r>
          </a:p>
        </p:txBody>
      </p:sp>
      <p:sp>
        <p:nvSpPr>
          <p:cNvPr id="3" name="TextBox 2"/>
          <p:cNvSpPr txBox="1"/>
          <p:nvPr/>
        </p:nvSpPr>
        <p:spPr>
          <a:xfrm>
            <a:off x="8686800" y="6400800"/>
            <a:ext cx="2926080" cy="228600"/>
          </a:xfrm>
          <a:prstGeom prst="rect">
            <a:avLst/>
          </a:prstGeom>
          <a:noFill/>
        </p:spPr>
        <p:txBody>
          <a:bodyPr wrap="none">
            <a:spAutoFit/>
          </a:bodyPr>
          <a:lstStyle/>
          <a:p>
            <a:pPr algn="r">
              <a:defRPr sz="800">
                <a:solidFill>
                  <a:srgbClr val="999999"/>
                </a:solidFill>
                <a:latin typeface="Segoe UI"/>
              </a:defRPr>
            </a:pPr>
            <a:r>
              <a:t>AUTOMATICALLY GENERATED — Please Review</a:t>
            </a:r>
          </a:p>
        </p:txBody>
      </p:sp>
      <p:sp>
        <p:nvSpPr>
          <p:cNvPr id="4" name="TextBox 3"/>
          <p:cNvSpPr txBox="1"/>
          <p:nvPr/>
        </p:nvSpPr>
        <p:spPr>
          <a:xfrm>
            <a:off x="731520" y="1371600"/>
            <a:ext cx="3108960" cy="1097280"/>
          </a:xfrm>
          <a:prstGeom prst="rect">
            <a:avLst/>
          </a:prstGeom>
          <a:noFill/>
        </p:spPr>
        <p:txBody>
          <a:bodyPr wrap="square">
            <a:spAutoFit/>
          </a:bodyPr>
          <a:lstStyle/>
          <a:p>
            <a:pPr>
              <a:defRPr sz="4400" b="1">
                <a:solidFill>
                  <a:srgbClr val="CC0000"/>
                </a:solidFill>
              </a:defRPr>
            </a:pPr>
            <a:r>
              <a:t>50/100</a:t>
            </a:r>
          </a:p>
        </p:txBody>
      </p:sp>
      <p:sp>
        <p:nvSpPr>
          <p:cNvPr id="5" name="TextBox 4"/>
          <p:cNvSpPr txBox="1"/>
          <p:nvPr/>
        </p:nvSpPr>
        <p:spPr>
          <a:xfrm>
            <a:off x="731520" y="2834640"/>
            <a:ext cx="3108960" cy="1920240"/>
          </a:xfrm>
          <a:prstGeom prst="rect">
            <a:avLst/>
          </a:prstGeom>
          <a:noFill/>
        </p:spPr>
        <p:txBody>
          <a:bodyPr wrap="square">
            <a:spAutoFit/>
          </a:bodyPr>
          <a:lstStyle/>
          <a:p>
            <a:pPr>
              <a:spcAft>
                <a:spcPts val="300"/>
              </a:spcAft>
              <a:defRPr sz="1400">
                <a:solidFill>
                  <a:srgbClr val="242424"/>
                </a:solidFill>
              </a:defRPr>
            </a:pPr>
            <a:r>
              <a:t>Critical: 0</a:t>
            </a:r>
          </a:p>
          <a:p>
            <a:pPr>
              <a:spcAft>
                <a:spcPts val="300"/>
              </a:spcAft>
              <a:defRPr sz="1400">
                <a:solidFill>
                  <a:srgbClr val="242424"/>
                </a:solidFill>
              </a:defRPr>
            </a:pPr>
            <a:r>
              <a:t>High: 1</a:t>
            </a:r>
          </a:p>
          <a:p>
            <a:pPr>
              <a:spcAft>
                <a:spcPts val="300"/>
              </a:spcAft>
              <a:defRPr sz="1400">
                <a:solidFill>
                  <a:srgbClr val="242424"/>
                </a:solidFill>
              </a:defRPr>
            </a:pPr>
            <a:r>
              <a:t>Medium: 6</a:t>
            </a:r>
          </a:p>
          <a:p>
            <a:pPr>
              <a:spcAft>
                <a:spcPts val="300"/>
              </a:spcAft>
              <a:defRPr sz="1400">
                <a:solidFill>
                  <a:srgbClr val="242424"/>
                </a:solidFill>
              </a:defRPr>
            </a:pPr>
            <a:r>
              <a:t>Low: 5</a:t>
            </a:r>
          </a:p>
          <a:p>
            <a:pPr>
              <a:spcAft>
                <a:spcPts val="300"/>
              </a:spcAft>
              <a:defRPr sz="1400">
                <a:solidFill>
                  <a:srgbClr val="242424"/>
                </a:solidFill>
              </a:defRPr>
            </a:pPr>
            <a:r>
              <a:t>Total: 12</a:t>
            </a:r>
          </a:p>
        </p:txBody>
      </p:sp>
      <p:graphicFrame>
        <p:nvGraphicFramePr>
          <p:cNvPr id="6" name="Table 5"/>
          <p:cNvGraphicFramePr>
            <a:graphicFrameLocks noGrp="1"/>
          </p:cNvGraphicFramePr>
          <p:nvPr/>
        </p:nvGraphicFramePr>
        <p:xfrm>
          <a:off x="4206240" y="1371600"/>
          <a:ext cx="6949440" cy="2377440"/>
        </p:xfrm>
        <a:graphic>
          <a:graphicData uri="http://schemas.openxmlformats.org/drawingml/2006/table">
            <a:tbl>
              <a:tblPr firstRow="1" bandRow="1">
                <a:tableStyleId>{5C22544A-7EE6-4342-B048-85BDC9FD1C3A}</a:tableStyleId>
              </a:tblPr>
              <a:tblGrid>
                <a:gridCol w="1097280"/>
                <a:gridCol w="1371600"/>
                <a:gridCol w="4480560"/>
              </a:tblGrid>
              <a:tr h="396240">
                <a:tc>
                  <a:txBody>
                    <a:bodyPr/>
                    <a:lstStyle/>
                    <a:p>
                      <a:pPr algn="l">
                        <a:defRPr sz="1200" b="1">
                          <a:solidFill>
                            <a:srgbClr val="FFFFFF"/>
                          </a:solidFill>
                        </a:defRPr>
                      </a:pPr>
                      <a:r>
                        <a:t>Severity</a:t>
                      </a:r>
                    </a:p>
                  </a:txBody>
                  <a:tcPr>
                    <a:solidFill>
                      <a:srgbClr val="0078D4"/>
                    </a:solidFill>
                  </a:tcPr>
                </a:tc>
                <a:tc>
                  <a:txBody>
                    <a:bodyPr/>
                    <a:lstStyle/>
                    <a:p>
                      <a:pPr algn="l">
                        <a:defRPr sz="1200" b="1">
                          <a:solidFill>
                            <a:srgbClr val="FFFFFF"/>
                          </a:solidFill>
                        </a:defRPr>
                      </a:pPr>
                      <a:r>
                        <a:t>Rule ID</a:t>
                      </a:r>
                    </a:p>
                  </a:txBody>
                  <a:tcPr>
                    <a:solidFill>
                      <a:srgbClr val="0078D4"/>
                    </a:solidFill>
                  </a:tcPr>
                </a:tc>
                <a:tc>
                  <a:txBody>
                    <a:bodyPr/>
                    <a:lstStyle/>
                    <a:p>
                      <a:pPr algn="l">
                        <a:defRPr sz="1200" b="1">
                          <a:solidFill>
                            <a:srgbClr val="FFFFFF"/>
                          </a:solidFill>
                        </a:defRPr>
                      </a:pPr>
                      <a:r>
                        <a:t>Title</a:t>
                      </a:r>
                    </a:p>
                  </a:txBody>
                  <a:tcPr>
                    <a:solidFill>
                      <a:srgbClr val="0078D4"/>
                    </a:solidFill>
                  </a:tcPr>
                </a:tc>
              </a:tr>
              <a:tr h="396240">
                <a:tc>
                  <a:txBody>
                    <a:bodyPr/>
                    <a:lstStyle/>
                    <a:p>
                      <a:pPr algn="l">
                        <a:defRPr sz="1100" b="1">
                          <a:solidFill>
                            <a:srgbClr val="FFFFFF"/>
                          </a:solidFill>
                        </a:defRPr>
                      </a:pPr>
                      <a:r>
                        <a:t>High</a:t>
                      </a:r>
                    </a:p>
                  </a:txBody>
                  <a:tcPr>
                    <a:solidFill>
                      <a:srgbClr val="E67300"/>
                    </a:solidFill>
                  </a:tcPr>
                </a:tc>
                <a:tc>
                  <a:txBody>
                    <a:bodyPr/>
                    <a:lstStyle/>
                    <a:p>
                      <a:pPr algn="l">
                        <a:defRPr sz="1100">
                          <a:solidFill>
                            <a:srgbClr val="242424"/>
                          </a:solidFill>
                        </a:defRPr>
                      </a:pPr>
                      <a:r>
                        <a:t>OPE-006</a:t>
                      </a:r>
                    </a:p>
                  </a:txBody>
                  <a:tcPr>
                    <a:solidFill>
                      <a:srgbClr val="FFFFFF"/>
                    </a:solidFill>
                  </a:tcPr>
                </a:tc>
                <a:tc>
                  <a:txBody>
                    <a:bodyPr/>
                    <a:lstStyle/>
                    <a:p>
                      <a:pPr algn="l">
                        <a:defRPr sz="1100">
                          <a:solidFill>
                            <a:srgbClr val="242424"/>
                          </a:solidFill>
                        </a:defRPr>
                      </a:pPr>
                      <a:r>
                        <a:t>No hub VNet or firewall detected</a:t>
                      </a:r>
                    </a:p>
                  </a:txBody>
                  <a:tcPr>
                    <a:solidFill>
                      <a:srgbClr val="FFFFFF"/>
                    </a:solidFill>
                  </a:tcPr>
                </a:tc>
              </a:tr>
              <a:tr h="396240">
                <a:tc>
                  <a:txBody>
                    <a:bodyPr/>
                    <a:lstStyle/>
                    <a:p>
                      <a:pPr algn="l">
                        <a:defRPr sz="1100" b="1">
                          <a:solidFill>
                            <a:srgbClr val="FFFFFF"/>
                          </a:solidFill>
                        </a:defRPr>
                      </a:pPr>
                      <a:r>
                        <a:t>Medium</a:t>
                      </a:r>
                    </a:p>
                  </a:txBody>
                  <a:tcPr>
                    <a:solidFill>
                      <a:srgbClr val="CCA300"/>
                    </a:solidFill>
                  </a:tcPr>
                </a:tc>
                <a:tc>
                  <a:txBody>
                    <a:bodyPr/>
                    <a:lstStyle/>
                    <a:p>
                      <a:pPr algn="l">
                        <a:defRPr sz="1100">
                          <a:solidFill>
                            <a:srgbClr val="242424"/>
                          </a:solidFill>
                        </a:defRPr>
                      </a:pPr>
                      <a:r>
                        <a:t>APRL-OPE-1E28BBC1</a:t>
                      </a:r>
                    </a:p>
                  </a:txBody>
                  <a:tcPr>
                    <a:solidFill>
                      <a:srgbClr val="FFFFFF"/>
                    </a:solidFill>
                  </a:tcPr>
                </a:tc>
                <a:tc>
                  <a:txBody>
                    <a:bodyPr/>
                    <a:lstStyle/>
                    <a:p>
                      <a:pPr algn="l">
                        <a:defRPr sz="1100">
                          <a:solidFill>
                            <a:srgbClr val="242424"/>
                          </a:solidFill>
                        </a:defRPr>
                      </a:pPr>
                      <a:r>
                        <a:t>Configure Network Watcher Connection monitor (networkWatchers)</a:t>
                      </a:r>
                    </a:p>
                  </a:txBody>
                  <a:tcPr>
                    <a:solidFill>
                      <a:srgbClr val="FFFFFF"/>
                    </a:solidFill>
                  </a:tcPr>
                </a:tc>
              </a:tr>
              <a:tr h="396240">
                <a:tc>
                  <a:txBody>
                    <a:bodyPr/>
                    <a:lstStyle/>
                    <a:p>
                      <a:pPr algn="l">
                        <a:defRPr sz="1100" b="1">
                          <a:solidFill>
                            <a:srgbClr val="FFFFFF"/>
                          </a:solidFill>
                        </a:defRPr>
                      </a:pPr>
                      <a:r>
                        <a:t>Medium</a:t>
                      </a:r>
                    </a:p>
                  </a:txBody>
                  <a:tcPr>
                    <a:solidFill>
                      <a:srgbClr val="CCA300"/>
                    </a:solidFill>
                  </a:tcPr>
                </a:tc>
                <a:tc>
                  <a:txBody>
                    <a:bodyPr/>
                    <a:lstStyle/>
                    <a:p>
                      <a:pPr algn="l">
                        <a:defRPr sz="1100">
                          <a:solidFill>
                            <a:srgbClr val="242424"/>
                          </a:solidFill>
                        </a:defRPr>
                      </a:pPr>
                      <a:r>
                        <a:t>APRL-OPE-06B77BE9</a:t>
                      </a:r>
                    </a:p>
                  </a:txBody>
                  <a:tcPr>
                    <a:solidFill>
                      <a:srgbClr val="FFFFFF"/>
                    </a:solidFill>
                  </a:tcPr>
                </a:tc>
                <a:tc>
                  <a:txBody>
                    <a:bodyPr/>
                    <a:lstStyle/>
                    <a:p>
                      <a:pPr algn="l">
                        <a:defRPr sz="1100">
                          <a:solidFill>
                            <a:srgbClr val="242424"/>
                          </a:solidFill>
                        </a:defRPr>
                      </a:pPr>
                      <a:r>
                        <a:t>Enable Virtual Network Flow Logs (virtualNetworks)</a:t>
                      </a:r>
                    </a:p>
                  </a:txBody>
                  <a:tcPr>
                    <a:solidFill>
                      <a:srgbClr val="FFFFFF"/>
                    </a:solidFill>
                  </a:tcPr>
                </a:tc>
              </a:tr>
              <a:tr h="396240">
                <a:tc>
                  <a:txBody>
                    <a:bodyPr/>
                    <a:lstStyle/>
                    <a:p>
                      <a:pPr algn="l">
                        <a:defRPr sz="1100" b="1">
                          <a:solidFill>
                            <a:srgbClr val="FFFFFF"/>
                          </a:solidFill>
                        </a:defRPr>
                      </a:pPr>
                      <a:r>
                        <a:t>Medium</a:t>
                      </a:r>
                    </a:p>
                  </a:txBody>
                  <a:tcPr>
                    <a:solidFill>
                      <a:srgbClr val="CCA300"/>
                    </a:solidFill>
                  </a:tcPr>
                </a:tc>
                <a:tc>
                  <a:txBody>
                    <a:bodyPr/>
                    <a:lstStyle/>
                    <a:p>
                      <a:pPr algn="l">
                        <a:defRPr sz="1100">
                          <a:solidFill>
                            <a:srgbClr val="242424"/>
                          </a:solidFill>
                        </a:defRPr>
                      </a:pPr>
                      <a:r>
                        <a:t>OPE-005</a:t>
                      </a:r>
                    </a:p>
                  </a:txBody>
                  <a:tcPr>
                    <a:solidFill>
                      <a:srgbClr val="FFFFFF"/>
                    </a:solidFill>
                  </a:tcPr>
                </a:tc>
                <a:tc>
                  <a:txBody>
                    <a:bodyPr/>
                    <a:lstStyle/>
                    <a:p>
                      <a:pPr algn="l">
                        <a:defRPr sz="1100">
                          <a:solidFill>
                            <a:srgbClr val="242424"/>
                          </a:solidFill>
                        </a:defRPr>
                      </a:pPr>
                      <a:r>
                        <a:t>Resources missing required tags</a:t>
                      </a:r>
                    </a:p>
                  </a:txBody>
                  <a:tcPr>
                    <a:solidFill>
                      <a:srgbClr val="FFFFFF"/>
                    </a:solidFill>
                  </a:tcPr>
                </a:tc>
              </a:tr>
              <a:tr h="396240">
                <a:tc>
                  <a:txBody>
                    <a:bodyPr/>
                    <a:lstStyle/>
                    <a:p>
                      <a:pPr algn="l">
                        <a:defRPr sz="1100" b="1">
                          <a:solidFill>
                            <a:srgbClr val="FFFFFF"/>
                          </a:solidFill>
                        </a:defRPr>
                      </a:pPr>
                      <a:r>
                        <a:t>Medium</a:t>
                      </a:r>
                    </a:p>
                  </a:txBody>
                  <a:tcPr>
                    <a:solidFill>
                      <a:srgbClr val="CCA300"/>
                    </a:solidFill>
                  </a:tcPr>
                </a:tc>
                <a:tc>
                  <a:txBody>
                    <a:bodyPr/>
                    <a:lstStyle/>
                    <a:p>
                      <a:pPr algn="l">
                        <a:defRPr sz="1100">
                          <a:solidFill>
                            <a:srgbClr val="242424"/>
                          </a:solidFill>
                        </a:defRPr>
                      </a:pPr>
                      <a:r>
                        <a:t>OPE-007</a:t>
                      </a:r>
                    </a:p>
                  </a:txBody>
                  <a:tcPr>
                    <a:solidFill>
                      <a:srgbClr val="FFFFFF"/>
                    </a:solidFill>
                  </a:tcPr>
                </a:tc>
                <a:tc>
                  <a:txBody>
                    <a:bodyPr/>
                    <a:lstStyle/>
                    <a:p>
                      <a:pPr algn="l">
                        <a:defRPr sz="1100">
                          <a:solidFill>
                            <a:srgbClr val="242424"/>
                          </a:solidFill>
                        </a:defRPr>
                      </a:pPr>
                      <a:r>
                        <a:t>Virtual machines without diagnostic settings</a:t>
                      </a:r>
                    </a:p>
                  </a:txBody>
                  <a:tcPr>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972800" cy="731520"/>
          </a:xfrm>
          <a:prstGeom prst="rect">
            <a:avLst/>
          </a:prstGeom>
          <a:noFill/>
        </p:spPr>
        <p:txBody>
          <a:bodyPr wrap="none">
            <a:spAutoFit/>
          </a:bodyPr>
          <a:lstStyle/>
          <a:p>
            <a:pPr algn="l">
              <a:defRPr sz="2800" b="1">
                <a:solidFill>
                  <a:srgbClr val="242424"/>
                </a:solidFill>
              </a:defRPr>
            </a:pPr>
            <a:r>
              <a:t>Pillar: Performance Efficiency</a:t>
            </a:r>
          </a:p>
        </p:txBody>
      </p:sp>
      <p:sp>
        <p:nvSpPr>
          <p:cNvPr id="3" name="TextBox 2"/>
          <p:cNvSpPr txBox="1"/>
          <p:nvPr/>
        </p:nvSpPr>
        <p:spPr>
          <a:xfrm>
            <a:off x="8686800" y="6400800"/>
            <a:ext cx="2926080" cy="228600"/>
          </a:xfrm>
          <a:prstGeom prst="rect">
            <a:avLst/>
          </a:prstGeom>
          <a:noFill/>
        </p:spPr>
        <p:txBody>
          <a:bodyPr wrap="none">
            <a:spAutoFit/>
          </a:bodyPr>
          <a:lstStyle/>
          <a:p>
            <a:pPr algn="r">
              <a:defRPr sz="800">
                <a:solidFill>
                  <a:srgbClr val="999999"/>
                </a:solidFill>
                <a:latin typeface="Segoe UI"/>
              </a:defRPr>
            </a:pPr>
            <a:r>
              <a:t>AUTOMATICALLY GENERATED — Please Review</a:t>
            </a:r>
          </a:p>
        </p:txBody>
      </p:sp>
      <p:sp>
        <p:nvSpPr>
          <p:cNvPr id="4" name="TextBox 3"/>
          <p:cNvSpPr txBox="1"/>
          <p:nvPr/>
        </p:nvSpPr>
        <p:spPr>
          <a:xfrm>
            <a:off x="731520" y="1371600"/>
            <a:ext cx="3108960" cy="1097280"/>
          </a:xfrm>
          <a:prstGeom prst="rect">
            <a:avLst/>
          </a:prstGeom>
          <a:noFill/>
        </p:spPr>
        <p:txBody>
          <a:bodyPr wrap="square">
            <a:spAutoFit/>
          </a:bodyPr>
          <a:lstStyle/>
          <a:p>
            <a:pPr>
              <a:defRPr sz="4400" b="1">
                <a:solidFill>
                  <a:srgbClr val="107C10"/>
                </a:solidFill>
              </a:defRPr>
            </a:pPr>
            <a:r>
              <a:t>83/100</a:t>
            </a:r>
          </a:p>
        </p:txBody>
      </p:sp>
      <p:sp>
        <p:nvSpPr>
          <p:cNvPr id="5" name="TextBox 4"/>
          <p:cNvSpPr txBox="1"/>
          <p:nvPr/>
        </p:nvSpPr>
        <p:spPr>
          <a:xfrm>
            <a:off x="731520" y="2834640"/>
            <a:ext cx="3108960" cy="1920240"/>
          </a:xfrm>
          <a:prstGeom prst="rect">
            <a:avLst/>
          </a:prstGeom>
          <a:noFill/>
        </p:spPr>
        <p:txBody>
          <a:bodyPr wrap="square">
            <a:spAutoFit/>
          </a:bodyPr>
          <a:lstStyle/>
          <a:p>
            <a:pPr>
              <a:spcAft>
                <a:spcPts val="300"/>
              </a:spcAft>
              <a:defRPr sz="1400">
                <a:solidFill>
                  <a:srgbClr val="242424"/>
                </a:solidFill>
              </a:defRPr>
            </a:pPr>
            <a:r>
              <a:t>Critical: 0</a:t>
            </a:r>
          </a:p>
          <a:p>
            <a:pPr>
              <a:spcAft>
                <a:spcPts val="300"/>
              </a:spcAft>
              <a:defRPr sz="1400">
                <a:solidFill>
                  <a:srgbClr val="242424"/>
                </a:solidFill>
              </a:defRPr>
            </a:pPr>
            <a:r>
              <a:t>High: 1</a:t>
            </a:r>
          </a:p>
          <a:p>
            <a:pPr>
              <a:spcAft>
                <a:spcPts val="300"/>
              </a:spcAft>
              <a:defRPr sz="1400">
                <a:solidFill>
                  <a:srgbClr val="242424"/>
                </a:solidFill>
              </a:defRPr>
            </a:pPr>
            <a:r>
              <a:t>Medium: 1</a:t>
            </a:r>
          </a:p>
          <a:p>
            <a:pPr>
              <a:spcAft>
                <a:spcPts val="300"/>
              </a:spcAft>
              <a:defRPr sz="1400">
                <a:solidFill>
                  <a:srgbClr val="242424"/>
                </a:solidFill>
              </a:defRPr>
            </a:pPr>
            <a:r>
              <a:t>Low: 1</a:t>
            </a:r>
          </a:p>
          <a:p>
            <a:pPr>
              <a:spcAft>
                <a:spcPts val="300"/>
              </a:spcAft>
              <a:defRPr sz="1400">
                <a:solidFill>
                  <a:srgbClr val="242424"/>
                </a:solidFill>
              </a:defRPr>
            </a:pPr>
            <a:r>
              <a:t>Total: 3</a:t>
            </a:r>
          </a:p>
        </p:txBody>
      </p:sp>
      <p:graphicFrame>
        <p:nvGraphicFramePr>
          <p:cNvPr id="6" name="Table 5"/>
          <p:cNvGraphicFramePr>
            <a:graphicFrameLocks noGrp="1"/>
          </p:cNvGraphicFramePr>
          <p:nvPr/>
        </p:nvGraphicFramePr>
        <p:xfrm>
          <a:off x="4206240" y="1371600"/>
          <a:ext cx="6949440" cy="2377440"/>
        </p:xfrm>
        <a:graphic>
          <a:graphicData uri="http://schemas.openxmlformats.org/drawingml/2006/table">
            <a:tbl>
              <a:tblPr firstRow="1" bandRow="1">
                <a:tableStyleId>{5C22544A-7EE6-4342-B048-85BDC9FD1C3A}</a:tableStyleId>
              </a:tblPr>
              <a:tblGrid>
                <a:gridCol w="1097280"/>
                <a:gridCol w="1371600"/>
                <a:gridCol w="4480560"/>
              </a:tblGrid>
              <a:tr h="594360">
                <a:tc>
                  <a:txBody>
                    <a:bodyPr/>
                    <a:lstStyle/>
                    <a:p>
                      <a:pPr algn="l">
                        <a:defRPr sz="1200" b="1">
                          <a:solidFill>
                            <a:srgbClr val="FFFFFF"/>
                          </a:solidFill>
                        </a:defRPr>
                      </a:pPr>
                      <a:r>
                        <a:t>Severity</a:t>
                      </a:r>
                    </a:p>
                  </a:txBody>
                  <a:tcPr>
                    <a:solidFill>
                      <a:srgbClr val="0078D4"/>
                    </a:solidFill>
                  </a:tcPr>
                </a:tc>
                <a:tc>
                  <a:txBody>
                    <a:bodyPr/>
                    <a:lstStyle/>
                    <a:p>
                      <a:pPr algn="l">
                        <a:defRPr sz="1200" b="1">
                          <a:solidFill>
                            <a:srgbClr val="FFFFFF"/>
                          </a:solidFill>
                        </a:defRPr>
                      </a:pPr>
                      <a:r>
                        <a:t>Rule ID</a:t>
                      </a:r>
                    </a:p>
                  </a:txBody>
                  <a:tcPr>
                    <a:solidFill>
                      <a:srgbClr val="0078D4"/>
                    </a:solidFill>
                  </a:tcPr>
                </a:tc>
                <a:tc>
                  <a:txBody>
                    <a:bodyPr/>
                    <a:lstStyle/>
                    <a:p>
                      <a:pPr algn="l">
                        <a:defRPr sz="1200" b="1">
                          <a:solidFill>
                            <a:srgbClr val="FFFFFF"/>
                          </a:solidFill>
                        </a:defRPr>
                      </a:pPr>
                      <a:r>
                        <a:t>Title</a:t>
                      </a:r>
                    </a:p>
                  </a:txBody>
                  <a:tcPr>
                    <a:solidFill>
                      <a:srgbClr val="0078D4"/>
                    </a:solidFill>
                  </a:tcPr>
                </a:tc>
              </a:tr>
              <a:tr h="594360">
                <a:tc>
                  <a:txBody>
                    <a:bodyPr/>
                    <a:lstStyle/>
                    <a:p>
                      <a:pPr algn="l">
                        <a:defRPr sz="1100" b="1">
                          <a:solidFill>
                            <a:srgbClr val="FFFFFF"/>
                          </a:solidFill>
                        </a:defRPr>
                      </a:pPr>
                      <a:r>
                        <a:t>High</a:t>
                      </a:r>
                    </a:p>
                  </a:txBody>
                  <a:tcPr>
                    <a:solidFill>
                      <a:srgbClr val="E67300"/>
                    </a:solidFill>
                  </a:tcPr>
                </a:tc>
                <a:tc>
                  <a:txBody>
                    <a:bodyPr/>
                    <a:lstStyle/>
                    <a:p>
                      <a:pPr algn="l">
                        <a:defRPr sz="1100">
                          <a:solidFill>
                            <a:srgbClr val="242424"/>
                          </a:solidFill>
                        </a:defRPr>
                      </a:pPr>
                      <a:r>
                        <a:t>APRL-PER-DF0FF862</a:t>
                      </a:r>
                    </a:p>
                  </a:txBody>
                  <a:tcPr>
                    <a:solidFill>
                      <a:srgbClr val="FFFFFF"/>
                    </a:solidFill>
                  </a:tcPr>
                </a:tc>
                <a:tc>
                  <a:txBody>
                    <a:bodyPr/>
                    <a:lstStyle/>
                    <a:p>
                      <a:pPr algn="l">
                        <a:defRPr sz="1100">
                          <a:solidFill>
                            <a:srgbClr val="242424"/>
                          </a:solidFill>
                        </a:defRPr>
                      </a:pPr>
                      <a:r>
                        <a:t>Mission Critical Workloads should consider using Premium or Ultra Disks (virtualMachines)</a:t>
                      </a:r>
                    </a:p>
                  </a:txBody>
                  <a:tcPr>
                    <a:solidFill>
                      <a:srgbClr val="FFFFFF"/>
                    </a:solidFill>
                  </a:tcPr>
                </a:tc>
              </a:tr>
              <a:tr h="594360">
                <a:tc>
                  <a:txBody>
                    <a:bodyPr/>
                    <a:lstStyle/>
                    <a:p>
                      <a:pPr algn="l">
                        <a:defRPr sz="1100" b="1">
                          <a:solidFill>
                            <a:srgbClr val="FFFFFF"/>
                          </a:solidFill>
                        </a:defRPr>
                      </a:pPr>
                      <a:r>
                        <a:t>Medium</a:t>
                      </a:r>
                    </a:p>
                  </a:txBody>
                  <a:tcPr>
                    <a:solidFill>
                      <a:srgbClr val="CCA300"/>
                    </a:solidFill>
                  </a:tcPr>
                </a:tc>
                <a:tc>
                  <a:txBody>
                    <a:bodyPr/>
                    <a:lstStyle/>
                    <a:p>
                      <a:pPr algn="l">
                        <a:defRPr sz="1100">
                          <a:solidFill>
                            <a:srgbClr val="242424"/>
                          </a:solidFill>
                        </a:defRPr>
                      </a:pPr>
                      <a:r>
                        <a:t>PER-015</a:t>
                      </a:r>
                    </a:p>
                  </a:txBody>
                  <a:tcPr>
                    <a:solidFill>
                      <a:srgbClr val="FFFFFF"/>
                    </a:solidFill>
                  </a:tcPr>
                </a:tc>
                <a:tc>
                  <a:txBody>
                    <a:bodyPr/>
                    <a:lstStyle/>
                    <a:p>
                      <a:pPr algn="l">
                        <a:defRPr sz="1100">
                          <a:solidFill>
                            <a:srgbClr val="242424"/>
                          </a:solidFill>
                        </a:defRPr>
                      </a:pPr>
                      <a:r>
                        <a:t>Storage accounts without private endpoints</a:t>
                      </a:r>
                    </a:p>
                  </a:txBody>
                  <a:tcPr>
                    <a:solidFill>
                      <a:srgbClr val="FFFFFF"/>
                    </a:solidFill>
                  </a:tcPr>
                </a:tc>
              </a:tr>
              <a:tr h="594360">
                <a:tc>
                  <a:txBody>
                    <a:bodyPr/>
                    <a:lstStyle/>
                    <a:p>
                      <a:pPr algn="l">
                        <a:defRPr sz="1100" b="1">
                          <a:solidFill>
                            <a:srgbClr val="FFFFFF"/>
                          </a:solidFill>
                        </a:defRPr>
                      </a:pPr>
                      <a:r>
                        <a:t>Low</a:t>
                      </a:r>
                    </a:p>
                  </a:txBody>
                  <a:tcPr>
                    <a:solidFill>
                      <a:srgbClr val="3366CC"/>
                    </a:solidFill>
                  </a:tcPr>
                </a:tc>
                <a:tc>
                  <a:txBody>
                    <a:bodyPr/>
                    <a:lstStyle/>
                    <a:p>
                      <a:pPr algn="l">
                        <a:defRPr sz="1100">
                          <a:solidFill>
                            <a:srgbClr val="242424"/>
                          </a:solidFill>
                        </a:defRPr>
                      </a:pPr>
                      <a:r>
                        <a:t>PER-001</a:t>
                      </a:r>
                    </a:p>
                  </a:txBody>
                  <a:tcPr>
                    <a:solidFill>
                      <a:srgbClr val="FFFFFF"/>
                    </a:solidFill>
                  </a:tcPr>
                </a:tc>
                <a:tc>
                  <a:txBody>
                    <a:bodyPr/>
                    <a:lstStyle/>
                    <a:p>
                      <a:pPr algn="l">
                        <a:defRPr sz="1100">
                          <a:solidFill>
                            <a:srgbClr val="242424"/>
                          </a:solidFill>
                        </a:defRPr>
                      </a:pPr>
                      <a:r>
                        <a:t>Storage accounts using legacy SKU</a:t>
                      </a:r>
                    </a:p>
                  </a:txBody>
                  <a:tcPr>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972800" cy="731520"/>
          </a:xfrm>
          <a:prstGeom prst="rect">
            <a:avLst/>
          </a:prstGeom>
          <a:noFill/>
        </p:spPr>
        <p:txBody>
          <a:bodyPr wrap="none">
            <a:spAutoFit/>
          </a:bodyPr>
          <a:lstStyle/>
          <a:p>
            <a:pPr algn="l">
              <a:defRPr sz="2800" b="1">
                <a:solidFill>
                  <a:srgbClr val="242424"/>
                </a:solidFill>
              </a:defRPr>
            </a:pPr>
            <a:r>
              <a:t>Critical &amp; High Impact Findings (1/2)</a:t>
            </a:r>
          </a:p>
        </p:txBody>
      </p:sp>
      <p:sp>
        <p:nvSpPr>
          <p:cNvPr id="3" name="TextBox 2"/>
          <p:cNvSpPr txBox="1"/>
          <p:nvPr/>
        </p:nvSpPr>
        <p:spPr>
          <a:xfrm>
            <a:off x="8686800" y="6400800"/>
            <a:ext cx="2926080" cy="228600"/>
          </a:xfrm>
          <a:prstGeom prst="rect">
            <a:avLst/>
          </a:prstGeom>
          <a:noFill/>
        </p:spPr>
        <p:txBody>
          <a:bodyPr wrap="none">
            <a:spAutoFit/>
          </a:bodyPr>
          <a:lstStyle/>
          <a:p>
            <a:pPr algn="r">
              <a:defRPr sz="800">
                <a:solidFill>
                  <a:srgbClr val="999999"/>
                </a:solidFill>
                <a:latin typeface="Segoe UI"/>
              </a:defRPr>
            </a:pPr>
            <a:r>
              <a:t>AUTOMATICALLY GENERATED — Please Review</a:t>
            </a:r>
          </a:p>
        </p:txBody>
      </p:sp>
      <p:graphicFrame>
        <p:nvGraphicFramePr>
          <p:cNvPr id="4" name="Table 3"/>
          <p:cNvGraphicFramePr>
            <a:graphicFrameLocks noGrp="1"/>
          </p:cNvGraphicFramePr>
          <p:nvPr/>
        </p:nvGraphicFramePr>
        <p:xfrm>
          <a:off x="365760" y="1280160"/>
          <a:ext cx="11338560" cy="4846320"/>
        </p:xfrm>
        <a:graphic>
          <a:graphicData uri="http://schemas.openxmlformats.org/drawingml/2006/table">
            <a:tbl>
              <a:tblPr firstRow="1" bandRow="1">
                <a:tableStyleId>{5C22544A-7EE6-4342-B048-85BDC9FD1C3A}</a:tableStyleId>
              </a:tblPr>
              <a:tblGrid>
                <a:gridCol w="548640"/>
                <a:gridCol w="1188720"/>
                <a:gridCol w="1097280"/>
                <a:gridCol w="3017520"/>
                <a:gridCol w="5486400"/>
              </a:tblGrid>
              <a:tr h="440574">
                <a:tc>
                  <a:txBody>
                    <a:bodyPr/>
                    <a:lstStyle/>
                    <a:p>
                      <a:pPr algn="l">
                        <a:defRPr sz="1200" b="1">
                          <a:solidFill>
                            <a:srgbClr val="FFFFFF"/>
                          </a:solidFill>
                        </a:defRPr>
                      </a:pPr>
                      <a:r>
                        <a:t>#</a:t>
                      </a:r>
                    </a:p>
                  </a:txBody>
                  <a:tcPr>
                    <a:solidFill>
                      <a:srgbClr val="0078D4"/>
                    </a:solidFill>
                  </a:tcPr>
                </a:tc>
                <a:tc>
                  <a:txBody>
                    <a:bodyPr/>
                    <a:lstStyle/>
                    <a:p>
                      <a:pPr algn="l">
                        <a:defRPr sz="1200" b="1">
                          <a:solidFill>
                            <a:srgbClr val="FFFFFF"/>
                          </a:solidFill>
                        </a:defRPr>
                      </a:pPr>
                      <a:r>
                        <a:t>Rule ID</a:t>
                      </a:r>
                    </a:p>
                  </a:txBody>
                  <a:tcPr>
                    <a:solidFill>
                      <a:srgbClr val="0078D4"/>
                    </a:solidFill>
                  </a:tcPr>
                </a:tc>
                <a:tc>
                  <a:txBody>
                    <a:bodyPr/>
                    <a:lstStyle/>
                    <a:p>
                      <a:pPr algn="l">
                        <a:defRPr sz="1200" b="1">
                          <a:solidFill>
                            <a:srgbClr val="FFFFFF"/>
                          </a:solidFill>
                        </a:defRPr>
                      </a:pPr>
                      <a:r>
                        <a:t>Severity</a:t>
                      </a:r>
                    </a:p>
                  </a:txBody>
                  <a:tcPr>
                    <a:solidFill>
                      <a:srgbClr val="0078D4"/>
                    </a:solidFill>
                  </a:tcPr>
                </a:tc>
                <a:tc>
                  <a:txBody>
                    <a:bodyPr/>
                    <a:lstStyle/>
                    <a:p>
                      <a:pPr algn="l">
                        <a:defRPr sz="1200" b="1">
                          <a:solidFill>
                            <a:srgbClr val="FFFFFF"/>
                          </a:solidFill>
                        </a:defRPr>
                      </a:pPr>
                      <a:r>
                        <a:t>Title</a:t>
                      </a:r>
                    </a:p>
                  </a:txBody>
                  <a:tcPr>
                    <a:solidFill>
                      <a:srgbClr val="0078D4"/>
                    </a:solidFill>
                  </a:tcPr>
                </a:tc>
                <a:tc>
                  <a:txBody>
                    <a:bodyPr/>
                    <a:lstStyle/>
                    <a:p>
                      <a:pPr algn="l">
                        <a:defRPr sz="1200" b="1">
                          <a:solidFill>
                            <a:srgbClr val="FFFFFF"/>
                          </a:solidFill>
                        </a:defRPr>
                      </a:pPr>
                      <a:r>
                        <a:t>Recommendation</a:t>
                      </a:r>
                    </a:p>
                  </a:txBody>
                  <a:tcPr>
                    <a:solidFill>
                      <a:srgbClr val="0078D4"/>
                    </a:solidFill>
                  </a:tcPr>
                </a:tc>
              </a:tr>
              <a:tr h="440574">
                <a:tc>
                  <a:txBody>
                    <a:bodyPr/>
                    <a:lstStyle/>
                    <a:p>
                      <a:pPr algn="l">
                        <a:defRPr sz="1000">
                          <a:solidFill>
                            <a:srgbClr val="242424"/>
                          </a:solidFill>
                        </a:defRPr>
                      </a:pPr>
                      <a:r>
                        <a:t>1</a:t>
                      </a:r>
                    </a:p>
                  </a:txBody>
                  <a:tcPr>
                    <a:solidFill>
                      <a:srgbClr val="FFFFFF"/>
                    </a:solidFill>
                  </a:tcPr>
                </a:tc>
                <a:tc>
                  <a:txBody>
                    <a:bodyPr/>
                    <a:lstStyle/>
                    <a:p>
                      <a:pPr algn="l">
                        <a:defRPr sz="1000">
                          <a:solidFill>
                            <a:srgbClr val="242424"/>
                          </a:solidFill>
                        </a:defRPr>
                      </a:pPr>
                      <a:r>
                        <a:t>SEC-010</a:t>
                      </a:r>
                    </a:p>
                  </a:txBody>
                  <a:tcPr>
                    <a:solidFill>
                      <a:srgbClr val="FFFFFF"/>
                    </a:solidFill>
                  </a:tcPr>
                </a:tc>
                <a:tc>
                  <a:txBody>
                    <a:bodyPr/>
                    <a:lstStyle/>
                    <a:p>
                      <a:pPr algn="l">
                        <a:defRPr sz="1000" b="1">
                          <a:solidFill>
                            <a:srgbClr val="FFFFFF"/>
                          </a:solidFill>
                        </a:defRPr>
                      </a:pPr>
                      <a:r>
                        <a:t>Critical</a:t>
                      </a:r>
                    </a:p>
                  </a:txBody>
                  <a:tcPr>
                    <a:solidFill>
                      <a:srgbClr val="CC0000"/>
                    </a:solidFill>
                  </a:tcPr>
                </a:tc>
                <a:tc>
                  <a:txBody>
                    <a:bodyPr/>
                    <a:lstStyle/>
                    <a:p>
                      <a:pPr algn="l">
                        <a:defRPr sz="1000">
                          <a:solidFill>
                            <a:srgbClr val="242424"/>
                          </a:solidFill>
                        </a:defRPr>
                      </a:pPr>
                      <a:r>
                        <a:t>Defender for Cloud enabled on subscriptions</a:t>
                      </a:r>
                    </a:p>
                  </a:txBody>
                  <a:tcPr>
                    <a:solidFill>
                      <a:srgbClr val="FFFFFF"/>
                    </a:solidFill>
                  </a:tcPr>
                </a:tc>
                <a:tc>
                  <a:txBody>
                    <a:bodyPr/>
                    <a:lstStyle/>
                    <a:p>
                      <a:pPr algn="l">
                        <a:defRPr sz="1000">
                          <a:solidFill>
                            <a:srgbClr val="242424"/>
                          </a:solidFill>
                        </a:defRPr>
                      </a:pPr>
                      <a:r>
                        <a:t>Enable Defender for Cloud Standard tier on all subscriptions.</a:t>
                      </a:r>
                    </a:p>
                  </a:txBody>
                  <a:tcPr>
                    <a:solidFill>
                      <a:srgbClr val="FFFFFF"/>
                    </a:solidFill>
                  </a:tcPr>
                </a:tc>
              </a:tr>
              <a:tr h="440574">
                <a:tc>
                  <a:txBody>
                    <a:bodyPr/>
                    <a:lstStyle/>
                    <a:p>
                      <a:pPr algn="l">
                        <a:defRPr sz="1000">
                          <a:solidFill>
                            <a:srgbClr val="242424"/>
                          </a:solidFill>
                        </a:defRPr>
                      </a:pPr>
                      <a:r>
                        <a:t>2</a:t>
                      </a:r>
                    </a:p>
                  </a:txBody>
                  <a:tcPr>
                    <a:solidFill>
                      <a:srgbClr val="FFFFFF"/>
                    </a:solidFill>
                  </a:tcPr>
                </a:tc>
                <a:tc>
                  <a:txBody>
                    <a:bodyPr/>
                    <a:lstStyle/>
                    <a:p>
                      <a:pPr algn="l">
                        <a:defRPr sz="1000">
                          <a:solidFill>
                            <a:srgbClr val="242424"/>
                          </a:solidFill>
                        </a:defRPr>
                      </a:pPr>
                      <a:r>
                        <a:t>APRL-REL-E6C7E1CC</a:t>
                      </a:r>
                    </a:p>
                  </a:txBody>
                  <a:tcPr>
                    <a:solidFill>
                      <a:srgbClr val="FFFFFF"/>
                    </a:solidFill>
                  </a:tcPr>
                </a:tc>
                <a:tc>
                  <a:txBody>
                    <a:bodyPr/>
                    <a:lstStyle/>
                    <a:p>
                      <a:pPr algn="l">
                        <a:defRPr sz="1000" b="1">
                          <a:solidFill>
                            <a:srgbClr val="FFFFFF"/>
                          </a:solidFill>
                        </a:defRPr>
                      </a:pPr>
                      <a:r>
                        <a:t>High</a:t>
                      </a:r>
                    </a:p>
                  </a:txBody>
                  <a:tcPr>
                    <a:solidFill>
                      <a:srgbClr val="E67300"/>
                    </a:solidFill>
                  </a:tcPr>
                </a:tc>
                <a:tc>
                  <a:txBody>
                    <a:bodyPr/>
                    <a:lstStyle/>
                    <a:p>
                      <a:pPr algn="l">
                        <a:defRPr sz="1000">
                          <a:solidFill>
                            <a:srgbClr val="242424"/>
                          </a:solidFill>
                        </a:defRPr>
                      </a:pPr>
                      <a:r>
                        <a:t>Ensure that storage accounts are zone or region redundant (storageAccounts)</a:t>
                      </a:r>
                    </a:p>
                  </a:txBody>
                  <a:tcPr>
                    <a:solidFill>
                      <a:srgbClr val="FFFFFF"/>
                    </a:solidFill>
                  </a:tcPr>
                </a:tc>
                <a:tc>
                  <a:txBody>
                    <a:bodyPr/>
                    <a:lstStyle/>
                    <a:p>
                      <a:pPr algn="l">
                        <a:defRPr sz="1000">
                          <a:solidFill>
                            <a:srgbClr val="242424"/>
                          </a:solidFill>
                        </a:defRPr>
                      </a:pPr>
                      <a:r>
                        <a:t>Redundancy ensures storage accounts meet availability and durability targets amidst failures, weighing lower costs against higher availability. Locally redundant storage offers the least durability at the lowest cost.</a:t>
                      </a:r>
                    </a:p>
                  </a:txBody>
                  <a:tcPr>
                    <a:solidFill>
                      <a:srgbClr val="FFFFFF"/>
                    </a:solidFill>
                  </a:tcPr>
                </a:tc>
              </a:tr>
              <a:tr h="440574">
                <a:tc>
                  <a:txBody>
                    <a:bodyPr/>
                    <a:lstStyle/>
                    <a:p>
                      <a:pPr algn="l">
                        <a:defRPr sz="1000">
                          <a:solidFill>
                            <a:srgbClr val="242424"/>
                          </a:solidFill>
                        </a:defRPr>
                      </a:pPr>
                      <a:r>
                        <a:t>3</a:t>
                      </a:r>
                    </a:p>
                  </a:txBody>
                  <a:tcPr>
                    <a:solidFill>
                      <a:srgbClr val="FFFFFF"/>
                    </a:solidFill>
                  </a:tcPr>
                </a:tc>
                <a:tc>
                  <a:txBody>
                    <a:bodyPr/>
                    <a:lstStyle/>
                    <a:p>
                      <a:pPr algn="l">
                        <a:defRPr sz="1000">
                          <a:solidFill>
                            <a:srgbClr val="242424"/>
                          </a:solidFill>
                        </a:defRPr>
                      </a:pPr>
                      <a:r>
                        <a:t>APRL-REL-C63B81FB</a:t>
                      </a:r>
                    </a:p>
                  </a:txBody>
                  <a:tcPr>
                    <a:solidFill>
                      <a:srgbClr val="FFFFFF"/>
                    </a:solidFill>
                  </a:tcPr>
                </a:tc>
                <a:tc>
                  <a:txBody>
                    <a:bodyPr/>
                    <a:lstStyle/>
                    <a:p>
                      <a:pPr algn="l">
                        <a:defRPr sz="1000" b="1">
                          <a:solidFill>
                            <a:srgbClr val="FFFFFF"/>
                          </a:solidFill>
                        </a:defRPr>
                      </a:pPr>
                      <a:r>
                        <a:t>High</a:t>
                      </a:r>
                    </a:p>
                  </a:txBody>
                  <a:tcPr>
                    <a:solidFill>
                      <a:srgbClr val="E67300"/>
                    </a:solidFill>
                  </a:tcPr>
                </a:tc>
                <a:tc>
                  <a:txBody>
                    <a:bodyPr/>
                    <a:lstStyle/>
                    <a:p>
                      <a:pPr algn="l">
                        <a:defRPr sz="1000">
                          <a:solidFill>
                            <a:srgbClr val="242424"/>
                          </a:solidFill>
                        </a:defRPr>
                      </a:pPr>
                      <a:r>
                        <a:t>Use Standard SKU and Zone-Redundant IPs when applicable (publicIPAddresses)</a:t>
                      </a:r>
                    </a:p>
                  </a:txBody>
                  <a:tcPr>
                    <a:solidFill>
                      <a:srgbClr val="FFFFFF"/>
                    </a:solidFill>
                  </a:tcPr>
                </a:tc>
                <a:tc>
                  <a:txBody>
                    <a:bodyPr/>
                    <a:lstStyle/>
                    <a:p>
                      <a:pPr algn="l">
                        <a:defRPr sz="1000">
                          <a:solidFill>
                            <a:srgbClr val="242424"/>
                          </a:solidFill>
                        </a:defRPr>
                      </a:pPr>
                      <a:r>
                        <a:t>Public IP addresses in Azure can be of standard SKU, available as non-zonal, zonal, or zone-redundant. Zone-redundant IPs are accessible across all zones, resisting any single zone failure, thereby providing higher resilience.</a:t>
                      </a:r>
                    </a:p>
                  </a:txBody>
                  <a:tcPr>
                    <a:solidFill>
                      <a:srgbClr val="FFFFFF"/>
                    </a:solidFill>
                  </a:tcPr>
                </a:tc>
              </a:tr>
              <a:tr h="440574">
                <a:tc>
                  <a:txBody>
                    <a:bodyPr/>
                    <a:lstStyle/>
                    <a:p>
                      <a:pPr algn="l">
                        <a:defRPr sz="1000">
                          <a:solidFill>
                            <a:srgbClr val="242424"/>
                          </a:solidFill>
                        </a:defRPr>
                      </a:pPr>
                      <a:r>
                        <a:t>4</a:t>
                      </a:r>
                    </a:p>
                  </a:txBody>
                  <a:tcPr>
                    <a:solidFill>
                      <a:srgbClr val="FFFFFF"/>
                    </a:solidFill>
                  </a:tcPr>
                </a:tc>
                <a:tc>
                  <a:txBody>
                    <a:bodyPr/>
                    <a:lstStyle/>
                    <a:p>
                      <a:pPr algn="l">
                        <a:defRPr sz="1000">
                          <a:solidFill>
                            <a:srgbClr val="242424"/>
                          </a:solidFill>
                        </a:defRPr>
                      </a:pPr>
                      <a:r>
                        <a:t>APRL-REL-273F6B30</a:t>
                      </a:r>
                    </a:p>
                  </a:txBody>
                  <a:tcPr>
                    <a:solidFill>
                      <a:srgbClr val="FFFFFF"/>
                    </a:solidFill>
                  </a:tcPr>
                </a:tc>
                <a:tc>
                  <a:txBody>
                    <a:bodyPr/>
                    <a:lstStyle/>
                    <a:p>
                      <a:pPr algn="l">
                        <a:defRPr sz="1000" b="1">
                          <a:solidFill>
                            <a:srgbClr val="FFFFFF"/>
                          </a:solidFill>
                        </a:defRPr>
                      </a:pPr>
                      <a:r>
                        <a:t>High</a:t>
                      </a:r>
                    </a:p>
                  </a:txBody>
                  <a:tcPr>
                    <a:solidFill>
                      <a:srgbClr val="E67300"/>
                    </a:solidFill>
                  </a:tcPr>
                </a:tc>
                <a:tc>
                  <a:txBody>
                    <a:bodyPr/>
                    <a:lstStyle/>
                    <a:p>
                      <a:pPr algn="l">
                        <a:defRPr sz="1000">
                          <a:solidFill>
                            <a:srgbClr val="242424"/>
                          </a:solidFill>
                        </a:defRPr>
                      </a:pPr>
                      <a:r>
                        <a:t>Run production workloads on two or more VMs using VMSS Flex (virtualMachines)</a:t>
                      </a:r>
                    </a:p>
                  </a:txBody>
                  <a:tcPr>
                    <a:solidFill>
                      <a:srgbClr val="FFFFFF"/>
                    </a:solidFill>
                  </a:tcPr>
                </a:tc>
                <a:tc>
                  <a:txBody>
                    <a:bodyPr/>
                    <a:lstStyle/>
                    <a:p>
                      <a:pPr algn="l">
                        <a:defRPr sz="1000">
                          <a:solidFill>
                            <a:srgbClr val="242424"/>
                          </a:solidFill>
                        </a:defRPr>
                      </a:pPr>
                      <a:r>
                        <a:t>Production VM workloads should be deployed on multiple VMs and grouped in a VMSS Flex instance to intelligently distribute across the platform, minimizing the impact of platform faults and updates.</a:t>
                      </a:r>
                    </a:p>
                  </a:txBody>
                  <a:tcPr>
                    <a:solidFill>
                      <a:srgbClr val="FFFFFF"/>
                    </a:solidFill>
                  </a:tcPr>
                </a:tc>
              </a:tr>
              <a:tr h="440574">
                <a:tc>
                  <a:txBody>
                    <a:bodyPr/>
                    <a:lstStyle/>
                    <a:p>
                      <a:pPr algn="l">
                        <a:defRPr sz="1000">
                          <a:solidFill>
                            <a:srgbClr val="242424"/>
                          </a:solidFill>
                        </a:defRPr>
                      </a:pPr>
                      <a:r>
                        <a:t>5</a:t>
                      </a:r>
                    </a:p>
                  </a:txBody>
                  <a:tcPr>
                    <a:solidFill>
                      <a:srgbClr val="FFFFFF"/>
                    </a:solidFill>
                  </a:tcPr>
                </a:tc>
                <a:tc>
                  <a:txBody>
                    <a:bodyPr/>
                    <a:lstStyle/>
                    <a:p>
                      <a:pPr algn="l">
                        <a:defRPr sz="1000">
                          <a:solidFill>
                            <a:srgbClr val="242424"/>
                          </a:solidFill>
                        </a:defRPr>
                      </a:pPr>
                      <a:r>
                        <a:t>APRL-REL-2BD0BE95</a:t>
                      </a:r>
                    </a:p>
                  </a:txBody>
                  <a:tcPr>
                    <a:solidFill>
                      <a:srgbClr val="FFFFFF"/>
                    </a:solidFill>
                  </a:tcPr>
                </a:tc>
                <a:tc>
                  <a:txBody>
                    <a:bodyPr/>
                    <a:lstStyle/>
                    <a:p>
                      <a:pPr algn="l">
                        <a:defRPr sz="1000" b="1">
                          <a:solidFill>
                            <a:srgbClr val="FFFFFF"/>
                          </a:solidFill>
                        </a:defRPr>
                      </a:pPr>
                      <a:r>
                        <a:t>High</a:t>
                      </a:r>
                    </a:p>
                  </a:txBody>
                  <a:tcPr>
                    <a:solidFill>
                      <a:srgbClr val="E67300"/>
                    </a:solidFill>
                  </a:tcPr>
                </a:tc>
                <a:tc>
                  <a:txBody>
                    <a:bodyPr/>
                    <a:lstStyle/>
                    <a:p>
                      <a:pPr algn="l">
                        <a:defRPr sz="1000">
                          <a:solidFill>
                            <a:srgbClr val="242424"/>
                          </a:solidFill>
                        </a:defRPr>
                      </a:pPr>
                      <a:r>
                        <a:t>Deploy VMs across Availability Zones (virtualMachines)</a:t>
                      </a:r>
                    </a:p>
                  </a:txBody>
                  <a:tcPr>
                    <a:solidFill>
                      <a:srgbClr val="FFFFFF"/>
                    </a:solidFill>
                  </a:tcPr>
                </a:tc>
                <a:tc>
                  <a:txBody>
                    <a:bodyPr/>
                    <a:lstStyle/>
                    <a:p>
                      <a:pPr algn="l">
                        <a:defRPr sz="1000">
                          <a:solidFill>
                            <a:srgbClr val="242424"/>
                          </a:solidFill>
                        </a:defRPr>
                      </a:pPr>
                      <a:r>
                        <a:t>Azure Availability Zones, within each Azure region, are tolerant to local failures, protecting applications and data against unlikely Datacenter failures by being physically separate.</a:t>
                      </a:r>
                    </a:p>
                  </a:txBody>
                  <a:tcPr>
                    <a:solidFill>
                      <a:srgbClr val="FFFFFF"/>
                    </a:solidFill>
                  </a:tcPr>
                </a:tc>
              </a:tr>
              <a:tr h="440574">
                <a:tc>
                  <a:txBody>
                    <a:bodyPr/>
                    <a:lstStyle/>
                    <a:p>
                      <a:pPr algn="l">
                        <a:defRPr sz="1000">
                          <a:solidFill>
                            <a:srgbClr val="242424"/>
                          </a:solidFill>
                        </a:defRPr>
                      </a:pPr>
                      <a:r>
                        <a:t>6</a:t>
                      </a:r>
                    </a:p>
                  </a:txBody>
                  <a:tcPr>
                    <a:solidFill>
                      <a:srgbClr val="FFFFFF"/>
                    </a:solidFill>
                  </a:tcPr>
                </a:tc>
                <a:tc>
                  <a:txBody>
                    <a:bodyPr/>
                    <a:lstStyle/>
                    <a:p>
                      <a:pPr algn="l">
                        <a:defRPr sz="1000">
                          <a:solidFill>
                            <a:srgbClr val="242424"/>
                          </a:solidFill>
                        </a:defRPr>
                      </a:pPr>
                      <a:r>
                        <a:t>APRL-PER-DF0FF862</a:t>
                      </a:r>
                    </a:p>
                  </a:txBody>
                  <a:tcPr>
                    <a:solidFill>
                      <a:srgbClr val="FFFFFF"/>
                    </a:solidFill>
                  </a:tcPr>
                </a:tc>
                <a:tc>
                  <a:txBody>
                    <a:bodyPr/>
                    <a:lstStyle/>
                    <a:p>
                      <a:pPr algn="l">
                        <a:defRPr sz="1000" b="1">
                          <a:solidFill>
                            <a:srgbClr val="FFFFFF"/>
                          </a:solidFill>
                        </a:defRPr>
                      </a:pPr>
                      <a:r>
                        <a:t>High</a:t>
                      </a:r>
                    </a:p>
                  </a:txBody>
                  <a:tcPr>
                    <a:solidFill>
                      <a:srgbClr val="E67300"/>
                    </a:solidFill>
                  </a:tcPr>
                </a:tc>
                <a:tc>
                  <a:txBody>
                    <a:bodyPr/>
                    <a:lstStyle/>
                    <a:p>
                      <a:pPr algn="l">
                        <a:defRPr sz="1000">
                          <a:solidFill>
                            <a:srgbClr val="242424"/>
                          </a:solidFill>
                        </a:defRPr>
                      </a:pPr>
                      <a:r>
                        <a:t>Mission Critical Workloads should consider using Premium or Ultra Disks (virtualMachines)</a:t>
                      </a:r>
                    </a:p>
                  </a:txBody>
                  <a:tcPr>
                    <a:solidFill>
                      <a:srgbClr val="FFFFFF"/>
                    </a:solidFill>
                  </a:tcPr>
                </a:tc>
                <a:tc>
                  <a:txBody>
                    <a:bodyPr/>
                    <a:lstStyle/>
                    <a:p>
                      <a:pPr algn="l">
                        <a:defRPr sz="1000">
                          <a:solidFill>
                            <a:srgbClr val="242424"/>
                          </a:solidFill>
                        </a:defRPr>
                      </a:pPr>
                      <a:r>
                        <a:t>Compared to Standard HDD and SSD, Premium SSD, SSD v2, and Ultra Disks offer improved performance, configurability, and higher single-instance VM uptime SLAs. The lowest SLA of all disks on a VM applies, so it is best to use Premium or Ultra Disks for the highest uptime SLA.</a:t>
                      </a:r>
                    </a:p>
                  </a:txBody>
                  <a:tcPr>
                    <a:solidFill>
                      <a:srgbClr val="FFFFFF"/>
                    </a:solidFill>
                  </a:tcPr>
                </a:tc>
              </a:tr>
              <a:tr h="440574">
                <a:tc>
                  <a:txBody>
                    <a:bodyPr/>
                    <a:lstStyle/>
                    <a:p>
                      <a:pPr algn="l">
                        <a:defRPr sz="1000">
                          <a:solidFill>
                            <a:srgbClr val="242424"/>
                          </a:solidFill>
                        </a:defRPr>
                      </a:pPr>
                      <a:r>
                        <a:t>7</a:t>
                      </a:r>
                    </a:p>
                  </a:txBody>
                  <a:tcPr>
                    <a:solidFill>
                      <a:srgbClr val="FFFFFF"/>
                    </a:solidFill>
                  </a:tcPr>
                </a:tc>
                <a:tc>
                  <a:txBody>
                    <a:bodyPr/>
                    <a:lstStyle/>
                    <a:p>
                      <a:pPr algn="l">
                        <a:defRPr sz="1000">
                          <a:solidFill>
                            <a:srgbClr val="242424"/>
                          </a:solidFill>
                        </a:defRPr>
                      </a:pPr>
                      <a:r>
                        <a:t>COS-001</a:t>
                      </a:r>
                    </a:p>
                  </a:txBody>
                  <a:tcPr>
                    <a:solidFill>
                      <a:srgbClr val="FFFFFF"/>
                    </a:solidFill>
                  </a:tcPr>
                </a:tc>
                <a:tc>
                  <a:txBody>
                    <a:bodyPr/>
                    <a:lstStyle/>
                    <a:p>
                      <a:pPr algn="l">
                        <a:defRPr sz="1000" b="1">
                          <a:solidFill>
                            <a:srgbClr val="FFFFFF"/>
                          </a:solidFill>
                        </a:defRPr>
                      </a:pPr>
                      <a:r>
                        <a:t>High</a:t>
                      </a:r>
                    </a:p>
                  </a:txBody>
                  <a:tcPr>
                    <a:solidFill>
                      <a:srgbClr val="E67300"/>
                    </a:solidFill>
                  </a:tcPr>
                </a:tc>
                <a:tc>
                  <a:txBody>
                    <a:bodyPr/>
                    <a:lstStyle/>
                    <a:p>
                      <a:pPr algn="l">
                        <a:defRPr sz="1000">
                          <a:solidFill>
                            <a:srgbClr val="242424"/>
                          </a:solidFill>
                        </a:defRPr>
                      </a:pPr>
                      <a:r>
                        <a:t>No budget resources found</a:t>
                      </a:r>
                    </a:p>
                  </a:txBody>
                  <a:tcPr>
                    <a:solidFill>
                      <a:srgbClr val="FFFFFF"/>
                    </a:solidFill>
                  </a:tcPr>
                </a:tc>
                <a:tc>
                  <a:txBody>
                    <a:bodyPr/>
                    <a:lstStyle/>
                    <a:p>
                      <a:pPr algn="l">
                        <a:defRPr sz="1000">
                          <a:solidFill>
                            <a:srgbClr val="242424"/>
                          </a:solidFill>
                        </a:defRPr>
                      </a:pPr>
                      <a:r>
                        <a:t>Create budget resources with 80/100/120% forecast alerts.</a:t>
                      </a:r>
                    </a:p>
                  </a:txBody>
                  <a:tcPr>
                    <a:solidFill>
                      <a:srgbClr val="FFFFFF"/>
                    </a:solidFill>
                  </a:tcPr>
                </a:tc>
              </a:tr>
              <a:tr h="440574">
                <a:tc>
                  <a:txBody>
                    <a:bodyPr/>
                    <a:lstStyle/>
                    <a:p>
                      <a:pPr algn="l">
                        <a:defRPr sz="1000">
                          <a:solidFill>
                            <a:srgbClr val="242424"/>
                          </a:solidFill>
                        </a:defRPr>
                      </a:pPr>
                      <a:r>
                        <a:t>8</a:t>
                      </a:r>
                    </a:p>
                  </a:txBody>
                  <a:tcPr>
                    <a:solidFill>
                      <a:srgbClr val="FFFFFF"/>
                    </a:solidFill>
                  </a:tcPr>
                </a:tc>
                <a:tc>
                  <a:txBody>
                    <a:bodyPr/>
                    <a:lstStyle/>
                    <a:p>
                      <a:pPr algn="l">
                        <a:defRPr sz="1000">
                          <a:solidFill>
                            <a:srgbClr val="242424"/>
                          </a:solidFill>
                        </a:defRPr>
                      </a:pPr>
                      <a:r>
                        <a:t>COS-014</a:t>
                      </a:r>
                    </a:p>
                  </a:txBody>
                  <a:tcPr>
                    <a:solidFill>
                      <a:srgbClr val="FFFFFF"/>
                    </a:solidFill>
                  </a:tcPr>
                </a:tc>
                <a:tc>
                  <a:txBody>
                    <a:bodyPr/>
                    <a:lstStyle/>
                    <a:p>
                      <a:pPr algn="l">
                        <a:defRPr sz="1000" b="1">
                          <a:solidFill>
                            <a:srgbClr val="FFFFFF"/>
                          </a:solidFill>
                        </a:defRPr>
                      </a:pPr>
                      <a:r>
                        <a:t>High</a:t>
                      </a:r>
                    </a:p>
                  </a:txBody>
                  <a:tcPr>
                    <a:solidFill>
                      <a:srgbClr val="E67300"/>
                    </a:solidFill>
                  </a:tcPr>
                </a:tc>
                <a:tc>
                  <a:txBody>
                    <a:bodyPr/>
                    <a:lstStyle/>
                    <a:p>
                      <a:pPr algn="l">
                        <a:defRPr sz="1000">
                          <a:solidFill>
                            <a:srgbClr val="242424"/>
                          </a:solidFill>
                        </a:defRPr>
                      </a:pPr>
                      <a:r>
                        <a:t>Azure Advisor cost recommendations pending</a:t>
                      </a:r>
                    </a:p>
                  </a:txBody>
                  <a:tcPr>
                    <a:solidFill>
                      <a:srgbClr val="FFFFFF"/>
                    </a:solidFill>
                  </a:tcPr>
                </a:tc>
                <a:tc>
                  <a:txBody>
                    <a:bodyPr/>
                    <a:lstStyle/>
                    <a:p>
                      <a:pPr algn="l">
                        <a:defRPr sz="1000">
                          <a:solidFill>
                            <a:srgbClr val="242424"/>
                          </a:solidFill>
                        </a:defRPr>
                      </a:pPr>
                      <a:r>
                        <a:t>Review and act on Azure Advisor cost recommendations to reduce waste.</a:t>
                      </a:r>
                    </a:p>
                  </a:txBody>
                  <a:tcPr>
                    <a:solidFill>
                      <a:srgbClr val="FFFFFF"/>
                    </a:solidFill>
                  </a:tcPr>
                </a:tc>
              </a:tr>
              <a:tr h="440574">
                <a:tc>
                  <a:txBody>
                    <a:bodyPr/>
                    <a:lstStyle/>
                    <a:p>
                      <a:pPr algn="l">
                        <a:defRPr sz="1000">
                          <a:solidFill>
                            <a:srgbClr val="242424"/>
                          </a:solidFill>
                        </a:defRPr>
                      </a:pPr>
                      <a:r>
                        <a:t>9</a:t>
                      </a:r>
                    </a:p>
                  </a:txBody>
                  <a:tcPr>
                    <a:solidFill>
                      <a:srgbClr val="FFFFFF"/>
                    </a:solidFill>
                  </a:tcPr>
                </a:tc>
                <a:tc>
                  <a:txBody>
                    <a:bodyPr/>
                    <a:lstStyle/>
                    <a:p>
                      <a:pPr algn="l">
                        <a:defRPr sz="1000">
                          <a:solidFill>
                            <a:srgbClr val="242424"/>
                          </a:solidFill>
                        </a:defRPr>
                      </a:pPr>
                      <a:r>
                        <a:t>COS-017</a:t>
                      </a:r>
                    </a:p>
                  </a:txBody>
                  <a:tcPr>
                    <a:solidFill>
                      <a:srgbClr val="FFFFFF"/>
                    </a:solidFill>
                  </a:tcPr>
                </a:tc>
                <a:tc>
                  <a:txBody>
                    <a:bodyPr/>
                    <a:lstStyle/>
                    <a:p>
                      <a:pPr algn="l">
                        <a:defRPr sz="1000" b="1">
                          <a:solidFill>
                            <a:srgbClr val="FFFFFF"/>
                          </a:solidFill>
                        </a:defRPr>
                      </a:pPr>
                      <a:r>
                        <a:t>High</a:t>
                      </a:r>
                    </a:p>
                  </a:txBody>
                  <a:tcPr>
                    <a:solidFill>
                      <a:srgbClr val="E67300"/>
                    </a:solidFill>
                  </a:tcPr>
                </a:tc>
                <a:tc>
                  <a:txBody>
                    <a:bodyPr/>
                    <a:lstStyle/>
                    <a:p>
                      <a:pPr algn="l">
                        <a:defRPr sz="1000">
                          <a:solidFill>
                            <a:srgbClr val="242424"/>
                          </a:solidFill>
                        </a:defRPr>
                      </a:pPr>
                      <a:r>
                        <a:t>Resource groups missing CostCenter tag</a:t>
                      </a:r>
                    </a:p>
                  </a:txBody>
                  <a:tcPr>
                    <a:solidFill>
                      <a:srgbClr val="FFFFFF"/>
                    </a:solidFill>
                  </a:tcPr>
                </a:tc>
                <a:tc>
                  <a:txBody>
                    <a:bodyPr/>
                    <a:lstStyle/>
                    <a:p>
                      <a:pPr algn="l">
                        <a:defRPr sz="1000">
                          <a:solidFill>
                            <a:srgbClr val="242424"/>
                          </a:solidFill>
                        </a:defRPr>
                      </a:pPr>
                      <a:r>
                        <a:t>Apply CostCenter tag to all resource groups for cost allocation and chargeback.</a:t>
                      </a:r>
                    </a:p>
                  </a:txBody>
                  <a:tcPr>
                    <a:solidFill>
                      <a:srgbClr val="FFFFFF"/>
                    </a:solidFill>
                  </a:tcPr>
                </a:tc>
              </a:tr>
              <a:tr h="440580">
                <a:tc>
                  <a:txBody>
                    <a:bodyPr/>
                    <a:lstStyle/>
                    <a:p>
                      <a:pPr algn="l">
                        <a:defRPr sz="1000">
                          <a:solidFill>
                            <a:srgbClr val="242424"/>
                          </a:solidFill>
                        </a:defRPr>
                      </a:pPr>
                      <a:r>
                        <a:t>10</a:t>
                      </a:r>
                    </a:p>
                  </a:txBody>
                  <a:tcPr>
                    <a:solidFill>
                      <a:srgbClr val="FFFFFF"/>
                    </a:solidFill>
                  </a:tcPr>
                </a:tc>
                <a:tc>
                  <a:txBody>
                    <a:bodyPr/>
                    <a:lstStyle/>
                    <a:p>
                      <a:pPr algn="l">
                        <a:defRPr sz="1000">
                          <a:solidFill>
                            <a:srgbClr val="242424"/>
                          </a:solidFill>
                        </a:defRPr>
                      </a:pPr>
                      <a:r>
                        <a:t>COS-009</a:t>
                      </a:r>
                    </a:p>
                  </a:txBody>
                  <a:tcPr>
                    <a:solidFill>
                      <a:srgbClr val="FFFFFF"/>
                    </a:solidFill>
                  </a:tcPr>
                </a:tc>
                <a:tc>
                  <a:txBody>
                    <a:bodyPr/>
                    <a:lstStyle/>
                    <a:p>
                      <a:pPr algn="l">
                        <a:defRPr sz="1000" b="1">
                          <a:solidFill>
                            <a:srgbClr val="FFFFFF"/>
                          </a:solidFill>
                        </a:defRPr>
                      </a:pPr>
                      <a:r>
                        <a:t>High</a:t>
                      </a:r>
                    </a:p>
                  </a:txBody>
                  <a:tcPr>
                    <a:solidFill>
                      <a:srgbClr val="E67300"/>
                    </a:solidFill>
                  </a:tcPr>
                </a:tc>
                <a:tc>
                  <a:txBody>
                    <a:bodyPr/>
                    <a:lstStyle/>
                    <a:p>
                      <a:pPr algn="l">
                        <a:defRPr sz="1000">
                          <a:solidFill>
                            <a:srgbClr val="242424"/>
                          </a:solidFill>
                        </a:defRPr>
                      </a:pPr>
                      <a:r>
                        <a:t>Long-running VMs without Reserved Instances</a:t>
                      </a:r>
                    </a:p>
                  </a:txBody>
                  <a:tcPr>
                    <a:solidFill>
                      <a:srgbClr val="FFFFFF"/>
                    </a:solidFill>
                  </a:tcPr>
                </a:tc>
                <a:tc>
                  <a:txBody>
                    <a:bodyPr/>
                    <a:lstStyle/>
                    <a:p>
                      <a:pPr algn="l">
                        <a:defRPr sz="1000">
                          <a:solidFill>
                            <a:srgbClr val="242424"/>
                          </a:solidFill>
                        </a:defRPr>
                      </a:pPr>
                      <a:r>
                        <a:t>Purchase Reserved Instances for VMs running 24/7 to save up to 72% vs pay-as-you-go.</a:t>
                      </a:r>
                    </a:p>
                  </a:txBody>
                  <a:tcPr>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972800" cy="731520"/>
          </a:xfrm>
          <a:prstGeom prst="rect">
            <a:avLst/>
          </a:prstGeom>
          <a:noFill/>
        </p:spPr>
        <p:txBody>
          <a:bodyPr wrap="none">
            <a:spAutoFit/>
          </a:bodyPr>
          <a:lstStyle/>
          <a:p>
            <a:pPr algn="l">
              <a:defRPr sz="2800" b="1">
                <a:solidFill>
                  <a:srgbClr val="242424"/>
                </a:solidFill>
              </a:defRPr>
            </a:pPr>
            <a:r>
              <a:t>Critical &amp; High Impact Findings (2/2)</a:t>
            </a:r>
          </a:p>
        </p:txBody>
      </p:sp>
      <p:sp>
        <p:nvSpPr>
          <p:cNvPr id="3" name="TextBox 2"/>
          <p:cNvSpPr txBox="1"/>
          <p:nvPr/>
        </p:nvSpPr>
        <p:spPr>
          <a:xfrm>
            <a:off x="8686800" y="6400800"/>
            <a:ext cx="2926080" cy="228600"/>
          </a:xfrm>
          <a:prstGeom prst="rect">
            <a:avLst/>
          </a:prstGeom>
          <a:noFill/>
        </p:spPr>
        <p:txBody>
          <a:bodyPr wrap="none">
            <a:spAutoFit/>
          </a:bodyPr>
          <a:lstStyle/>
          <a:p>
            <a:pPr algn="r">
              <a:defRPr sz="800">
                <a:solidFill>
                  <a:srgbClr val="999999"/>
                </a:solidFill>
                <a:latin typeface="Segoe UI"/>
              </a:defRPr>
            </a:pPr>
            <a:r>
              <a:t>AUTOMATICALLY GENERATED — Please Review</a:t>
            </a:r>
          </a:p>
        </p:txBody>
      </p:sp>
      <p:graphicFrame>
        <p:nvGraphicFramePr>
          <p:cNvPr id="4" name="Table 3"/>
          <p:cNvGraphicFramePr>
            <a:graphicFrameLocks noGrp="1"/>
          </p:cNvGraphicFramePr>
          <p:nvPr/>
        </p:nvGraphicFramePr>
        <p:xfrm>
          <a:off x="365760" y="1280160"/>
          <a:ext cx="11338560" cy="4846320"/>
        </p:xfrm>
        <a:graphic>
          <a:graphicData uri="http://schemas.openxmlformats.org/drawingml/2006/table">
            <a:tbl>
              <a:tblPr firstRow="1" bandRow="1">
                <a:tableStyleId>{5C22544A-7EE6-4342-B048-85BDC9FD1C3A}</a:tableStyleId>
              </a:tblPr>
              <a:tblGrid>
                <a:gridCol w="548640"/>
                <a:gridCol w="1188720"/>
                <a:gridCol w="1097280"/>
                <a:gridCol w="3017520"/>
                <a:gridCol w="5486400"/>
              </a:tblGrid>
              <a:tr h="692331">
                <a:tc>
                  <a:txBody>
                    <a:bodyPr/>
                    <a:lstStyle/>
                    <a:p>
                      <a:pPr algn="l">
                        <a:defRPr sz="1200" b="1">
                          <a:solidFill>
                            <a:srgbClr val="FFFFFF"/>
                          </a:solidFill>
                        </a:defRPr>
                      </a:pPr>
                      <a:r>
                        <a:t>#</a:t>
                      </a:r>
                    </a:p>
                  </a:txBody>
                  <a:tcPr>
                    <a:solidFill>
                      <a:srgbClr val="0078D4"/>
                    </a:solidFill>
                  </a:tcPr>
                </a:tc>
                <a:tc>
                  <a:txBody>
                    <a:bodyPr/>
                    <a:lstStyle/>
                    <a:p>
                      <a:pPr algn="l">
                        <a:defRPr sz="1200" b="1">
                          <a:solidFill>
                            <a:srgbClr val="FFFFFF"/>
                          </a:solidFill>
                        </a:defRPr>
                      </a:pPr>
                      <a:r>
                        <a:t>Rule ID</a:t>
                      </a:r>
                    </a:p>
                  </a:txBody>
                  <a:tcPr>
                    <a:solidFill>
                      <a:srgbClr val="0078D4"/>
                    </a:solidFill>
                  </a:tcPr>
                </a:tc>
                <a:tc>
                  <a:txBody>
                    <a:bodyPr/>
                    <a:lstStyle/>
                    <a:p>
                      <a:pPr algn="l">
                        <a:defRPr sz="1200" b="1">
                          <a:solidFill>
                            <a:srgbClr val="FFFFFF"/>
                          </a:solidFill>
                        </a:defRPr>
                      </a:pPr>
                      <a:r>
                        <a:t>Severity</a:t>
                      </a:r>
                    </a:p>
                  </a:txBody>
                  <a:tcPr>
                    <a:solidFill>
                      <a:srgbClr val="0078D4"/>
                    </a:solidFill>
                  </a:tcPr>
                </a:tc>
                <a:tc>
                  <a:txBody>
                    <a:bodyPr/>
                    <a:lstStyle/>
                    <a:p>
                      <a:pPr algn="l">
                        <a:defRPr sz="1200" b="1">
                          <a:solidFill>
                            <a:srgbClr val="FFFFFF"/>
                          </a:solidFill>
                        </a:defRPr>
                      </a:pPr>
                      <a:r>
                        <a:t>Title</a:t>
                      </a:r>
                    </a:p>
                  </a:txBody>
                  <a:tcPr>
                    <a:solidFill>
                      <a:srgbClr val="0078D4"/>
                    </a:solidFill>
                  </a:tcPr>
                </a:tc>
                <a:tc>
                  <a:txBody>
                    <a:bodyPr/>
                    <a:lstStyle/>
                    <a:p>
                      <a:pPr algn="l">
                        <a:defRPr sz="1200" b="1">
                          <a:solidFill>
                            <a:srgbClr val="FFFFFF"/>
                          </a:solidFill>
                        </a:defRPr>
                      </a:pPr>
                      <a:r>
                        <a:t>Recommendation</a:t>
                      </a:r>
                    </a:p>
                  </a:txBody>
                  <a:tcPr>
                    <a:solidFill>
                      <a:srgbClr val="0078D4"/>
                    </a:solidFill>
                  </a:tcPr>
                </a:tc>
              </a:tr>
              <a:tr h="692331">
                <a:tc>
                  <a:txBody>
                    <a:bodyPr/>
                    <a:lstStyle/>
                    <a:p>
                      <a:pPr algn="l">
                        <a:defRPr sz="1000">
                          <a:solidFill>
                            <a:srgbClr val="242424"/>
                          </a:solidFill>
                        </a:defRPr>
                      </a:pPr>
                      <a:r>
                        <a:t>11</a:t>
                      </a:r>
                    </a:p>
                  </a:txBody>
                  <a:tcPr>
                    <a:solidFill>
                      <a:srgbClr val="FFFFFF"/>
                    </a:solidFill>
                  </a:tcPr>
                </a:tc>
                <a:tc>
                  <a:txBody>
                    <a:bodyPr/>
                    <a:lstStyle/>
                    <a:p>
                      <a:pPr algn="l">
                        <a:defRPr sz="1000">
                          <a:solidFill>
                            <a:srgbClr val="242424"/>
                          </a:solidFill>
                        </a:defRPr>
                      </a:pPr>
                      <a:r>
                        <a:t>OPE-006</a:t>
                      </a:r>
                    </a:p>
                  </a:txBody>
                  <a:tcPr>
                    <a:solidFill>
                      <a:srgbClr val="FFFFFF"/>
                    </a:solidFill>
                  </a:tcPr>
                </a:tc>
                <a:tc>
                  <a:txBody>
                    <a:bodyPr/>
                    <a:lstStyle/>
                    <a:p>
                      <a:pPr algn="l">
                        <a:defRPr sz="1000" b="1">
                          <a:solidFill>
                            <a:srgbClr val="FFFFFF"/>
                          </a:solidFill>
                        </a:defRPr>
                      </a:pPr>
                      <a:r>
                        <a:t>High</a:t>
                      </a:r>
                    </a:p>
                  </a:txBody>
                  <a:tcPr>
                    <a:solidFill>
                      <a:srgbClr val="E67300"/>
                    </a:solidFill>
                  </a:tcPr>
                </a:tc>
                <a:tc>
                  <a:txBody>
                    <a:bodyPr/>
                    <a:lstStyle/>
                    <a:p>
                      <a:pPr algn="l">
                        <a:defRPr sz="1000">
                          <a:solidFill>
                            <a:srgbClr val="242424"/>
                          </a:solidFill>
                        </a:defRPr>
                      </a:pPr>
                      <a:r>
                        <a:t>No hub VNet or firewall detected</a:t>
                      </a:r>
                    </a:p>
                  </a:txBody>
                  <a:tcPr>
                    <a:solidFill>
                      <a:srgbClr val="FFFFFF"/>
                    </a:solidFill>
                  </a:tcPr>
                </a:tc>
                <a:tc>
                  <a:txBody>
                    <a:bodyPr/>
                    <a:lstStyle/>
                    <a:p>
                      <a:pPr algn="l">
                        <a:defRPr sz="1000">
                          <a:solidFill>
                            <a:srgbClr val="242424"/>
                          </a:solidFill>
                        </a:defRPr>
                      </a:pPr>
                      <a:r>
                        <a:t>Deploy a hub VNet with Azure Firewall for centralized network governance.</a:t>
                      </a:r>
                    </a:p>
                  </a:txBody>
                  <a:tcPr>
                    <a:solidFill>
                      <a:srgbClr val="FFFFFF"/>
                    </a:solidFill>
                  </a:tcPr>
                </a:tc>
              </a:tr>
              <a:tr h="692331">
                <a:tc>
                  <a:txBody>
                    <a:bodyPr/>
                    <a:lstStyle/>
                    <a:p>
                      <a:pPr algn="l">
                        <a:defRPr sz="1000">
                          <a:solidFill>
                            <a:srgbClr val="242424"/>
                          </a:solidFill>
                        </a:defRPr>
                      </a:pPr>
                      <a:r>
                        <a:t>12</a:t>
                      </a:r>
                    </a:p>
                  </a:txBody>
                  <a:tcPr>
                    <a:solidFill>
                      <a:srgbClr val="FFFFFF"/>
                    </a:solidFill>
                  </a:tcPr>
                </a:tc>
                <a:tc>
                  <a:txBody>
                    <a:bodyPr/>
                    <a:lstStyle/>
                    <a:p>
                      <a:pPr algn="l">
                        <a:defRPr sz="1000">
                          <a:solidFill>
                            <a:srgbClr val="242424"/>
                          </a:solidFill>
                        </a:defRPr>
                      </a:pPr>
                      <a:r>
                        <a:t>REL-001</a:t>
                      </a:r>
                    </a:p>
                  </a:txBody>
                  <a:tcPr>
                    <a:solidFill>
                      <a:srgbClr val="FFFFFF"/>
                    </a:solidFill>
                  </a:tcPr>
                </a:tc>
                <a:tc>
                  <a:txBody>
                    <a:bodyPr/>
                    <a:lstStyle/>
                    <a:p>
                      <a:pPr algn="l">
                        <a:defRPr sz="1000" b="1">
                          <a:solidFill>
                            <a:srgbClr val="FFFFFF"/>
                          </a:solidFill>
                        </a:defRPr>
                      </a:pPr>
                      <a:r>
                        <a:t>High</a:t>
                      </a:r>
                    </a:p>
                  </a:txBody>
                  <a:tcPr>
                    <a:solidFill>
                      <a:srgbClr val="E67300"/>
                    </a:solidFill>
                  </a:tcPr>
                </a:tc>
                <a:tc>
                  <a:txBody>
                    <a:bodyPr/>
                    <a:lstStyle/>
                    <a:p>
                      <a:pPr algn="l">
                        <a:defRPr sz="1000">
                          <a:solidFill>
                            <a:srgbClr val="242424"/>
                          </a:solidFill>
                        </a:defRPr>
                      </a:pPr>
                      <a:r>
                        <a:t>VMs without availability zones</a:t>
                      </a:r>
                    </a:p>
                  </a:txBody>
                  <a:tcPr>
                    <a:solidFill>
                      <a:srgbClr val="FFFFFF"/>
                    </a:solidFill>
                  </a:tcPr>
                </a:tc>
                <a:tc>
                  <a:txBody>
                    <a:bodyPr/>
                    <a:lstStyle/>
                    <a:p>
                      <a:pPr algn="l">
                        <a:defRPr sz="1000">
                          <a:solidFill>
                            <a:srgbClr val="242424"/>
                          </a:solidFill>
                        </a:defRPr>
                      </a:pPr>
                      <a:r>
                        <a:t>Deploy VMs across availability zones for high availability.</a:t>
                      </a:r>
                    </a:p>
                  </a:txBody>
                  <a:tcPr>
                    <a:solidFill>
                      <a:srgbClr val="FFFFFF"/>
                    </a:solidFill>
                  </a:tcPr>
                </a:tc>
              </a:tr>
              <a:tr h="692331">
                <a:tc>
                  <a:txBody>
                    <a:bodyPr/>
                    <a:lstStyle/>
                    <a:p>
                      <a:pPr algn="l">
                        <a:defRPr sz="1000">
                          <a:solidFill>
                            <a:srgbClr val="242424"/>
                          </a:solidFill>
                        </a:defRPr>
                      </a:pPr>
                      <a:r>
                        <a:t>13</a:t>
                      </a:r>
                    </a:p>
                  </a:txBody>
                  <a:tcPr>
                    <a:solidFill>
                      <a:srgbClr val="FFFFFF"/>
                    </a:solidFill>
                  </a:tcPr>
                </a:tc>
                <a:tc>
                  <a:txBody>
                    <a:bodyPr/>
                    <a:lstStyle/>
                    <a:p>
                      <a:pPr algn="l">
                        <a:defRPr sz="1000">
                          <a:solidFill>
                            <a:srgbClr val="242424"/>
                          </a:solidFill>
                        </a:defRPr>
                      </a:pPr>
                      <a:r>
                        <a:t>REL-003</a:t>
                      </a:r>
                    </a:p>
                  </a:txBody>
                  <a:tcPr>
                    <a:solidFill>
                      <a:srgbClr val="FFFFFF"/>
                    </a:solidFill>
                  </a:tcPr>
                </a:tc>
                <a:tc>
                  <a:txBody>
                    <a:bodyPr/>
                    <a:lstStyle/>
                    <a:p>
                      <a:pPr algn="l">
                        <a:defRPr sz="1000" b="1">
                          <a:solidFill>
                            <a:srgbClr val="FFFFFF"/>
                          </a:solidFill>
                        </a:defRPr>
                      </a:pPr>
                      <a:r>
                        <a:t>High</a:t>
                      </a:r>
                    </a:p>
                  </a:txBody>
                  <a:tcPr>
                    <a:solidFill>
                      <a:srgbClr val="E67300"/>
                    </a:solidFill>
                  </a:tcPr>
                </a:tc>
                <a:tc>
                  <a:txBody>
                    <a:bodyPr/>
                    <a:lstStyle/>
                    <a:p>
                      <a:pPr algn="l">
                        <a:defRPr sz="1000">
                          <a:solidFill>
                            <a:srgbClr val="242424"/>
                          </a:solidFill>
                        </a:defRPr>
                      </a:pPr>
                      <a:r>
                        <a:t>VMs without backup enabled</a:t>
                      </a:r>
                    </a:p>
                  </a:txBody>
                  <a:tcPr>
                    <a:solidFill>
                      <a:srgbClr val="FFFFFF"/>
                    </a:solidFill>
                  </a:tcPr>
                </a:tc>
                <a:tc>
                  <a:txBody>
                    <a:bodyPr/>
                    <a:lstStyle/>
                    <a:p>
                      <a:pPr algn="l">
                        <a:defRPr sz="1000">
                          <a:solidFill>
                            <a:srgbClr val="242424"/>
                          </a:solidFill>
                        </a:defRPr>
                      </a:pPr>
                      <a:r>
                        <a:t>Enable Azure Backup for production virtual machines to improve recovery readiness.</a:t>
                      </a:r>
                    </a:p>
                  </a:txBody>
                  <a:tcPr>
                    <a:solidFill>
                      <a:srgbClr val="FFFFFF"/>
                    </a:solidFill>
                  </a:tcPr>
                </a:tc>
              </a:tr>
              <a:tr h="692331">
                <a:tc>
                  <a:txBody>
                    <a:bodyPr/>
                    <a:lstStyle/>
                    <a:p>
                      <a:pPr algn="l">
                        <a:defRPr sz="1000">
                          <a:solidFill>
                            <a:srgbClr val="242424"/>
                          </a:solidFill>
                        </a:defRPr>
                      </a:pPr>
                      <a:r>
                        <a:t>14</a:t>
                      </a:r>
                    </a:p>
                  </a:txBody>
                  <a:tcPr>
                    <a:solidFill>
                      <a:srgbClr val="FFFFFF"/>
                    </a:solidFill>
                  </a:tcPr>
                </a:tc>
                <a:tc>
                  <a:txBody>
                    <a:bodyPr/>
                    <a:lstStyle/>
                    <a:p>
                      <a:pPr algn="l">
                        <a:defRPr sz="1000">
                          <a:solidFill>
                            <a:srgbClr val="242424"/>
                          </a:solidFill>
                        </a:defRPr>
                      </a:pPr>
                      <a:r>
                        <a:t>SEC-014</a:t>
                      </a:r>
                    </a:p>
                  </a:txBody>
                  <a:tcPr>
                    <a:solidFill>
                      <a:srgbClr val="FFFFFF"/>
                    </a:solidFill>
                  </a:tcPr>
                </a:tc>
                <a:tc>
                  <a:txBody>
                    <a:bodyPr/>
                    <a:lstStyle/>
                    <a:p>
                      <a:pPr algn="l">
                        <a:defRPr sz="1000" b="1">
                          <a:solidFill>
                            <a:srgbClr val="FFFFFF"/>
                          </a:solidFill>
                        </a:defRPr>
                      </a:pPr>
                      <a:r>
                        <a:t>High</a:t>
                      </a:r>
                    </a:p>
                  </a:txBody>
                  <a:tcPr>
                    <a:solidFill>
                      <a:srgbClr val="E67300"/>
                    </a:solidFill>
                  </a:tcPr>
                </a:tc>
                <a:tc>
                  <a:txBody>
                    <a:bodyPr/>
                    <a:lstStyle/>
                    <a:p>
                      <a:pPr algn="l">
                        <a:defRPr sz="1000">
                          <a:solidFill>
                            <a:srgbClr val="242424"/>
                          </a:solidFill>
                        </a:defRPr>
                      </a:pPr>
                      <a:r>
                        <a:t>DDoS Protection Plan on hub VNet</a:t>
                      </a:r>
                    </a:p>
                  </a:txBody>
                  <a:tcPr>
                    <a:solidFill>
                      <a:srgbClr val="FFFFFF"/>
                    </a:solidFill>
                  </a:tcPr>
                </a:tc>
                <a:tc>
                  <a:txBody>
                    <a:bodyPr/>
                    <a:lstStyle/>
                    <a:p>
                      <a:pPr algn="l">
                        <a:defRPr sz="1000">
                          <a:solidFill>
                            <a:srgbClr val="242424"/>
                          </a:solidFill>
                        </a:defRPr>
                      </a:pPr>
                      <a:r>
                        <a:t>Enable DDoS Network Protection on hub virtual networks.</a:t>
                      </a:r>
                    </a:p>
                  </a:txBody>
                  <a:tcPr>
                    <a:solidFill>
                      <a:srgbClr val="FFFFFF"/>
                    </a:solidFill>
                  </a:tcPr>
                </a:tc>
              </a:tr>
              <a:tr h="692331">
                <a:tc>
                  <a:txBody>
                    <a:bodyPr/>
                    <a:lstStyle/>
                    <a:p>
                      <a:pPr algn="l">
                        <a:defRPr sz="1000">
                          <a:solidFill>
                            <a:srgbClr val="242424"/>
                          </a:solidFill>
                        </a:defRPr>
                      </a:pPr>
                      <a:r>
                        <a:t>15</a:t>
                      </a:r>
                    </a:p>
                  </a:txBody>
                  <a:tcPr>
                    <a:solidFill>
                      <a:srgbClr val="FFFFFF"/>
                    </a:solidFill>
                  </a:tcPr>
                </a:tc>
                <a:tc>
                  <a:txBody>
                    <a:bodyPr/>
                    <a:lstStyle/>
                    <a:p>
                      <a:pPr algn="l">
                        <a:defRPr sz="1000">
                          <a:solidFill>
                            <a:srgbClr val="242424"/>
                          </a:solidFill>
                        </a:defRPr>
                      </a:pPr>
                      <a:r>
                        <a:t>SEC-025</a:t>
                      </a:r>
                    </a:p>
                  </a:txBody>
                  <a:tcPr>
                    <a:solidFill>
                      <a:srgbClr val="FFFFFF"/>
                    </a:solidFill>
                  </a:tcPr>
                </a:tc>
                <a:tc>
                  <a:txBody>
                    <a:bodyPr/>
                    <a:lstStyle/>
                    <a:p>
                      <a:pPr algn="l">
                        <a:defRPr sz="1000" b="1">
                          <a:solidFill>
                            <a:srgbClr val="FFFFFF"/>
                          </a:solidFill>
                        </a:defRPr>
                      </a:pPr>
                      <a:r>
                        <a:t>High</a:t>
                      </a:r>
                    </a:p>
                  </a:txBody>
                  <a:tcPr>
                    <a:solidFill>
                      <a:srgbClr val="E67300"/>
                    </a:solidFill>
                  </a:tcPr>
                </a:tc>
                <a:tc>
                  <a:txBody>
                    <a:bodyPr/>
                    <a:lstStyle/>
                    <a:p>
                      <a:pPr algn="l">
                        <a:defRPr sz="1000">
                          <a:solidFill>
                            <a:srgbClr val="242424"/>
                          </a:solidFill>
                        </a:defRPr>
                      </a:pPr>
                      <a:r>
                        <a:t>Managed Identity preferred over service principal secrets</a:t>
                      </a:r>
                    </a:p>
                  </a:txBody>
                  <a:tcPr>
                    <a:solidFill>
                      <a:srgbClr val="FFFFFF"/>
                    </a:solidFill>
                  </a:tcPr>
                </a:tc>
                <a:tc>
                  <a:txBody>
                    <a:bodyPr/>
                    <a:lstStyle/>
                    <a:p>
                      <a:pPr algn="l">
                        <a:defRPr sz="1000">
                          <a:solidFill>
                            <a:srgbClr val="242424"/>
                          </a:solidFill>
                        </a:defRPr>
                      </a:pPr>
                      <a:r>
                        <a:t>Assign managed identity to compute resources instead of using service principal secrets.</a:t>
                      </a:r>
                    </a:p>
                  </a:txBody>
                  <a:tcPr>
                    <a:solidFill>
                      <a:srgbClr val="FFFFFF"/>
                    </a:solidFill>
                  </a:tcPr>
                </a:tc>
              </a:tr>
              <a:tr h="692334">
                <a:tc>
                  <a:txBody>
                    <a:bodyPr/>
                    <a:lstStyle/>
                    <a:p>
                      <a:pPr algn="l">
                        <a:defRPr sz="1000">
                          <a:solidFill>
                            <a:srgbClr val="242424"/>
                          </a:solidFill>
                        </a:defRPr>
                      </a:pPr>
                      <a:r>
                        <a:t>16</a:t>
                      </a:r>
                    </a:p>
                  </a:txBody>
                  <a:tcPr>
                    <a:solidFill>
                      <a:srgbClr val="FFFFFF"/>
                    </a:solidFill>
                  </a:tcPr>
                </a:tc>
                <a:tc>
                  <a:txBody>
                    <a:bodyPr/>
                    <a:lstStyle/>
                    <a:p>
                      <a:pPr algn="l">
                        <a:defRPr sz="1000">
                          <a:solidFill>
                            <a:srgbClr val="242424"/>
                          </a:solidFill>
                        </a:defRPr>
                      </a:pPr>
                      <a:r>
                        <a:t>SEC-029</a:t>
                      </a:r>
                    </a:p>
                  </a:txBody>
                  <a:tcPr>
                    <a:solidFill>
                      <a:srgbClr val="FFFFFF"/>
                    </a:solidFill>
                  </a:tcPr>
                </a:tc>
                <a:tc>
                  <a:txBody>
                    <a:bodyPr/>
                    <a:lstStyle/>
                    <a:p>
                      <a:pPr algn="l">
                        <a:defRPr sz="1000" b="1">
                          <a:solidFill>
                            <a:srgbClr val="FFFFFF"/>
                          </a:solidFill>
                        </a:defRPr>
                      </a:pPr>
                      <a:r>
                        <a:t>High</a:t>
                      </a:r>
                    </a:p>
                  </a:txBody>
                  <a:tcPr>
                    <a:solidFill>
                      <a:srgbClr val="E67300"/>
                    </a:solidFill>
                  </a:tcPr>
                </a:tc>
                <a:tc>
                  <a:txBody>
                    <a:bodyPr/>
                    <a:lstStyle/>
                    <a:p>
                      <a:pPr algn="l">
                        <a:defRPr sz="1000">
                          <a:solidFill>
                            <a:srgbClr val="242424"/>
                          </a:solidFill>
                        </a:defRPr>
                      </a:pPr>
                      <a:r>
                        <a:t>Storage accounts require secure transfer (SMB encryption)</a:t>
                      </a:r>
                    </a:p>
                  </a:txBody>
                  <a:tcPr>
                    <a:solidFill>
                      <a:srgbClr val="FFFFFF"/>
                    </a:solidFill>
                  </a:tcPr>
                </a:tc>
                <a:tc>
                  <a:txBody>
                    <a:bodyPr/>
                    <a:lstStyle/>
                    <a:p>
                      <a:pPr algn="l">
                        <a:defRPr sz="1000">
                          <a:solidFill>
                            <a:srgbClr val="242424"/>
                          </a:solidFill>
                        </a:defRPr>
                      </a:pPr>
                      <a:r>
                        <a:t>Require secure transfer and enable infrastructure encryption on storage accounts.</a:t>
                      </a:r>
                    </a:p>
                  </a:txBody>
                  <a:tcPr>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972800" cy="731520"/>
          </a:xfrm>
          <a:prstGeom prst="rect">
            <a:avLst/>
          </a:prstGeom>
          <a:noFill/>
        </p:spPr>
        <p:txBody>
          <a:bodyPr wrap="none">
            <a:spAutoFit/>
          </a:bodyPr>
          <a:lstStyle/>
          <a:p>
            <a:pPr algn="l">
              <a:defRPr sz="2800" b="1">
                <a:solidFill>
                  <a:srgbClr val="242424"/>
                </a:solidFill>
              </a:defRPr>
            </a:pPr>
            <a:r>
              <a:t>Medium Impact Findings (1/3)</a:t>
            </a:r>
          </a:p>
        </p:txBody>
      </p:sp>
      <p:sp>
        <p:nvSpPr>
          <p:cNvPr id="3" name="TextBox 2"/>
          <p:cNvSpPr txBox="1"/>
          <p:nvPr/>
        </p:nvSpPr>
        <p:spPr>
          <a:xfrm>
            <a:off x="8686800" y="6400800"/>
            <a:ext cx="2926080" cy="228600"/>
          </a:xfrm>
          <a:prstGeom prst="rect">
            <a:avLst/>
          </a:prstGeom>
          <a:noFill/>
        </p:spPr>
        <p:txBody>
          <a:bodyPr wrap="none">
            <a:spAutoFit/>
          </a:bodyPr>
          <a:lstStyle/>
          <a:p>
            <a:pPr algn="r">
              <a:defRPr sz="800">
                <a:solidFill>
                  <a:srgbClr val="999999"/>
                </a:solidFill>
                <a:latin typeface="Segoe UI"/>
              </a:defRPr>
            </a:pPr>
            <a:r>
              <a:t>AUTOMATICALLY GENERATED — Please Review</a:t>
            </a:r>
          </a:p>
        </p:txBody>
      </p:sp>
      <p:graphicFrame>
        <p:nvGraphicFramePr>
          <p:cNvPr id="4" name="Table 3"/>
          <p:cNvGraphicFramePr>
            <a:graphicFrameLocks noGrp="1"/>
          </p:cNvGraphicFramePr>
          <p:nvPr/>
        </p:nvGraphicFramePr>
        <p:xfrm>
          <a:off x="365760" y="1280160"/>
          <a:ext cx="11338560" cy="4846320"/>
        </p:xfrm>
        <a:graphic>
          <a:graphicData uri="http://schemas.openxmlformats.org/drawingml/2006/table">
            <a:tbl>
              <a:tblPr firstRow="1" bandRow="1">
                <a:tableStyleId>{5C22544A-7EE6-4342-B048-85BDC9FD1C3A}</a:tableStyleId>
              </a:tblPr>
              <a:tblGrid>
                <a:gridCol w="548640"/>
                <a:gridCol w="1188720"/>
                <a:gridCol w="1097280"/>
                <a:gridCol w="3017520"/>
                <a:gridCol w="5486400"/>
              </a:tblGrid>
              <a:tr h="440574">
                <a:tc>
                  <a:txBody>
                    <a:bodyPr/>
                    <a:lstStyle/>
                    <a:p>
                      <a:pPr algn="l">
                        <a:defRPr sz="1200" b="1">
                          <a:solidFill>
                            <a:srgbClr val="FFFFFF"/>
                          </a:solidFill>
                        </a:defRPr>
                      </a:pPr>
                      <a:r>
                        <a:t>#</a:t>
                      </a:r>
                    </a:p>
                  </a:txBody>
                  <a:tcPr>
                    <a:solidFill>
                      <a:srgbClr val="0078D4"/>
                    </a:solidFill>
                  </a:tcPr>
                </a:tc>
                <a:tc>
                  <a:txBody>
                    <a:bodyPr/>
                    <a:lstStyle/>
                    <a:p>
                      <a:pPr algn="l">
                        <a:defRPr sz="1200" b="1">
                          <a:solidFill>
                            <a:srgbClr val="FFFFFF"/>
                          </a:solidFill>
                        </a:defRPr>
                      </a:pPr>
                      <a:r>
                        <a:t>Rule ID</a:t>
                      </a:r>
                    </a:p>
                  </a:txBody>
                  <a:tcPr>
                    <a:solidFill>
                      <a:srgbClr val="0078D4"/>
                    </a:solidFill>
                  </a:tcPr>
                </a:tc>
                <a:tc>
                  <a:txBody>
                    <a:bodyPr/>
                    <a:lstStyle/>
                    <a:p>
                      <a:pPr algn="l">
                        <a:defRPr sz="1200" b="1">
                          <a:solidFill>
                            <a:srgbClr val="FFFFFF"/>
                          </a:solidFill>
                        </a:defRPr>
                      </a:pPr>
                      <a:r>
                        <a:t>Severity</a:t>
                      </a:r>
                    </a:p>
                  </a:txBody>
                  <a:tcPr>
                    <a:solidFill>
                      <a:srgbClr val="0078D4"/>
                    </a:solidFill>
                  </a:tcPr>
                </a:tc>
                <a:tc>
                  <a:txBody>
                    <a:bodyPr/>
                    <a:lstStyle/>
                    <a:p>
                      <a:pPr algn="l">
                        <a:defRPr sz="1200" b="1">
                          <a:solidFill>
                            <a:srgbClr val="FFFFFF"/>
                          </a:solidFill>
                        </a:defRPr>
                      </a:pPr>
                      <a:r>
                        <a:t>Title</a:t>
                      </a:r>
                    </a:p>
                  </a:txBody>
                  <a:tcPr>
                    <a:solidFill>
                      <a:srgbClr val="0078D4"/>
                    </a:solidFill>
                  </a:tcPr>
                </a:tc>
                <a:tc>
                  <a:txBody>
                    <a:bodyPr/>
                    <a:lstStyle/>
                    <a:p>
                      <a:pPr algn="l">
                        <a:defRPr sz="1200" b="1">
                          <a:solidFill>
                            <a:srgbClr val="FFFFFF"/>
                          </a:solidFill>
                        </a:defRPr>
                      </a:pPr>
                      <a:r>
                        <a:t>Recommendation</a:t>
                      </a:r>
                    </a:p>
                  </a:txBody>
                  <a:tcPr>
                    <a:solidFill>
                      <a:srgbClr val="0078D4"/>
                    </a:solidFill>
                  </a:tcPr>
                </a:tc>
              </a:tr>
              <a:tr h="440574">
                <a:tc>
                  <a:txBody>
                    <a:bodyPr/>
                    <a:lstStyle/>
                    <a:p>
                      <a:pPr algn="l">
                        <a:defRPr sz="1000">
                          <a:solidFill>
                            <a:srgbClr val="242424"/>
                          </a:solidFill>
                        </a:defRPr>
                      </a:pPr>
                      <a:r>
                        <a:t>1</a:t>
                      </a:r>
                    </a:p>
                  </a:txBody>
                  <a:tcPr>
                    <a:solidFill>
                      <a:srgbClr val="FFFFFF"/>
                    </a:solidFill>
                  </a:tcPr>
                </a:tc>
                <a:tc>
                  <a:txBody>
                    <a:bodyPr/>
                    <a:lstStyle/>
                    <a:p>
                      <a:pPr algn="l">
                        <a:defRPr sz="1000">
                          <a:solidFill>
                            <a:srgbClr val="242424"/>
                          </a:solidFill>
                        </a:defRPr>
                      </a:pPr>
                      <a:r>
                        <a:t>APRL-OPE-1E28BBC1</a:t>
                      </a:r>
                    </a:p>
                  </a:txBody>
                  <a:tcPr>
                    <a:solidFill>
                      <a:srgbClr val="FFFFFF"/>
                    </a:solidFill>
                  </a:tcPr>
                </a:tc>
                <a:tc>
                  <a:txBody>
                    <a:bodyPr/>
                    <a:lstStyle/>
                    <a:p>
                      <a:pPr algn="l">
                        <a:defRPr sz="1000" b="1">
                          <a:solidFill>
                            <a:srgbClr val="FFFFFF"/>
                          </a:solidFill>
                        </a:defRPr>
                      </a:pPr>
                      <a:r>
                        <a:t>Medium</a:t>
                      </a:r>
                    </a:p>
                  </a:txBody>
                  <a:tcPr>
                    <a:solidFill>
                      <a:srgbClr val="CCA300"/>
                    </a:solidFill>
                  </a:tcPr>
                </a:tc>
                <a:tc>
                  <a:txBody>
                    <a:bodyPr/>
                    <a:lstStyle/>
                    <a:p>
                      <a:pPr algn="l">
                        <a:defRPr sz="1000">
                          <a:solidFill>
                            <a:srgbClr val="242424"/>
                          </a:solidFill>
                        </a:defRPr>
                      </a:pPr>
                      <a:r>
                        <a:t>Configure Network Watcher Connection monitor (networkWatchers)</a:t>
                      </a:r>
                    </a:p>
                  </a:txBody>
                  <a:tcPr>
                    <a:solidFill>
                      <a:srgbClr val="FFFFFF"/>
                    </a:solidFill>
                  </a:tcPr>
                </a:tc>
                <a:tc>
                  <a:txBody>
                    <a:bodyPr/>
                    <a:lstStyle/>
                    <a:p>
                      <a:pPr algn="l">
                        <a:defRPr sz="1000">
                          <a:solidFill>
                            <a:srgbClr val="242424"/>
                          </a:solidFill>
                        </a:defRPr>
                      </a:pPr>
                      <a:r>
                        <a:t>Improves monitoring for Azure and Hybrid connectivity</a:t>
                      </a:r>
                    </a:p>
                  </a:txBody>
                  <a:tcPr>
                    <a:solidFill>
                      <a:srgbClr val="FFFFFF"/>
                    </a:solidFill>
                  </a:tcPr>
                </a:tc>
              </a:tr>
              <a:tr h="440574">
                <a:tc>
                  <a:txBody>
                    <a:bodyPr/>
                    <a:lstStyle/>
                    <a:p>
                      <a:pPr algn="l">
                        <a:defRPr sz="1000">
                          <a:solidFill>
                            <a:srgbClr val="242424"/>
                          </a:solidFill>
                        </a:defRPr>
                      </a:pPr>
                      <a:r>
                        <a:t>2</a:t>
                      </a:r>
                    </a:p>
                  </a:txBody>
                  <a:tcPr>
                    <a:solidFill>
                      <a:srgbClr val="FFFFFF"/>
                    </a:solidFill>
                  </a:tcPr>
                </a:tc>
                <a:tc>
                  <a:txBody>
                    <a:bodyPr/>
                    <a:lstStyle/>
                    <a:p>
                      <a:pPr algn="l">
                        <a:defRPr sz="1000">
                          <a:solidFill>
                            <a:srgbClr val="242424"/>
                          </a:solidFill>
                        </a:defRPr>
                      </a:pPr>
                      <a:r>
                        <a:t>APRL-REL-3538AA48</a:t>
                      </a:r>
                    </a:p>
                  </a:txBody>
                  <a:tcPr>
                    <a:solidFill>
                      <a:srgbClr val="FFFFFF"/>
                    </a:solidFill>
                  </a:tcPr>
                </a:tc>
                <a:tc>
                  <a:txBody>
                    <a:bodyPr/>
                    <a:lstStyle/>
                    <a:p>
                      <a:pPr algn="l">
                        <a:defRPr sz="1000" b="1">
                          <a:solidFill>
                            <a:srgbClr val="FFFFFF"/>
                          </a:solidFill>
                        </a:defRPr>
                      </a:pPr>
                      <a:r>
                        <a:t>Medium</a:t>
                      </a:r>
                    </a:p>
                  </a:txBody>
                  <a:tcPr>
                    <a:solidFill>
                      <a:srgbClr val="CCA300"/>
                    </a:solidFill>
                  </a:tcPr>
                </a:tc>
                <a:tc>
                  <a:txBody>
                    <a:bodyPr/>
                    <a:lstStyle/>
                    <a:p>
                      <a:pPr algn="l">
                        <a:defRPr sz="1000">
                          <a:solidFill>
                            <a:srgbClr val="242424"/>
                          </a:solidFill>
                        </a:defRPr>
                      </a:pPr>
                      <a:r>
                        <a:t>Ensure Time-To-Live (TTL) is set appropriately to ensure RTOs can be met (privateDnsZones)</a:t>
                      </a:r>
                    </a:p>
                  </a:txBody>
                  <a:tcPr>
                    <a:solidFill>
                      <a:srgbClr val="FFFFFF"/>
                    </a:solidFill>
                  </a:tcPr>
                </a:tc>
                <a:tc>
                  <a:txBody>
                    <a:bodyPr/>
                    <a:lstStyle/>
                    <a:p>
                      <a:pPr algn="l">
                        <a:defRPr sz="1000">
                          <a:solidFill>
                            <a:srgbClr val="242424"/>
                          </a:solidFill>
                        </a:defRPr>
                      </a:pPr>
                      <a:r>
                        <a:t>Azure Private DNS allows the Time-To-Live (TTL) for record sets in the zone to be set to a value between 1 and 2147483647 seconds. You should ensure that the TTL for the DNS record sets in your DNS Zones are set appropriately to meet your RTO targets.</a:t>
                      </a:r>
                    </a:p>
                  </a:txBody>
                  <a:tcPr>
                    <a:solidFill>
                      <a:srgbClr val="FFFFFF"/>
                    </a:solidFill>
                  </a:tcPr>
                </a:tc>
              </a:tr>
              <a:tr h="440574">
                <a:tc>
                  <a:txBody>
                    <a:bodyPr/>
                    <a:lstStyle/>
                    <a:p>
                      <a:pPr algn="l">
                        <a:defRPr sz="1000">
                          <a:solidFill>
                            <a:srgbClr val="242424"/>
                          </a:solidFill>
                        </a:defRPr>
                      </a:pPr>
                      <a:r>
                        <a:t>3</a:t>
                      </a:r>
                    </a:p>
                  </a:txBody>
                  <a:tcPr>
                    <a:solidFill>
                      <a:srgbClr val="FFFFFF"/>
                    </a:solidFill>
                  </a:tcPr>
                </a:tc>
                <a:tc>
                  <a:txBody>
                    <a:bodyPr/>
                    <a:lstStyle/>
                    <a:p>
                      <a:pPr algn="l">
                        <a:defRPr sz="1000">
                          <a:solidFill>
                            <a:srgbClr val="242424"/>
                          </a:solidFill>
                        </a:defRPr>
                      </a:pPr>
                      <a:r>
                        <a:t>APRL-OPE-06B77BE9</a:t>
                      </a:r>
                    </a:p>
                  </a:txBody>
                  <a:tcPr>
                    <a:solidFill>
                      <a:srgbClr val="FFFFFF"/>
                    </a:solidFill>
                  </a:tcPr>
                </a:tc>
                <a:tc>
                  <a:txBody>
                    <a:bodyPr/>
                    <a:lstStyle/>
                    <a:p>
                      <a:pPr algn="l">
                        <a:defRPr sz="1000" b="1">
                          <a:solidFill>
                            <a:srgbClr val="FFFFFF"/>
                          </a:solidFill>
                        </a:defRPr>
                      </a:pPr>
                      <a:r>
                        <a:t>Medium</a:t>
                      </a:r>
                    </a:p>
                  </a:txBody>
                  <a:tcPr>
                    <a:solidFill>
                      <a:srgbClr val="CCA300"/>
                    </a:solidFill>
                  </a:tcPr>
                </a:tc>
                <a:tc>
                  <a:txBody>
                    <a:bodyPr/>
                    <a:lstStyle/>
                    <a:p>
                      <a:pPr algn="l">
                        <a:defRPr sz="1000">
                          <a:solidFill>
                            <a:srgbClr val="242424"/>
                          </a:solidFill>
                        </a:defRPr>
                      </a:pPr>
                      <a:r>
                        <a:t>Enable Virtual Network Flow Logs (virtualNetworks)</a:t>
                      </a:r>
                    </a:p>
                  </a:txBody>
                  <a:tcPr>
                    <a:solidFill>
                      <a:srgbClr val="FFFFFF"/>
                    </a:solidFill>
                  </a:tcPr>
                </a:tc>
                <a:tc>
                  <a:txBody>
                    <a:bodyPr/>
                    <a:lstStyle/>
                    <a:p>
                      <a:pPr algn="l">
                        <a:defRPr sz="1000">
                          <a:solidFill>
                            <a:srgbClr val="242424"/>
                          </a:solidFill>
                        </a:defRPr>
                      </a:pPr>
                      <a:r>
                        <a:t>Improves monitoring and security for Azure and Hybrid connectivity</a:t>
                      </a:r>
                    </a:p>
                  </a:txBody>
                  <a:tcPr>
                    <a:solidFill>
                      <a:srgbClr val="FFFFFF"/>
                    </a:solidFill>
                  </a:tcPr>
                </a:tc>
              </a:tr>
              <a:tr h="440574">
                <a:tc>
                  <a:txBody>
                    <a:bodyPr/>
                    <a:lstStyle/>
                    <a:p>
                      <a:pPr algn="l">
                        <a:defRPr sz="1000">
                          <a:solidFill>
                            <a:srgbClr val="242424"/>
                          </a:solidFill>
                        </a:defRPr>
                      </a:pPr>
                      <a:r>
                        <a:t>4</a:t>
                      </a:r>
                    </a:p>
                  </a:txBody>
                  <a:tcPr>
                    <a:solidFill>
                      <a:srgbClr val="FFFFFF"/>
                    </a:solidFill>
                  </a:tcPr>
                </a:tc>
                <a:tc>
                  <a:txBody>
                    <a:bodyPr/>
                    <a:lstStyle/>
                    <a:p>
                      <a:pPr algn="l">
                        <a:defRPr sz="1000">
                          <a:solidFill>
                            <a:srgbClr val="242424"/>
                          </a:solidFill>
                        </a:defRPr>
                      </a:pPr>
                      <a:r>
                        <a:t>APRL-REL-1ADBA190</a:t>
                      </a:r>
                    </a:p>
                  </a:txBody>
                  <a:tcPr>
                    <a:solidFill>
                      <a:srgbClr val="FFFFFF"/>
                    </a:solidFill>
                  </a:tcPr>
                </a:tc>
                <a:tc>
                  <a:txBody>
                    <a:bodyPr/>
                    <a:lstStyle/>
                    <a:p>
                      <a:pPr algn="l">
                        <a:defRPr sz="1000" b="1">
                          <a:solidFill>
                            <a:srgbClr val="FFFFFF"/>
                          </a:solidFill>
                        </a:defRPr>
                      </a:pPr>
                      <a:r>
                        <a:t>Medium</a:t>
                      </a:r>
                    </a:p>
                  </a:txBody>
                  <a:tcPr>
                    <a:solidFill>
                      <a:srgbClr val="CCA300"/>
                    </a:solidFill>
                  </a:tcPr>
                </a:tc>
                <a:tc>
                  <a:txBody>
                    <a:bodyPr/>
                    <a:lstStyle/>
                    <a:p>
                      <a:pPr algn="l">
                        <a:defRPr sz="1000">
                          <a:solidFill>
                            <a:srgbClr val="242424"/>
                          </a:solidFill>
                        </a:defRPr>
                      </a:pPr>
                      <a:r>
                        <a:t>Use NAT gateway for outbound connectivity to avoid SNAT Exhaustion (publicIPAddresses)</a:t>
                      </a:r>
                    </a:p>
                  </a:txBody>
                  <a:tcPr>
                    <a:solidFill>
                      <a:srgbClr val="FFFFFF"/>
                    </a:solidFill>
                  </a:tcPr>
                </a:tc>
                <a:tc>
                  <a:txBody>
                    <a:bodyPr/>
                    <a:lstStyle/>
                    <a:p>
                      <a:pPr algn="l">
                        <a:defRPr sz="1000">
                          <a:solidFill>
                            <a:srgbClr val="242424"/>
                          </a:solidFill>
                        </a:defRPr>
                      </a:pPr>
                      <a:r>
                        <a:t>Prevent connectivity failures due to SNAT port exhaustion by employing NAT gateway for outbound traffic from virtual networks, ensuring dynamic scaling and secure internet connections.</a:t>
                      </a:r>
                    </a:p>
                  </a:txBody>
                  <a:tcPr>
                    <a:solidFill>
                      <a:srgbClr val="FFFFFF"/>
                    </a:solidFill>
                  </a:tcPr>
                </a:tc>
              </a:tr>
              <a:tr h="440574">
                <a:tc>
                  <a:txBody>
                    <a:bodyPr/>
                    <a:lstStyle/>
                    <a:p>
                      <a:pPr algn="l">
                        <a:defRPr sz="1000">
                          <a:solidFill>
                            <a:srgbClr val="242424"/>
                          </a:solidFill>
                        </a:defRPr>
                      </a:pPr>
                      <a:r>
                        <a:t>5</a:t>
                      </a:r>
                    </a:p>
                  </a:txBody>
                  <a:tcPr>
                    <a:solidFill>
                      <a:srgbClr val="FFFFFF"/>
                    </a:solidFill>
                  </a:tcPr>
                </a:tc>
                <a:tc>
                  <a:txBody>
                    <a:bodyPr/>
                    <a:lstStyle/>
                    <a:p>
                      <a:pPr algn="l">
                        <a:defRPr sz="1000">
                          <a:solidFill>
                            <a:srgbClr val="242424"/>
                          </a:solidFill>
                        </a:defRPr>
                      </a:pPr>
                      <a:r>
                        <a:t>APRL-REL-CFE22A65</a:t>
                      </a:r>
                    </a:p>
                  </a:txBody>
                  <a:tcPr>
                    <a:solidFill>
                      <a:srgbClr val="FFFFFF"/>
                    </a:solidFill>
                  </a:tcPr>
                </a:tc>
                <a:tc>
                  <a:txBody>
                    <a:bodyPr/>
                    <a:lstStyle/>
                    <a:p>
                      <a:pPr algn="l">
                        <a:defRPr sz="1000" b="1">
                          <a:solidFill>
                            <a:srgbClr val="FFFFFF"/>
                          </a:solidFill>
                        </a:defRPr>
                      </a:pPr>
                      <a:r>
                        <a:t>Medium</a:t>
                      </a:r>
                    </a:p>
                  </a:txBody>
                  <a:tcPr>
                    <a:solidFill>
                      <a:srgbClr val="CCA300"/>
                    </a:solidFill>
                  </a:tcPr>
                </a:tc>
                <a:tc>
                  <a:txBody>
                    <a:bodyPr/>
                    <a:lstStyle/>
                    <a:p>
                      <a:pPr algn="l">
                        <a:defRPr sz="1000">
                          <a:solidFill>
                            <a:srgbClr val="242424"/>
                          </a:solidFill>
                        </a:defRPr>
                      </a:pPr>
                      <a:r>
                        <a:t>Replicate VMs using Azure Site Recovery (virtualMachines)</a:t>
                      </a:r>
                    </a:p>
                  </a:txBody>
                  <a:tcPr>
                    <a:solidFill>
                      <a:srgbClr val="FFFFFF"/>
                    </a:solidFill>
                  </a:tcPr>
                </a:tc>
                <a:tc>
                  <a:txBody>
                    <a:bodyPr/>
                    <a:lstStyle/>
                    <a:p>
                      <a:pPr algn="l">
                        <a:defRPr sz="1000">
                          <a:solidFill>
                            <a:srgbClr val="242424"/>
                          </a:solidFill>
                        </a:defRPr>
                      </a:pPr>
                      <a:r>
                        <a:t>Replicating Azure VMs via Site Recovery entails continuous, asynchronous disk replication to a target region. Recovery points are generated every few minutes, ensuring a Recovery Point Objective (RPO) in minutes.</a:t>
                      </a:r>
                    </a:p>
                  </a:txBody>
                  <a:tcPr>
                    <a:solidFill>
                      <a:srgbClr val="FFFFFF"/>
                    </a:solidFill>
                  </a:tcPr>
                </a:tc>
              </a:tr>
              <a:tr h="440574">
                <a:tc>
                  <a:txBody>
                    <a:bodyPr/>
                    <a:lstStyle/>
                    <a:p>
                      <a:pPr algn="l">
                        <a:defRPr sz="1000">
                          <a:solidFill>
                            <a:srgbClr val="242424"/>
                          </a:solidFill>
                        </a:defRPr>
                      </a:pPr>
                      <a:r>
                        <a:t>6</a:t>
                      </a:r>
                    </a:p>
                  </a:txBody>
                  <a:tcPr>
                    <a:solidFill>
                      <a:srgbClr val="FFFFFF"/>
                    </a:solidFill>
                  </a:tcPr>
                </a:tc>
                <a:tc>
                  <a:txBody>
                    <a:bodyPr/>
                    <a:lstStyle/>
                    <a:p>
                      <a:pPr algn="l">
                        <a:defRPr sz="1000">
                          <a:solidFill>
                            <a:srgbClr val="242424"/>
                          </a:solidFill>
                        </a:defRPr>
                      </a:pPr>
                      <a:r>
                        <a:t>APRL-REL-1981F704</a:t>
                      </a:r>
                    </a:p>
                  </a:txBody>
                  <a:tcPr>
                    <a:solidFill>
                      <a:srgbClr val="FFFFFF"/>
                    </a:solidFill>
                  </a:tcPr>
                </a:tc>
                <a:tc>
                  <a:txBody>
                    <a:bodyPr/>
                    <a:lstStyle/>
                    <a:p>
                      <a:pPr algn="l">
                        <a:defRPr sz="1000" b="1">
                          <a:solidFill>
                            <a:srgbClr val="FFFFFF"/>
                          </a:solidFill>
                        </a:defRPr>
                      </a:pPr>
                      <a:r>
                        <a:t>Medium</a:t>
                      </a:r>
                    </a:p>
                  </a:txBody>
                  <a:tcPr>
                    <a:solidFill>
                      <a:srgbClr val="CCA300"/>
                    </a:solidFill>
                  </a:tcPr>
                </a:tc>
                <a:tc>
                  <a:txBody>
                    <a:bodyPr/>
                    <a:lstStyle/>
                    <a:p>
                      <a:pPr algn="l">
                        <a:defRPr sz="1000">
                          <a:solidFill>
                            <a:srgbClr val="242424"/>
                          </a:solidFill>
                        </a:defRPr>
                      </a:pPr>
                      <a:r>
                        <a:t>Backup VMs with Azure Backup service (virtualMachines)</a:t>
                      </a:r>
                    </a:p>
                  </a:txBody>
                  <a:tcPr>
                    <a:solidFill>
                      <a:srgbClr val="FFFFFF"/>
                    </a:solidFill>
                  </a:tcPr>
                </a:tc>
                <a:tc>
                  <a:txBody>
                    <a:bodyPr/>
                    <a:lstStyle/>
                    <a:p>
                      <a:pPr algn="l">
                        <a:defRPr sz="1000">
                          <a:solidFill>
                            <a:srgbClr val="242424"/>
                          </a:solidFill>
                        </a:defRPr>
                      </a:pPr>
                      <a:r>
                        <a:t>Enable backups for your virtual machines with Azure Backup to secure and quickly recover your data. This service offers simple, secure, and cost-effective solutions for backing up and recovering data from the Microsoft Azure cloud.</a:t>
                      </a:r>
                    </a:p>
                  </a:txBody>
                  <a:tcPr>
                    <a:solidFill>
                      <a:srgbClr val="FFFFFF"/>
                    </a:solidFill>
                  </a:tcPr>
                </a:tc>
              </a:tr>
              <a:tr h="440574">
                <a:tc>
                  <a:txBody>
                    <a:bodyPr/>
                    <a:lstStyle/>
                    <a:p>
                      <a:pPr algn="l">
                        <a:defRPr sz="1000">
                          <a:solidFill>
                            <a:srgbClr val="242424"/>
                          </a:solidFill>
                        </a:defRPr>
                      </a:pPr>
                      <a:r>
                        <a:t>7</a:t>
                      </a:r>
                    </a:p>
                  </a:txBody>
                  <a:tcPr>
                    <a:solidFill>
                      <a:srgbClr val="FFFFFF"/>
                    </a:solidFill>
                  </a:tcPr>
                </a:tc>
                <a:tc>
                  <a:txBody>
                    <a:bodyPr/>
                    <a:lstStyle/>
                    <a:p>
                      <a:pPr algn="l">
                        <a:defRPr sz="1000">
                          <a:solidFill>
                            <a:srgbClr val="242424"/>
                          </a:solidFill>
                        </a:defRPr>
                      </a:pPr>
                      <a:r>
                        <a:t>COS-004</a:t>
                      </a:r>
                    </a:p>
                  </a:txBody>
                  <a:tcPr>
                    <a:solidFill>
                      <a:srgbClr val="FFFFFF"/>
                    </a:solidFill>
                  </a:tcPr>
                </a:tc>
                <a:tc>
                  <a:txBody>
                    <a:bodyPr/>
                    <a:lstStyle/>
                    <a:p>
                      <a:pPr algn="l">
                        <a:defRPr sz="1000" b="1">
                          <a:solidFill>
                            <a:srgbClr val="FFFFFF"/>
                          </a:solidFill>
                        </a:defRPr>
                      </a:pPr>
                      <a:r>
                        <a:t>Medium</a:t>
                      </a:r>
                    </a:p>
                  </a:txBody>
                  <a:tcPr>
                    <a:solidFill>
                      <a:srgbClr val="CCA300"/>
                    </a:solidFill>
                  </a:tcPr>
                </a:tc>
                <a:tc>
                  <a:txBody>
                    <a:bodyPr/>
                    <a:lstStyle/>
                    <a:p>
                      <a:pPr algn="l">
                        <a:defRPr sz="1000">
                          <a:solidFill>
                            <a:srgbClr val="242424"/>
                          </a:solidFill>
                        </a:defRPr>
                      </a:pPr>
                      <a:r>
                        <a:t>Orphan network interfaces (unattached)</a:t>
                      </a:r>
                    </a:p>
                  </a:txBody>
                  <a:tcPr>
                    <a:solidFill>
                      <a:srgbClr val="FFFFFF"/>
                    </a:solidFill>
                  </a:tcPr>
                </a:tc>
                <a:tc>
                  <a:txBody>
                    <a:bodyPr/>
                    <a:lstStyle/>
                    <a:p>
                      <a:pPr algn="l">
                        <a:defRPr sz="1000">
                          <a:solidFill>
                            <a:srgbClr val="242424"/>
                          </a:solidFill>
                        </a:defRPr>
                      </a:pPr>
                      <a:r>
                        <a:t>Delete orphan NICs left behind after VM deletion.</a:t>
                      </a:r>
                    </a:p>
                  </a:txBody>
                  <a:tcPr>
                    <a:solidFill>
                      <a:srgbClr val="FFFFFF"/>
                    </a:solidFill>
                  </a:tcPr>
                </a:tc>
              </a:tr>
              <a:tr h="440574">
                <a:tc>
                  <a:txBody>
                    <a:bodyPr/>
                    <a:lstStyle/>
                    <a:p>
                      <a:pPr algn="l">
                        <a:defRPr sz="1000">
                          <a:solidFill>
                            <a:srgbClr val="242424"/>
                          </a:solidFill>
                        </a:defRPr>
                      </a:pPr>
                      <a:r>
                        <a:t>8</a:t>
                      </a:r>
                    </a:p>
                  </a:txBody>
                  <a:tcPr>
                    <a:solidFill>
                      <a:srgbClr val="FFFFFF"/>
                    </a:solidFill>
                  </a:tcPr>
                </a:tc>
                <a:tc>
                  <a:txBody>
                    <a:bodyPr/>
                    <a:lstStyle/>
                    <a:p>
                      <a:pPr algn="l">
                        <a:defRPr sz="1000">
                          <a:solidFill>
                            <a:srgbClr val="242424"/>
                          </a:solidFill>
                        </a:defRPr>
                      </a:pPr>
                      <a:r>
                        <a:t>COS-005</a:t>
                      </a:r>
                    </a:p>
                  </a:txBody>
                  <a:tcPr>
                    <a:solidFill>
                      <a:srgbClr val="FFFFFF"/>
                    </a:solidFill>
                  </a:tcPr>
                </a:tc>
                <a:tc>
                  <a:txBody>
                    <a:bodyPr/>
                    <a:lstStyle/>
                    <a:p>
                      <a:pPr algn="l">
                        <a:defRPr sz="1000" b="1">
                          <a:solidFill>
                            <a:srgbClr val="FFFFFF"/>
                          </a:solidFill>
                        </a:defRPr>
                      </a:pPr>
                      <a:r>
                        <a:t>Medium</a:t>
                      </a:r>
                    </a:p>
                  </a:txBody>
                  <a:tcPr>
                    <a:solidFill>
                      <a:srgbClr val="CCA300"/>
                    </a:solidFill>
                  </a:tcPr>
                </a:tc>
                <a:tc>
                  <a:txBody>
                    <a:bodyPr/>
                    <a:lstStyle/>
                    <a:p>
                      <a:pPr algn="l">
                        <a:defRPr sz="1000">
                          <a:solidFill>
                            <a:srgbClr val="242424"/>
                          </a:solidFill>
                        </a:defRPr>
                      </a:pPr>
                      <a:r>
                        <a:t>Empty resource groups</a:t>
                      </a:r>
                    </a:p>
                  </a:txBody>
                  <a:tcPr>
                    <a:solidFill>
                      <a:srgbClr val="FFFFFF"/>
                    </a:solidFill>
                  </a:tcPr>
                </a:tc>
                <a:tc>
                  <a:txBody>
                    <a:bodyPr/>
                    <a:lstStyle/>
                    <a:p>
                      <a:pPr algn="l">
                        <a:defRPr sz="1000">
                          <a:solidFill>
                            <a:srgbClr val="242424"/>
                          </a:solidFill>
                        </a:defRPr>
                      </a:pPr>
                      <a:r>
                        <a:t>Review and delete empty resource groups to reduce clutter and simplify governance.</a:t>
                      </a:r>
                    </a:p>
                  </a:txBody>
                  <a:tcPr>
                    <a:solidFill>
                      <a:srgbClr val="FFFFFF"/>
                    </a:solidFill>
                  </a:tcPr>
                </a:tc>
              </a:tr>
              <a:tr h="440574">
                <a:tc>
                  <a:txBody>
                    <a:bodyPr/>
                    <a:lstStyle/>
                    <a:p>
                      <a:pPr algn="l">
                        <a:defRPr sz="1000">
                          <a:solidFill>
                            <a:srgbClr val="242424"/>
                          </a:solidFill>
                        </a:defRPr>
                      </a:pPr>
                      <a:r>
                        <a:t>9</a:t>
                      </a:r>
                    </a:p>
                  </a:txBody>
                  <a:tcPr>
                    <a:solidFill>
                      <a:srgbClr val="FFFFFF"/>
                    </a:solidFill>
                  </a:tcPr>
                </a:tc>
                <a:tc>
                  <a:txBody>
                    <a:bodyPr/>
                    <a:lstStyle/>
                    <a:p>
                      <a:pPr algn="l">
                        <a:defRPr sz="1000">
                          <a:solidFill>
                            <a:srgbClr val="242424"/>
                          </a:solidFill>
                        </a:defRPr>
                      </a:pPr>
                      <a:r>
                        <a:t>COS-020</a:t>
                      </a:r>
                    </a:p>
                  </a:txBody>
                  <a:tcPr>
                    <a:solidFill>
                      <a:srgbClr val="FFFFFF"/>
                    </a:solidFill>
                  </a:tcPr>
                </a:tc>
                <a:tc>
                  <a:txBody>
                    <a:bodyPr/>
                    <a:lstStyle/>
                    <a:p>
                      <a:pPr algn="l">
                        <a:defRPr sz="1000" b="1">
                          <a:solidFill>
                            <a:srgbClr val="FFFFFF"/>
                          </a:solidFill>
                        </a:defRPr>
                      </a:pPr>
                      <a:r>
                        <a:t>Medium</a:t>
                      </a:r>
                    </a:p>
                  </a:txBody>
                  <a:tcPr>
                    <a:solidFill>
                      <a:srgbClr val="CCA300"/>
                    </a:solidFill>
                  </a:tcPr>
                </a:tc>
                <a:tc>
                  <a:txBody>
                    <a:bodyPr/>
                    <a:lstStyle/>
                    <a:p>
                      <a:pPr algn="l">
                        <a:defRPr sz="1000">
                          <a:solidFill>
                            <a:srgbClr val="242424"/>
                          </a:solidFill>
                        </a:defRPr>
                      </a:pPr>
                      <a:r>
                        <a:t>No Cost Management scheduled exports</a:t>
                      </a:r>
                    </a:p>
                  </a:txBody>
                  <a:tcPr>
                    <a:solidFill>
                      <a:srgbClr val="FFFFFF"/>
                    </a:solidFill>
                  </a:tcPr>
                </a:tc>
                <a:tc>
                  <a:txBody>
                    <a:bodyPr/>
                    <a:lstStyle/>
                    <a:p>
                      <a:pPr algn="l">
                        <a:defRPr sz="1000">
                          <a:solidFill>
                            <a:srgbClr val="242424"/>
                          </a:solidFill>
                        </a:defRPr>
                      </a:pPr>
                      <a:r>
                        <a:t>Configure scheduled Cost Management exports for cost data analysis and FinOps reporting.</a:t>
                      </a:r>
                    </a:p>
                  </a:txBody>
                  <a:tcPr>
                    <a:solidFill>
                      <a:srgbClr val="FFFFFF"/>
                    </a:solidFill>
                  </a:tcPr>
                </a:tc>
              </a:tr>
              <a:tr h="440580">
                <a:tc>
                  <a:txBody>
                    <a:bodyPr/>
                    <a:lstStyle/>
                    <a:p>
                      <a:pPr algn="l">
                        <a:defRPr sz="1000">
                          <a:solidFill>
                            <a:srgbClr val="242424"/>
                          </a:solidFill>
                        </a:defRPr>
                      </a:pPr>
                      <a:r>
                        <a:t>10</a:t>
                      </a:r>
                    </a:p>
                  </a:txBody>
                  <a:tcPr>
                    <a:solidFill>
                      <a:srgbClr val="FFFFFF"/>
                    </a:solidFill>
                  </a:tcPr>
                </a:tc>
                <a:tc>
                  <a:txBody>
                    <a:bodyPr/>
                    <a:lstStyle/>
                    <a:p>
                      <a:pPr algn="l">
                        <a:defRPr sz="1000">
                          <a:solidFill>
                            <a:srgbClr val="242424"/>
                          </a:solidFill>
                        </a:defRPr>
                      </a:pPr>
                      <a:r>
                        <a:t>COS-011</a:t>
                      </a:r>
                    </a:p>
                  </a:txBody>
                  <a:tcPr>
                    <a:solidFill>
                      <a:srgbClr val="FFFFFF"/>
                    </a:solidFill>
                  </a:tcPr>
                </a:tc>
                <a:tc>
                  <a:txBody>
                    <a:bodyPr/>
                    <a:lstStyle/>
                    <a:p>
                      <a:pPr algn="l">
                        <a:defRPr sz="1000" b="1">
                          <a:solidFill>
                            <a:srgbClr val="FFFFFF"/>
                          </a:solidFill>
                        </a:defRPr>
                      </a:pPr>
                      <a:r>
                        <a:t>Medium</a:t>
                      </a:r>
                    </a:p>
                  </a:txBody>
                  <a:tcPr>
                    <a:solidFill>
                      <a:srgbClr val="CCA300"/>
                    </a:solidFill>
                  </a:tcPr>
                </a:tc>
                <a:tc>
                  <a:txBody>
                    <a:bodyPr/>
                    <a:lstStyle/>
                    <a:p>
                      <a:pPr algn="l">
                        <a:defRPr sz="1000">
                          <a:solidFill>
                            <a:srgbClr val="242424"/>
                          </a:solidFill>
                        </a:defRPr>
                      </a:pPr>
                      <a:r>
                        <a:t>Potentially over-provisioned VMs (B-series recommended)</a:t>
                      </a:r>
                    </a:p>
                  </a:txBody>
                  <a:tcPr>
                    <a:solidFill>
                      <a:srgbClr val="FFFFFF"/>
                    </a:solidFill>
                  </a:tcPr>
                </a:tc>
                <a:tc>
                  <a:txBody>
                    <a:bodyPr/>
                    <a:lstStyle/>
                    <a:p>
                      <a:pPr algn="l">
                        <a:defRPr sz="1000">
                          <a:solidFill>
                            <a:srgbClr val="242424"/>
                          </a:solidFill>
                        </a:defRPr>
                      </a:pPr>
                      <a:r>
                        <a:t>Right-size over-provisioned VMs per Azure Advisor recommendations.</a:t>
                      </a:r>
                    </a:p>
                  </a:txBody>
                  <a:tcPr>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972800" cy="731520"/>
          </a:xfrm>
          <a:prstGeom prst="rect">
            <a:avLst/>
          </a:prstGeom>
          <a:noFill/>
        </p:spPr>
        <p:txBody>
          <a:bodyPr wrap="none">
            <a:spAutoFit/>
          </a:bodyPr>
          <a:lstStyle/>
          <a:p>
            <a:pPr algn="l">
              <a:defRPr sz="2800" b="1">
                <a:solidFill>
                  <a:srgbClr val="242424"/>
                </a:solidFill>
              </a:defRPr>
            </a:pPr>
            <a:r>
              <a:t>Medium Impact Findings (2/3)</a:t>
            </a:r>
          </a:p>
        </p:txBody>
      </p:sp>
      <p:sp>
        <p:nvSpPr>
          <p:cNvPr id="3" name="TextBox 2"/>
          <p:cNvSpPr txBox="1"/>
          <p:nvPr/>
        </p:nvSpPr>
        <p:spPr>
          <a:xfrm>
            <a:off x="8686800" y="6400800"/>
            <a:ext cx="2926080" cy="228600"/>
          </a:xfrm>
          <a:prstGeom prst="rect">
            <a:avLst/>
          </a:prstGeom>
          <a:noFill/>
        </p:spPr>
        <p:txBody>
          <a:bodyPr wrap="none">
            <a:spAutoFit/>
          </a:bodyPr>
          <a:lstStyle/>
          <a:p>
            <a:pPr algn="r">
              <a:defRPr sz="800">
                <a:solidFill>
                  <a:srgbClr val="999999"/>
                </a:solidFill>
                <a:latin typeface="Segoe UI"/>
              </a:defRPr>
            </a:pPr>
            <a:r>
              <a:t>AUTOMATICALLY GENERATED — Please Review</a:t>
            </a:r>
          </a:p>
        </p:txBody>
      </p:sp>
      <p:graphicFrame>
        <p:nvGraphicFramePr>
          <p:cNvPr id="4" name="Table 3"/>
          <p:cNvGraphicFramePr>
            <a:graphicFrameLocks noGrp="1"/>
          </p:cNvGraphicFramePr>
          <p:nvPr/>
        </p:nvGraphicFramePr>
        <p:xfrm>
          <a:off x="365760" y="1280160"/>
          <a:ext cx="11338560" cy="4846320"/>
        </p:xfrm>
        <a:graphic>
          <a:graphicData uri="http://schemas.openxmlformats.org/drawingml/2006/table">
            <a:tbl>
              <a:tblPr firstRow="1" bandRow="1">
                <a:tableStyleId>{5C22544A-7EE6-4342-B048-85BDC9FD1C3A}</a:tableStyleId>
              </a:tblPr>
              <a:tblGrid>
                <a:gridCol w="548640"/>
                <a:gridCol w="1188720"/>
                <a:gridCol w="1097280"/>
                <a:gridCol w="3017520"/>
                <a:gridCol w="5486400"/>
              </a:tblGrid>
              <a:tr h="440574">
                <a:tc>
                  <a:txBody>
                    <a:bodyPr/>
                    <a:lstStyle/>
                    <a:p>
                      <a:pPr algn="l">
                        <a:defRPr sz="1200" b="1">
                          <a:solidFill>
                            <a:srgbClr val="FFFFFF"/>
                          </a:solidFill>
                        </a:defRPr>
                      </a:pPr>
                      <a:r>
                        <a:t>#</a:t>
                      </a:r>
                    </a:p>
                  </a:txBody>
                  <a:tcPr>
                    <a:solidFill>
                      <a:srgbClr val="0078D4"/>
                    </a:solidFill>
                  </a:tcPr>
                </a:tc>
                <a:tc>
                  <a:txBody>
                    <a:bodyPr/>
                    <a:lstStyle/>
                    <a:p>
                      <a:pPr algn="l">
                        <a:defRPr sz="1200" b="1">
                          <a:solidFill>
                            <a:srgbClr val="FFFFFF"/>
                          </a:solidFill>
                        </a:defRPr>
                      </a:pPr>
                      <a:r>
                        <a:t>Rule ID</a:t>
                      </a:r>
                    </a:p>
                  </a:txBody>
                  <a:tcPr>
                    <a:solidFill>
                      <a:srgbClr val="0078D4"/>
                    </a:solidFill>
                  </a:tcPr>
                </a:tc>
                <a:tc>
                  <a:txBody>
                    <a:bodyPr/>
                    <a:lstStyle/>
                    <a:p>
                      <a:pPr algn="l">
                        <a:defRPr sz="1200" b="1">
                          <a:solidFill>
                            <a:srgbClr val="FFFFFF"/>
                          </a:solidFill>
                        </a:defRPr>
                      </a:pPr>
                      <a:r>
                        <a:t>Severity</a:t>
                      </a:r>
                    </a:p>
                  </a:txBody>
                  <a:tcPr>
                    <a:solidFill>
                      <a:srgbClr val="0078D4"/>
                    </a:solidFill>
                  </a:tcPr>
                </a:tc>
                <a:tc>
                  <a:txBody>
                    <a:bodyPr/>
                    <a:lstStyle/>
                    <a:p>
                      <a:pPr algn="l">
                        <a:defRPr sz="1200" b="1">
                          <a:solidFill>
                            <a:srgbClr val="FFFFFF"/>
                          </a:solidFill>
                        </a:defRPr>
                      </a:pPr>
                      <a:r>
                        <a:t>Title</a:t>
                      </a:r>
                    </a:p>
                  </a:txBody>
                  <a:tcPr>
                    <a:solidFill>
                      <a:srgbClr val="0078D4"/>
                    </a:solidFill>
                  </a:tcPr>
                </a:tc>
                <a:tc>
                  <a:txBody>
                    <a:bodyPr/>
                    <a:lstStyle/>
                    <a:p>
                      <a:pPr algn="l">
                        <a:defRPr sz="1200" b="1">
                          <a:solidFill>
                            <a:srgbClr val="FFFFFF"/>
                          </a:solidFill>
                        </a:defRPr>
                      </a:pPr>
                      <a:r>
                        <a:t>Recommendation</a:t>
                      </a:r>
                    </a:p>
                  </a:txBody>
                  <a:tcPr>
                    <a:solidFill>
                      <a:srgbClr val="0078D4"/>
                    </a:solidFill>
                  </a:tcPr>
                </a:tc>
              </a:tr>
              <a:tr h="440574">
                <a:tc>
                  <a:txBody>
                    <a:bodyPr/>
                    <a:lstStyle/>
                    <a:p>
                      <a:pPr algn="l">
                        <a:defRPr sz="1000">
                          <a:solidFill>
                            <a:srgbClr val="242424"/>
                          </a:solidFill>
                        </a:defRPr>
                      </a:pPr>
                      <a:r>
                        <a:t>11</a:t>
                      </a:r>
                    </a:p>
                  </a:txBody>
                  <a:tcPr>
                    <a:solidFill>
                      <a:srgbClr val="FFFFFF"/>
                    </a:solidFill>
                  </a:tcPr>
                </a:tc>
                <a:tc>
                  <a:txBody>
                    <a:bodyPr/>
                    <a:lstStyle/>
                    <a:p>
                      <a:pPr algn="l">
                        <a:defRPr sz="1000">
                          <a:solidFill>
                            <a:srgbClr val="242424"/>
                          </a:solidFill>
                        </a:defRPr>
                      </a:pPr>
                      <a:r>
                        <a:t>COS-026</a:t>
                      </a:r>
                    </a:p>
                  </a:txBody>
                  <a:tcPr>
                    <a:solidFill>
                      <a:srgbClr val="FFFFFF"/>
                    </a:solidFill>
                  </a:tcPr>
                </a:tc>
                <a:tc>
                  <a:txBody>
                    <a:bodyPr/>
                    <a:lstStyle/>
                    <a:p>
                      <a:pPr algn="l">
                        <a:defRPr sz="1000" b="1">
                          <a:solidFill>
                            <a:srgbClr val="FFFFFF"/>
                          </a:solidFill>
                        </a:defRPr>
                      </a:pPr>
                      <a:r>
                        <a:t>Medium</a:t>
                      </a:r>
                    </a:p>
                  </a:txBody>
                  <a:tcPr>
                    <a:solidFill>
                      <a:srgbClr val="CCA300"/>
                    </a:solidFill>
                  </a:tcPr>
                </a:tc>
                <a:tc>
                  <a:txBody>
                    <a:bodyPr/>
                    <a:lstStyle/>
                    <a:p>
                      <a:pPr algn="l">
                        <a:defRPr sz="1000">
                          <a:solidFill>
                            <a:srgbClr val="242424"/>
                          </a:solidFill>
                        </a:defRPr>
                      </a:pPr>
                      <a:r>
                        <a:t>Standard SKU public IPs not associated with load balancers</a:t>
                      </a:r>
                    </a:p>
                  </a:txBody>
                  <a:tcPr>
                    <a:solidFill>
                      <a:srgbClr val="FFFFFF"/>
                    </a:solidFill>
                  </a:tcPr>
                </a:tc>
                <a:tc>
                  <a:txBody>
                    <a:bodyPr/>
                    <a:lstStyle/>
                    <a:p>
                      <a:pPr algn="l">
                        <a:defRPr sz="1000">
                          <a:solidFill>
                            <a:srgbClr val="242424"/>
                          </a:solidFill>
                        </a:defRPr>
                      </a:pPr>
                      <a:r>
                        <a:t>Remove or consolidate Standard public IPs that are not serving load-balanced workloads.</a:t>
                      </a:r>
                    </a:p>
                  </a:txBody>
                  <a:tcPr>
                    <a:solidFill>
                      <a:srgbClr val="FFFFFF"/>
                    </a:solidFill>
                  </a:tcPr>
                </a:tc>
              </a:tr>
              <a:tr h="440574">
                <a:tc>
                  <a:txBody>
                    <a:bodyPr/>
                    <a:lstStyle/>
                    <a:p>
                      <a:pPr algn="l">
                        <a:defRPr sz="1000">
                          <a:solidFill>
                            <a:srgbClr val="242424"/>
                          </a:solidFill>
                        </a:defRPr>
                      </a:pPr>
                      <a:r>
                        <a:t>12</a:t>
                      </a:r>
                    </a:p>
                  </a:txBody>
                  <a:tcPr>
                    <a:solidFill>
                      <a:srgbClr val="FFFFFF"/>
                    </a:solidFill>
                  </a:tcPr>
                </a:tc>
                <a:tc>
                  <a:txBody>
                    <a:bodyPr/>
                    <a:lstStyle/>
                    <a:p>
                      <a:pPr algn="l">
                        <a:defRPr sz="1000">
                          <a:solidFill>
                            <a:srgbClr val="242424"/>
                          </a:solidFill>
                        </a:defRPr>
                      </a:pPr>
                      <a:r>
                        <a:t>OPE-005</a:t>
                      </a:r>
                    </a:p>
                  </a:txBody>
                  <a:tcPr>
                    <a:solidFill>
                      <a:srgbClr val="FFFFFF"/>
                    </a:solidFill>
                  </a:tcPr>
                </a:tc>
                <a:tc>
                  <a:txBody>
                    <a:bodyPr/>
                    <a:lstStyle/>
                    <a:p>
                      <a:pPr algn="l">
                        <a:defRPr sz="1000" b="1">
                          <a:solidFill>
                            <a:srgbClr val="FFFFFF"/>
                          </a:solidFill>
                        </a:defRPr>
                      </a:pPr>
                      <a:r>
                        <a:t>Medium</a:t>
                      </a:r>
                    </a:p>
                  </a:txBody>
                  <a:tcPr>
                    <a:solidFill>
                      <a:srgbClr val="CCA300"/>
                    </a:solidFill>
                  </a:tcPr>
                </a:tc>
                <a:tc>
                  <a:txBody>
                    <a:bodyPr/>
                    <a:lstStyle/>
                    <a:p>
                      <a:pPr algn="l">
                        <a:defRPr sz="1000">
                          <a:solidFill>
                            <a:srgbClr val="242424"/>
                          </a:solidFill>
                        </a:defRPr>
                      </a:pPr>
                      <a:r>
                        <a:t>Resources missing required tags</a:t>
                      </a:r>
                    </a:p>
                  </a:txBody>
                  <a:tcPr>
                    <a:solidFill>
                      <a:srgbClr val="FFFFFF"/>
                    </a:solidFill>
                  </a:tcPr>
                </a:tc>
                <a:tc>
                  <a:txBody>
                    <a:bodyPr/>
                    <a:lstStyle/>
                    <a:p>
                      <a:pPr algn="l">
                        <a:defRPr sz="1000">
                          <a:solidFill>
                            <a:srgbClr val="242424"/>
                          </a:solidFill>
                        </a:defRPr>
                      </a:pPr>
                      <a:r>
                        <a:t>Apply required tags (Environment, Owner, CostCenter) to all resource groups.</a:t>
                      </a:r>
                    </a:p>
                  </a:txBody>
                  <a:tcPr>
                    <a:solidFill>
                      <a:srgbClr val="FFFFFF"/>
                    </a:solidFill>
                  </a:tcPr>
                </a:tc>
              </a:tr>
              <a:tr h="440574">
                <a:tc>
                  <a:txBody>
                    <a:bodyPr/>
                    <a:lstStyle/>
                    <a:p>
                      <a:pPr algn="l">
                        <a:defRPr sz="1000">
                          <a:solidFill>
                            <a:srgbClr val="242424"/>
                          </a:solidFill>
                        </a:defRPr>
                      </a:pPr>
                      <a:r>
                        <a:t>13</a:t>
                      </a:r>
                    </a:p>
                  </a:txBody>
                  <a:tcPr>
                    <a:solidFill>
                      <a:srgbClr val="FFFFFF"/>
                    </a:solidFill>
                  </a:tcPr>
                </a:tc>
                <a:tc>
                  <a:txBody>
                    <a:bodyPr/>
                    <a:lstStyle/>
                    <a:p>
                      <a:pPr algn="l">
                        <a:defRPr sz="1000">
                          <a:solidFill>
                            <a:srgbClr val="242424"/>
                          </a:solidFill>
                        </a:defRPr>
                      </a:pPr>
                      <a:r>
                        <a:t>OPE-007</a:t>
                      </a:r>
                    </a:p>
                  </a:txBody>
                  <a:tcPr>
                    <a:solidFill>
                      <a:srgbClr val="FFFFFF"/>
                    </a:solidFill>
                  </a:tcPr>
                </a:tc>
                <a:tc>
                  <a:txBody>
                    <a:bodyPr/>
                    <a:lstStyle/>
                    <a:p>
                      <a:pPr algn="l">
                        <a:defRPr sz="1000" b="1">
                          <a:solidFill>
                            <a:srgbClr val="FFFFFF"/>
                          </a:solidFill>
                        </a:defRPr>
                      </a:pPr>
                      <a:r>
                        <a:t>Medium</a:t>
                      </a:r>
                    </a:p>
                  </a:txBody>
                  <a:tcPr>
                    <a:solidFill>
                      <a:srgbClr val="CCA300"/>
                    </a:solidFill>
                  </a:tcPr>
                </a:tc>
                <a:tc>
                  <a:txBody>
                    <a:bodyPr/>
                    <a:lstStyle/>
                    <a:p>
                      <a:pPr algn="l">
                        <a:defRPr sz="1000">
                          <a:solidFill>
                            <a:srgbClr val="242424"/>
                          </a:solidFill>
                        </a:defRPr>
                      </a:pPr>
                      <a:r>
                        <a:t>Virtual machines without diagnostic settings</a:t>
                      </a:r>
                    </a:p>
                  </a:txBody>
                  <a:tcPr>
                    <a:solidFill>
                      <a:srgbClr val="FFFFFF"/>
                    </a:solidFill>
                  </a:tcPr>
                </a:tc>
                <a:tc>
                  <a:txBody>
                    <a:bodyPr/>
                    <a:lstStyle/>
                    <a:p>
                      <a:pPr algn="l">
                        <a:defRPr sz="1000">
                          <a:solidFill>
                            <a:srgbClr val="242424"/>
                          </a:solidFill>
                        </a:defRPr>
                      </a:pPr>
                      <a:r>
                        <a:t>Configure diagnostic settings on virtual machines to stream guest and platform telemetry to a monitoring destination.</a:t>
                      </a:r>
                    </a:p>
                  </a:txBody>
                  <a:tcPr>
                    <a:solidFill>
                      <a:srgbClr val="FFFFFF"/>
                    </a:solidFill>
                  </a:tcPr>
                </a:tc>
              </a:tr>
              <a:tr h="440574">
                <a:tc>
                  <a:txBody>
                    <a:bodyPr/>
                    <a:lstStyle/>
                    <a:p>
                      <a:pPr algn="l">
                        <a:defRPr sz="1000">
                          <a:solidFill>
                            <a:srgbClr val="242424"/>
                          </a:solidFill>
                        </a:defRPr>
                      </a:pPr>
                      <a:r>
                        <a:t>14</a:t>
                      </a:r>
                    </a:p>
                  </a:txBody>
                  <a:tcPr>
                    <a:solidFill>
                      <a:srgbClr val="FFFFFF"/>
                    </a:solidFill>
                  </a:tcPr>
                </a:tc>
                <a:tc>
                  <a:txBody>
                    <a:bodyPr/>
                    <a:lstStyle/>
                    <a:p>
                      <a:pPr algn="l">
                        <a:defRPr sz="1000">
                          <a:solidFill>
                            <a:srgbClr val="242424"/>
                          </a:solidFill>
                        </a:defRPr>
                      </a:pPr>
                      <a:r>
                        <a:t>OPE-011</a:t>
                      </a:r>
                    </a:p>
                  </a:txBody>
                  <a:tcPr>
                    <a:solidFill>
                      <a:srgbClr val="FFFFFF"/>
                    </a:solidFill>
                  </a:tcPr>
                </a:tc>
                <a:tc>
                  <a:txBody>
                    <a:bodyPr/>
                    <a:lstStyle/>
                    <a:p>
                      <a:pPr algn="l">
                        <a:defRPr sz="1000" b="1">
                          <a:solidFill>
                            <a:srgbClr val="FFFFFF"/>
                          </a:solidFill>
                        </a:defRPr>
                      </a:pPr>
                      <a:r>
                        <a:t>Medium</a:t>
                      </a:r>
                    </a:p>
                  </a:txBody>
                  <a:tcPr>
                    <a:solidFill>
                      <a:srgbClr val="CCA300"/>
                    </a:solidFill>
                  </a:tcPr>
                </a:tc>
                <a:tc>
                  <a:txBody>
                    <a:bodyPr/>
                    <a:lstStyle/>
                    <a:p>
                      <a:pPr algn="l">
                        <a:defRPr sz="1000">
                          <a:solidFill>
                            <a:srgbClr val="242424"/>
                          </a:solidFill>
                        </a:defRPr>
                      </a:pPr>
                      <a:r>
                        <a:t>Key Vaults without diagnostic logging</a:t>
                      </a:r>
                    </a:p>
                  </a:txBody>
                  <a:tcPr>
                    <a:solidFill>
                      <a:srgbClr val="FFFFFF"/>
                    </a:solidFill>
                  </a:tcPr>
                </a:tc>
                <a:tc>
                  <a:txBody>
                    <a:bodyPr/>
                    <a:lstStyle/>
                    <a:p>
                      <a:pPr algn="l">
                        <a:defRPr sz="1000">
                          <a:solidFill>
                            <a:srgbClr val="242424"/>
                          </a:solidFill>
                        </a:defRPr>
                      </a:pPr>
                      <a:r>
                        <a:t>Configure Key Vault diagnostic settings to export audit and access logs to a centralized monitoring sink.</a:t>
                      </a:r>
                    </a:p>
                  </a:txBody>
                  <a:tcPr>
                    <a:solidFill>
                      <a:srgbClr val="FFFFFF"/>
                    </a:solidFill>
                  </a:tcPr>
                </a:tc>
              </a:tr>
              <a:tr h="440574">
                <a:tc>
                  <a:txBody>
                    <a:bodyPr/>
                    <a:lstStyle/>
                    <a:p>
                      <a:pPr algn="l">
                        <a:defRPr sz="1000">
                          <a:solidFill>
                            <a:srgbClr val="242424"/>
                          </a:solidFill>
                        </a:defRPr>
                      </a:pPr>
                      <a:r>
                        <a:t>15</a:t>
                      </a:r>
                    </a:p>
                  </a:txBody>
                  <a:tcPr>
                    <a:solidFill>
                      <a:srgbClr val="FFFFFF"/>
                    </a:solidFill>
                  </a:tcPr>
                </a:tc>
                <a:tc>
                  <a:txBody>
                    <a:bodyPr/>
                    <a:lstStyle/>
                    <a:p>
                      <a:pPr algn="l">
                        <a:defRPr sz="1000">
                          <a:solidFill>
                            <a:srgbClr val="242424"/>
                          </a:solidFill>
                        </a:defRPr>
                      </a:pPr>
                      <a:r>
                        <a:t>OPE-012</a:t>
                      </a:r>
                    </a:p>
                  </a:txBody>
                  <a:tcPr>
                    <a:solidFill>
                      <a:srgbClr val="FFFFFF"/>
                    </a:solidFill>
                  </a:tcPr>
                </a:tc>
                <a:tc>
                  <a:txBody>
                    <a:bodyPr/>
                    <a:lstStyle/>
                    <a:p>
                      <a:pPr algn="l">
                        <a:defRPr sz="1000" b="1">
                          <a:solidFill>
                            <a:srgbClr val="FFFFFF"/>
                          </a:solidFill>
                        </a:defRPr>
                      </a:pPr>
                      <a:r>
                        <a:t>Medium</a:t>
                      </a:r>
                    </a:p>
                  </a:txBody>
                  <a:tcPr>
                    <a:solidFill>
                      <a:srgbClr val="CCA300"/>
                    </a:solidFill>
                  </a:tcPr>
                </a:tc>
                <a:tc>
                  <a:txBody>
                    <a:bodyPr/>
                    <a:lstStyle/>
                    <a:p>
                      <a:pPr algn="l">
                        <a:defRPr sz="1000">
                          <a:solidFill>
                            <a:srgbClr val="242424"/>
                          </a:solidFill>
                        </a:defRPr>
                      </a:pPr>
                      <a:r>
                        <a:t>Network security groups without flow logs</a:t>
                      </a:r>
                    </a:p>
                  </a:txBody>
                  <a:tcPr>
                    <a:solidFill>
                      <a:srgbClr val="FFFFFF"/>
                    </a:solidFill>
                  </a:tcPr>
                </a:tc>
                <a:tc>
                  <a:txBody>
                    <a:bodyPr/>
                    <a:lstStyle/>
                    <a:p>
                      <a:pPr algn="l">
                        <a:defRPr sz="1000">
                          <a:solidFill>
                            <a:srgbClr val="242424"/>
                          </a:solidFill>
                        </a:defRPr>
                      </a:pPr>
                      <a:r>
                        <a:t>Enable NSG flow logs to improve traffic analysis, investigation, and troubleshooting coverage.</a:t>
                      </a:r>
                    </a:p>
                  </a:txBody>
                  <a:tcPr>
                    <a:solidFill>
                      <a:srgbClr val="FFFFFF"/>
                    </a:solidFill>
                  </a:tcPr>
                </a:tc>
              </a:tr>
              <a:tr h="440574">
                <a:tc>
                  <a:txBody>
                    <a:bodyPr/>
                    <a:lstStyle/>
                    <a:p>
                      <a:pPr algn="l">
                        <a:defRPr sz="1000">
                          <a:solidFill>
                            <a:srgbClr val="242424"/>
                          </a:solidFill>
                        </a:defRPr>
                      </a:pPr>
                      <a:r>
                        <a:t>16</a:t>
                      </a:r>
                    </a:p>
                  </a:txBody>
                  <a:tcPr>
                    <a:solidFill>
                      <a:srgbClr val="FFFFFF"/>
                    </a:solidFill>
                  </a:tcPr>
                </a:tc>
                <a:tc>
                  <a:txBody>
                    <a:bodyPr/>
                    <a:lstStyle/>
                    <a:p>
                      <a:pPr algn="l">
                        <a:defRPr sz="1000">
                          <a:solidFill>
                            <a:srgbClr val="242424"/>
                          </a:solidFill>
                        </a:defRPr>
                      </a:pPr>
                      <a:r>
                        <a:t>PER-015</a:t>
                      </a:r>
                    </a:p>
                  </a:txBody>
                  <a:tcPr>
                    <a:solidFill>
                      <a:srgbClr val="FFFFFF"/>
                    </a:solidFill>
                  </a:tcPr>
                </a:tc>
                <a:tc>
                  <a:txBody>
                    <a:bodyPr/>
                    <a:lstStyle/>
                    <a:p>
                      <a:pPr algn="l">
                        <a:defRPr sz="1000" b="1">
                          <a:solidFill>
                            <a:srgbClr val="FFFFFF"/>
                          </a:solidFill>
                        </a:defRPr>
                      </a:pPr>
                      <a:r>
                        <a:t>Medium</a:t>
                      </a:r>
                    </a:p>
                  </a:txBody>
                  <a:tcPr>
                    <a:solidFill>
                      <a:srgbClr val="CCA300"/>
                    </a:solidFill>
                  </a:tcPr>
                </a:tc>
                <a:tc>
                  <a:txBody>
                    <a:bodyPr/>
                    <a:lstStyle/>
                    <a:p>
                      <a:pPr algn="l">
                        <a:defRPr sz="1000">
                          <a:solidFill>
                            <a:srgbClr val="242424"/>
                          </a:solidFill>
                        </a:defRPr>
                      </a:pPr>
                      <a:r>
                        <a:t>Storage accounts without private endpoints</a:t>
                      </a:r>
                    </a:p>
                  </a:txBody>
                  <a:tcPr>
                    <a:solidFill>
                      <a:srgbClr val="FFFFFF"/>
                    </a:solidFill>
                  </a:tcPr>
                </a:tc>
                <a:tc>
                  <a:txBody>
                    <a:bodyPr/>
                    <a:lstStyle/>
                    <a:p>
                      <a:pPr algn="l">
                        <a:defRPr sz="1000">
                          <a:solidFill>
                            <a:srgbClr val="242424"/>
                          </a:solidFill>
                        </a:defRPr>
                      </a:pPr>
                      <a:r>
                        <a:t>Use private endpoints for storage accounts that serve latency-sensitive or security-sensitive workloads to reduce public path dependency.</a:t>
                      </a:r>
                    </a:p>
                  </a:txBody>
                  <a:tcPr>
                    <a:solidFill>
                      <a:srgbClr val="FFFFFF"/>
                    </a:solidFill>
                  </a:tcPr>
                </a:tc>
              </a:tr>
              <a:tr h="440574">
                <a:tc>
                  <a:txBody>
                    <a:bodyPr/>
                    <a:lstStyle/>
                    <a:p>
                      <a:pPr algn="l">
                        <a:defRPr sz="1000">
                          <a:solidFill>
                            <a:srgbClr val="242424"/>
                          </a:solidFill>
                        </a:defRPr>
                      </a:pPr>
                      <a:r>
                        <a:t>17</a:t>
                      </a:r>
                    </a:p>
                  </a:txBody>
                  <a:tcPr>
                    <a:solidFill>
                      <a:srgbClr val="FFFFFF"/>
                    </a:solidFill>
                  </a:tcPr>
                </a:tc>
                <a:tc>
                  <a:txBody>
                    <a:bodyPr/>
                    <a:lstStyle/>
                    <a:p>
                      <a:pPr algn="l">
                        <a:defRPr sz="1000">
                          <a:solidFill>
                            <a:srgbClr val="242424"/>
                          </a:solidFill>
                        </a:defRPr>
                      </a:pPr>
                      <a:r>
                        <a:t>REL-007</a:t>
                      </a:r>
                    </a:p>
                  </a:txBody>
                  <a:tcPr>
                    <a:solidFill>
                      <a:srgbClr val="FFFFFF"/>
                    </a:solidFill>
                  </a:tcPr>
                </a:tc>
                <a:tc>
                  <a:txBody>
                    <a:bodyPr/>
                    <a:lstStyle/>
                    <a:p>
                      <a:pPr algn="l">
                        <a:defRPr sz="1000" b="1">
                          <a:solidFill>
                            <a:srgbClr val="FFFFFF"/>
                          </a:solidFill>
                        </a:defRPr>
                      </a:pPr>
                      <a:r>
                        <a:t>Medium</a:t>
                      </a:r>
                    </a:p>
                  </a:txBody>
                  <a:tcPr>
                    <a:solidFill>
                      <a:srgbClr val="CCA300"/>
                    </a:solidFill>
                  </a:tcPr>
                </a:tc>
                <a:tc>
                  <a:txBody>
                    <a:bodyPr/>
                    <a:lstStyle/>
                    <a:p>
                      <a:pPr algn="l">
                        <a:defRPr sz="1000">
                          <a:solidFill>
                            <a:srgbClr val="242424"/>
                          </a:solidFill>
                        </a:defRPr>
                      </a:pPr>
                      <a:r>
                        <a:t>Storage accounts without geo-redundant replication</a:t>
                      </a:r>
                    </a:p>
                  </a:txBody>
                  <a:tcPr>
                    <a:solidFill>
                      <a:srgbClr val="FFFFFF"/>
                    </a:solidFill>
                  </a:tcPr>
                </a:tc>
                <a:tc>
                  <a:txBody>
                    <a:bodyPr/>
                    <a:lstStyle/>
                    <a:p>
                      <a:pPr algn="l">
                        <a:defRPr sz="1000">
                          <a:solidFill>
                            <a:srgbClr val="242424"/>
                          </a:solidFill>
                        </a:defRPr>
                      </a:pPr>
                      <a:r>
                        <a:t>Use GRS, RA-GRS, GZRS, or RA-GZRS for storage accounts that require regional disaster recovery.</a:t>
                      </a:r>
                    </a:p>
                  </a:txBody>
                  <a:tcPr>
                    <a:solidFill>
                      <a:srgbClr val="FFFFFF"/>
                    </a:solidFill>
                  </a:tcPr>
                </a:tc>
              </a:tr>
              <a:tr h="440574">
                <a:tc>
                  <a:txBody>
                    <a:bodyPr/>
                    <a:lstStyle/>
                    <a:p>
                      <a:pPr algn="l">
                        <a:defRPr sz="1000">
                          <a:solidFill>
                            <a:srgbClr val="242424"/>
                          </a:solidFill>
                        </a:defRPr>
                      </a:pPr>
                      <a:r>
                        <a:t>18</a:t>
                      </a:r>
                    </a:p>
                  </a:txBody>
                  <a:tcPr>
                    <a:solidFill>
                      <a:srgbClr val="FFFFFF"/>
                    </a:solidFill>
                  </a:tcPr>
                </a:tc>
                <a:tc>
                  <a:txBody>
                    <a:bodyPr/>
                    <a:lstStyle/>
                    <a:p>
                      <a:pPr algn="l">
                        <a:defRPr sz="1000">
                          <a:solidFill>
                            <a:srgbClr val="242424"/>
                          </a:solidFill>
                        </a:defRPr>
                      </a:pPr>
                      <a:r>
                        <a:t>SEC-008</a:t>
                      </a:r>
                    </a:p>
                  </a:txBody>
                  <a:tcPr>
                    <a:solidFill>
                      <a:srgbClr val="FFFFFF"/>
                    </a:solidFill>
                  </a:tcPr>
                </a:tc>
                <a:tc>
                  <a:txBody>
                    <a:bodyPr/>
                    <a:lstStyle/>
                    <a:p>
                      <a:pPr algn="l">
                        <a:defRPr sz="1000" b="1">
                          <a:solidFill>
                            <a:srgbClr val="FFFFFF"/>
                          </a:solidFill>
                        </a:defRPr>
                      </a:pPr>
                      <a:r>
                        <a:t>Medium</a:t>
                      </a:r>
                    </a:p>
                  </a:txBody>
                  <a:tcPr>
                    <a:solidFill>
                      <a:srgbClr val="CCA300"/>
                    </a:solidFill>
                  </a:tcPr>
                </a:tc>
                <a:tc>
                  <a:txBody>
                    <a:bodyPr/>
                    <a:lstStyle/>
                    <a:p>
                      <a:pPr algn="l">
                        <a:defRPr sz="1000">
                          <a:solidFill>
                            <a:srgbClr val="242424"/>
                          </a:solidFill>
                        </a:defRPr>
                      </a:pPr>
                      <a:r>
                        <a:t>Public IP addresses detected</a:t>
                      </a:r>
                    </a:p>
                  </a:txBody>
                  <a:tcPr>
                    <a:solidFill>
                      <a:srgbClr val="FFFFFF"/>
                    </a:solidFill>
                  </a:tcPr>
                </a:tc>
                <a:tc>
                  <a:txBody>
                    <a:bodyPr/>
                    <a:lstStyle/>
                    <a:p>
                      <a:pPr algn="l">
                        <a:defRPr sz="1000">
                          <a:solidFill>
                            <a:srgbClr val="242424"/>
                          </a:solidFill>
                        </a:defRPr>
                      </a:pPr>
                      <a:r>
                        <a:t>Review public IP addresses — remove unnecessary public exposure.</a:t>
                      </a:r>
                    </a:p>
                  </a:txBody>
                  <a:tcPr>
                    <a:solidFill>
                      <a:srgbClr val="FFFFFF"/>
                    </a:solidFill>
                  </a:tcPr>
                </a:tc>
              </a:tr>
              <a:tr h="440574">
                <a:tc>
                  <a:txBody>
                    <a:bodyPr/>
                    <a:lstStyle/>
                    <a:p>
                      <a:pPr algn="l">
                        <a:defRPr sz="1000">
                          <a:solidFill>
                            <a:srgbClr val="242424"/>
                          </a:solidFill>
                        </a:defRPr>
                      </a:pPr>
                      <a:r>
                        <a:t>19</a:t>
                      </a:r>
                    </a:p>
                  </a:txBody>
                  <a:tcPr>
                    <a:solidFill>
                      <a:srgbClr val="FFFFFF"/>
                    </a:solidFill>
                  </a:tcPr>
                </a:tc>
                <a:tc>
                  <a:txBody>
                    <a:bodyPr/>
                    <a:lstStyle/>
                    <a:p>
                      <a:pPr algn="l">
                        <a:defRPr sz="1000">
                          <a:solidFill>
                            <a:srgbClr val="242424"/>
                          </a:solidFill>
                        </a:defRPr>
                      </a:pPr>
                      <a:r>
                        <a:t>SEC-018</a:t>
                      </a:r>
                    </a:p>
                  </a:txBody>
                  <a:tcPr>
                    <a:solidFill>
                      <a:srgbClr val="FFFFFF"/>
                    </a:solidFill>
                  </a:tcPr>
                </a:tc>
                <a:tc>
                  <a:txBody>
                    <a:bodyPr/>
                    <a:lstStyle/>
                    <a:p>
                      <a:pPr algn="l">
                        <a:defRPr sz="1000" b="1">
                          <a:solidFill>
                            <a:srgbClr val="FFFFFF"/>
                          </a:solidFill>
                        </a:defRPr>
                      </a:pPr>
                      <a:r>
                        <a:t>Medium</a:t>
                      </a:r>
                    </a:p>
                  </a:txBody>
                  <a:tcPr>
                    <a:solidFill>
                      <a:srgbClr val="CCA300"/>
                    </a:solidFill>
                  </a:tcPr>
                </a:tc>
                <a:tc>
                  <a:txBody>
                    <a:bodyPr/>
                    <a:lstStyle/>
                    <a:p>
                      <a:pPr algn="l">
                        <a:defRPr sz="1000">
                          <a:solidFill>
                            <a:srgbClr val="242424"/>
                          </a:solidFill>
                        </a:defRPr>
                      </a:pPr>
                      <a:r>
                        <a:t>Diagnostic settings on security-critical resources</a:t>
                      </a:r>
                    </a:p>
                  </a:txBody>
                  <a:tcPr>
                    <a:solidFill>
                      <a:srgbClr val="FFFFFF"/>
                    </a:solidFill>
                  </a:tcPr>
                </a:tc>
                <a:tc>
                  <a:txBody>
                    <a:bodyPr/>
                    <a:lstStyle/>
                    <a:p>
                      <a:pPr algn="l">
                        <a:defRPr sz="1000">
                          <a:solidFill>
                            <a:srgbClr val="242424"/>
                          </a:solidFill>
                        </a:defRPr>
                      </a:pPr>
                      <a:r>
                        <a:t>Configure diagnostic settings on Key Vaults, NSGs, and Firewalls to ship logs to Log Analytics.</a:t>
                      </a:r>
                    </a:p>
                  </a:txBody>
                  <a:tcPr>
                    <a:solidFill>
                      <a:srgbClr val="FFFFFF"/>
                    </a:solidFill>
                  </a:tcPr>
                </a:tc>
              </a:tr>
              <a:tr h="440580">
                <a:tc>
                  <a:txBody>
                    <a:bodyPr/>
                    <a:lstStyle/>
                    <a:p>
                      <a:pPr algn="l">
                        <a:defRPr sz="1000">
                          <a:solidFill>
                            <a:srgbClr val="242424"/>
                          </a:solidFill>
                        </a:defRPr>
                      </a:pPr>
                      <a:r>
                        <a:t>20</a:t>
                      </a:r>
                    </a:p>
                  </a:txBody>
                  <a:tcPr>
                    <a:solidFill>
                      <a:srgbClr val="FFFFFF"/>
                    </a:solidFill>
                  </a:tcPr>
                </a:tc>
                <a:tc>
                  <a:txBody>
                    <a:bodyPr/>
                    <a:lstStyle/>
                    <a:p>
                      <a:pPr algn="l">
                        <a:defRPr sz="1000">
                          <a:solidFill>
                            <a:srgbClr val="242424"/>
                          </a:solidFill>
                        </a:defRPr>
                      </a:pPr>
                      <a:r>
                        <a:t>SEC-020</a:t>
                      </a:r>
                    </a:p>
                  </a:txBody>
                  <a:tcPr>
                    <a:solidFill>
                      <a:srgbClr val="FFFFFF"/>
                    </a:solidFill>
                  </a:tcPr>
                </a:tc>
                <a:tc>
                  <a:txBody>
                    <a:bodyPr/>
                    <a:lstStyle/>
                    <a:p>
                      <a:pPr algn="l">
                        <a:defRPr sz="1000" b="1">
                          <a:solidFill>
                            <a:srgbClr val="FFFFFF"/>
                          </a:solidFill>
                        </a:defRPr>
                      </a:pPr>
                      <a:r>
                        <a:t>Medium</a:t>
                      </a:r>
                    </a:p>
                  </a:txBody>
                  <a:tcPr>
                    <a:solidFill>
                      <a:srgbClr val="CCA300"/>
                    </a:solidFill>
                  </a:tcPr>
                </a:tc>
                <a:tc>
                  <a:txBody>
                    <a:bodyPr/>
                    <a:lstStyle/>
                    <a:p>
                      <a:pPr algn="l">
                        <a:defRPr sz="1000">
                          <a:solidFill>
                            <a:srgbClr val="242424"/>
                          </a:solidFill>
                        </a:defRPr>
                      </a:pPr>
                      <a:r>
                        <a:t>JIT VM access enabled for management</a:t>
                      </a:r>
                    </a:p>
                  </a:txBody>
                  <a:tcPr>
                    <a:solidFill>
                      <a:srgbClr val="FFFFFF"/>
                    </a:solidFill>
                  </a:tcPr>
                </a:tc>
                <a:tc>
                  <a:txBody>
                    <a:bodyPr/>
                    <a:lstStyle/>
                    <a:p>
                      <a:pPr algn="l">
                        <a:defRPr sz="1000">
                          <a:solidFill>
                            <a:srgbClr val="242424"/>
                          </a:solidFill>
                        </a:defRPr>
                      </a:pPr>
                      <a:r>
                        <a:t>Enable Just-In-Time VM access to reduce attack surface for management ports.</a:t>
                      </a:r>
                    </a:p>
                  </a:txBody>
                  <a:tcPr>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972800" cy="731520"/>
          </a:xfrm>
          <a:prstGeom prst="rect">
            <a:avLst/>
          </a:prstGeom>
          <a:noFill/>
        </p:spPr>
        <p:txBody>
          <a:bodyPr wrap="none">
            <a:spAutoFit/>
          </a:bodyPr>
          <a:lstStyle/>
          <a:p>
            <a:pPr algn="l">
              <a:defRPr sz="2800" b="1">
                <a:solidFill>
                  <a:srgbClr val="242424"/>
                </a:solidFill>
              </a:defRPr>
            </a:pPr>
            <a:r>
              <a:t>Medium Impact Findings (3/3)</a:t>
            </a:r>
          </a:p>
        </p:txBody>
      </p:sp>
      <p:sp>
        <p:nvSpPr>
          <p:cNvPr id="3" name="TextBox 2"/>
          <p:cNvSpPr txBox="1"/>
          <p:nvPr/>
        </p:nvSpPr>
        <p:spPr>
          <a:xfrm>
            <a:off x="8686800" y="6400800"/>
            <a:ext cx="2926080" cy="228600"/>
          </a:xfrm>
          <a:prstGeom prst="rect">
            <a:avLst/>
          </a:prstGeom>
          <a:noFill/>
        </p:spPr>
        <p:txBody>
          <a:bodyPr wrap="none">
            <a:spAutoFit/>
          </a:bodyPr>
          <a:lstStyle/>
          <a:p>
            <a:pPr algn="r">
              <a:defRPr sz="800">
                <a:solidFill>
                  <a:srgbClr val="999999"/>
                </a:solidFill>
                <a:latin typeface="Segoe UI"/>
              </a:defRPr>
            </a:pPr>
            <a:r>
              <a:t>AUTOMATICALLY GENERATED — Please Review</a:t>
            </a:r>
          </a:p>
        </p:txBody>
      </p:sp>
      <p:graphicFrame>
        <p:nvGraphicFramePr>
          <p:cNvPr id="4" name="Table 3"/>
          <p:cNvGraphicFramePr>
            <a:graphicFrameLocks noGrp="1"/>
          </p:cNvGraphicFramePr>
          <p:nvPr/>
        </p:nvGraphicFramePr>
        <p:xfrm>
          <a:off x="365760" y="1280160"/>
          <a:ext cx="11338560" cy="4846320"/>
        </p:xfrm>
        <a:graphic>
          <a:graphicData uri="http://schemas.openxmlformats.org/drawingml/2006/table">
            <a:tbl>
              <a:tblPr firstRow="1" bandRow="1">
                <a:tableStyleId>{5C22544A-7EE6-4342-B048-85BDC9FD1C3A}</a:tableStyleId>
              </a:tblPr>
              <a:tblGrid>
                <a:gridCol w="548640"/>
                <a:gridCol w="1188720"/>
                <a:gridCol w="1097280"/>
                <a:gridCol w="3017520"/>
                <a:gridCol w="5486400"/>
              </a:tblGrid>
              <a:tr h="2423160">
                <a:tc>
                  <a:txBody>
                    <a:bodyPr/>
                    <a:lstStyle/>
                    <a:p>
                      <a:pPr algn="l">
                        <a:defRPr sz="1200" b="1">
                          <a:solidFill>
                            <a:srgbClr val="FFFFFF"/>
                          </a:solidFill>
                        </a:defRPr>
                      </a:pPr>
                      <a:r>
                        <a:t>#</a:t>
                      </a:r>
                    </a:p>
                  </a:txBody>
                  <a:tcPr>
                    <a:solidFill>
                      <a:srgbClr val="0078D4"/>
                    </a:solidFill>
                  </a:tcPr>
                </a:tc>
                <a:tc>
                  <a:txBody>
                    <a:bodyPr/>
                    <a:lstStyle/>
                    <a:p>
                      <a:pPr algn="l">
                        <a:defRPr sz="1200" b="1">
                          <a:solidFill>
                            <a:srgbClr val="FFFFFF"/>
                          </a:solidFill>
                        </a:defRPr>
                      </a:pPr>
                      <a:r>
                        <a:t>Rule ID</a:t>
                      </a:r>
                    </a:p>
                  </a:txBody>
                  <a:tcPr>
                    <a:solidFill>
                      <a:srgbClr val="0078D4"/>
                    </a:solidFill>
                  </a:tcPr>
                </a:tc>
                <a:tc>
                  <a:txBody>
                    <a:bodyPr/>
                    <a:lstStyle/>
                    <a:p>
                      <a:pPr algn="l">
                        <a:defRPr sz="1200" b="1">
                          <a:solidFill>
                            <a:srgbClr val="FFFFFF"/>
                          </a:solidFill>
                        </a:defRPr>
                      </a:pPr>
                      <a:r>
                        <a:t>Severity</a:t>
                      </a:r>
                    </a:p>
                  </a:txBody>
                  <a:tcPr>
                    <a:solidFill>
                      <a:srgbClr val="0078D4"/>
                    </a:solidFill>
                  </a:tcPr>
                </a:tc>
                <a:tc>
                  <a:txBody>
                    <a:bodyPr/>
                    <a:lstStyle/>
                    <a:p>
                      <a:pPr algn="l">
                        <a:defRPr sz="1200" b="1">
                          <a:solidFill>
                            <a:srgbClr val="FFFFFF"/>
                          </a:solidFill>
                        </a:defRPr>
                      </a:pPr>
                      <a:r>
                        <a:t>Title</a:t>
                      </a:r>
                    </a:p>
                  </a:txBody>
                  <a:tcPr>
                    <a:solidFill>
                      <a:srgbClr val="0078D4"/>
                    </a:solidFill>
                  </a:tcPr>
                </a:tc>
                <a:tc>
                  <a:txBody>
                    <a:bodyPr/>
                    <a:lstStyle/>
                    <a:p>
                      <a:pPr algn="l">
                        <a:defRPr sz="1200" b="1">
                          <a:solidFill>
                            <a:srgbClr val="FFFFFF"/>
                          </a:solidFill>
                        </a:defRPr>
                      </a:pPr>
                      <a:r>
                        <a:t>Recommendation</a:t>
                      </a:r>
                    </a:p>
                  </a:txBody>
                  <a:tcPr>
                    <a:solidFill>
                      <a:srgbClr val="0078D4"/>
                    </a:solidFill>
                  </a:tcPr>
                </a:tc>
              </a:tr>
              <a:tr h="2423160">
                <a:tc>
                  <a:txBody>
                    <a:bodyPr/>
                    <a:lstStyle/>
                    <a:p>
                      <a:pPr algn="l">
                        <a:defRPr sz="1000">
                          <a:solidFill>
                            <a:srgbClr val="242424"/>
                          </a:solidFill>
                        </a:defRPr>
                      </a:pPr>
                      <a:r>
                        <a:t>21</a:t>
                      </a:r>
                    </a:p>
                  </a:txBody>
                  <a:tcPr>
                    <a:solidFill>
                      <a:srgbClr val="FFFFFF"/>
                    </a:solidFill>
                  </a:tcPr>
                </a:tc>
                <a:tc>
                  <a:txBody>
                    <a:bodyPr/>
                    <a:lstStyle/>
                    <a:p>
                      <a:pPr algn="l">
                        <a:defRPr sz="1000">
                          <a:solidFill>
                            <a:srgbClr val="242424"/>
                          </a:solidFill>
                        </a:defRPr>
                      </a:pPr>
                      <a:r>
                        <a:t>SEC-026</a:t>
                      </a:r>
                    </a:p>
                  </a:txBody>
                  <a:tcPr>
                    <a:solidFill>
                      <a:srgbClr val="FFFFFF"/>
                    </a:solidFill>
                  </a:tcPr>
                </a:tc>
                <a:tc>
                  <a:txBody>
                    <a:bodyPr/>
                    <a:lstStyle/>
                    <a:p>
                      <a:pPr algn="l">
                        <a:defRPr sz="1000" b="1">
                          <a:solidFill>
                            <a:srgbClr val="FFFFFF"/>
                          </a:solidFill>
                        </a:defRPr>
                      </a:pPr>
                      <a:r>
                        <a:t>Medium</a:t>
                      </a:r>
                    </a:p>
                  </a:txBody>
                  <a:tcPr>
                    <a:solidFill>
                      <a:srgbClr val="CCA300"/>
                    </a:solidFill>
                  </a:tcPr>
                </a:tc>
                <a:tc>
                  <a:txBody>
                    <a:bodyPr/>
                    <a:lstStyle/>
                    <a:p>
                      <a:pPr algn="l">
                        <a:defRPr sz="1000">
                          <a:solidFill>
                            <a:srgbClr val="242424"/>
                          </a:solidFill>
                        </a:defRPr>
                      </a:pPr>
                      <a:r>
                        <a:t>Activity log exported to Log Analytics</a:t>
                      </a:r>
                    </a:p>
                  </a:txBody>
                  <a:tcPr>
                    <a:solidFill>
                      <a:srgbClr val="FFFFFF"/>
                    </a:solidFill>
                  </a:tcPr>
                </a:tc>
                <a:tc>
                  <a:txBody>
                    <a:bodyPr/>
                    <a:lstStyle/>
                    <a:p>
                      <a:pPr algn="l">
                        <a:defRPr sz="1000">
                          <a:solidFill>
                            <a:srgbClr val="242424"/>
                          </a:solidFill>
                        </a:defRPr>
                      </a:pPr>
                      <a:r>
                        <a:t>Export Activity Log to Log Analytics workspace for audit and threat detection.</a:t>
                      </a:r>
                    </a:p>
                  </a:txBody>
                  <a:tcP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972800" cy="731520"/>
          </a:xfrm>
          <a:prstGeom prst="rect">
            <a:avLst/>
          </a:prstGeom>
          <a:noFill/>
        </p:spPr>
        <p:txBody>
          <a:bodyPr wrap="none">
            <a:spAutoFit/>
          </a:bodyPr>
          <a:lstStyle/>
          <a:p>
            <a:pPr algn="l">
              <a:defRPr sz="2800" b="1">
                <a:solidFill>
                  <a:srgbClr val="242424"/>
                </a:solidFill>
              </a:defRPr>
            </a:pPr>
            <a:r>
              <a:t>Low Impact Findings</a:t>
            </a:r>
          </a:p>
        </p:txBody>
      </p:sp>
      <p:sp>
        <p:nvSpPr>
          <p:cNvPr id="3" name="TextBox 2"/>
          <p:cNvSpPr txBox="1"/>
          <p:nvPr/>
        </p:nvSpPr>
        <p:spPr>
          <a:xfrm>
            <a:off x="8686800" y="6400800"/>
            <a:ext cx="2926080" cy="228600"/>
          </a:xfrm>
          <a:prstGeom prst="rect">
            <a:avLst/>
          </a:prstGeom>
          <a:noFill/>
        </p:spPr>
        <p:txBody>
          <a:bodyPr wrap="none">
            <a:spAutoFit/>
          </a:bodyPr>
          <a:lstStyle/>
          <a:p>
            <a:pPr algn="r">
              <a:defRPr sz="800">
                <a:solidFill>
                  <a:srgbClr val="999999"/>
                </a:solidFill>
                <a:latin typeface="Segoe UI"/>
              </a:defRPr>
            </a:pPr>
            <a:r>
              <a:t>AUTOMATICALLY GENERATED — Please Review</a:t>
            </a:r>
          </a:p>
        </p:txBody>
      </p:sp>
      <p:graphicFrame>
        <p:nvGraphicFramePr>
          <p:cNvPr id="4" name="Table 3"/>
          <p:cNvGraphicFramePr>
            <a:graphicFrameLocks noGrp="1"/>
          </p:cNvGraphicFramePr>
          <p:nvPr/>
        </p:nvGraphicFramePr>
        <p:xfrm>
          <a:off x="365760" y="1280160"/>
          <a:ext cx="11338560" cy="4846320"/>
        </p:xfrm>
        <a:graphic>
          <a:graphicData uri="http://schemas.openxmlformats.org/drawingml/2006/table">
            <a:tbl>
              <a:tblPr firstRow="1" bandRow="1">
                <a:tableStyleId>{5C22544A-7EE6-4342-B048-85BDC9FD1C3A}</a:tableStyleId>
              </a:tblPr>
              <a:tblGrid>
                <a:gridCol w="548640"/>
                <a:gridCol w="1188720"/>
                <a:gridCol w="1097280"/>
                <a:gridCol w="3017520"/>
                <a:gridCol w="5486400"/>
              </a:tblGrid>
              <a:tr h="605790">
                <a:tc>
                  <a:txBody>
                    <a:bodyPr/>
                    <a:lstStyle/>
                    <a:p>
                      <a:pPr algn="l">
                        <a:defRPr sz="1200" b="1">
                          <a:solidFill>
                            <a:srgbClr val="FFFFFF"/>
                          </a:solidFill>
                        </a:defRPr>
                      </a:pPr>
                      <a:r>
                        <a:t>#</a:t>
                      </a:r>
                    </a:p>
                  </a:txBody>
                  <a:tcPr>
                    <a:solidFill>
                      <a:srgbClr val="0078D4"/>
                    </a:solidFill>
                  </a:tcPr>
                </a:tc>
                <a:tc>
                  <a:txBody>
                    <a:bodyPr/>
                    <a:lstStyle/>
                    <a:p>
                      <a:pPr algn="l">
                        <a:defRPr sz="1200" b="1">
                          <a:solidFill>
                            <a:srgbClr val="FFFFFF"/>
                          </a:solidFill>
                        </a:defRPr>
                      </a:pPr>
                      <a:r>
                        <a:t>Rule ID</a:t>
                      </a:r>
                    </a:p>
                  </a:txBody>
                  <a:tcPr>
                    <a:solidFill>
                      <a:srgbClr val="0078D4"/>
                    </a:solidFill>
                  </a:tcPr>
                </a:tc>
                <a:tc>
                  <a:txBody>
                    <a:bodyPr/>
                    <a:lstStyle/>
                    <a:p>
                      <a:pPr algn="l">
                        <a:defRPr sz="1200" b="1">
                          <a:solidFill>
                            <a:srgbClr val="FFFFFF"/>
                          </a:solidFill>
                        </a:defRPr>
                      </a:pPr>
                      <a:r>
                        <a:t>Severity</a:t>
                      </a:r>
                    </a:p>
                  </a:txBody>
                  <a:tcPr>
                    <a:solidFill>
                      <a:srgbClr val="0078D4"/>
                    </a:solidFill>
                  </a:tcPr>
                </a:tc>
                <a:tc>
                  <a:txBody>
                    <a:bodyPr/>
                    <a:lstStyle/>
                    <a:p>
                      <a:pPr algn="l">
                        <a:defRPr sz="1200" b="1">
                          <a:solidFill>
                            <a:srgbClr val="FFFFFF"/>
                          </a:solidFill>
                        </a:defRPr>
                      </a:pPr>
                      <a:r>
                        <a:t>Title</a:t>
                      </a:r>
                    </a:p>
                  </a:txBody>
                  <a:tcPr>
                    <a:solidFill>
                      <a:srgbClr val="0078D4"/>
                    </a:solidFill>
                  </a:tcPr>
                </a:tc>
                <a:tc>
                  <a:txBody>
                    <a:bodyPr/>
                    <a:lstStyle/>
                    <a:p>
                      <a:pPr algn="l">
                        <a:defRPr sz="1200" b="1">
                          <a:solidFill>
                            <a:srgbClr val="FFFFFF"/>
                          </a:solidFill>
                        </a:defRPr>
                      </a:pPr>
                      <a:r>
                        <a:t>Recommendation</a:t>
                      </a:r>
                    </a:p>
                  </a:txBody>
                  <a:tcPr>
                    <a:solidFill>
                      <a:srgbClr val="0078D4"/>
                    </a:solidFill>
                  </a:tcPr>
                </a:tc>
              </a:tr>
              <a:tr h="605790">
                <a:tc>
                  <a:txBody>
                    <a:bodyPr/>
                    <a:lstStyle/>
                    <a:p>
                      <a:pPr algn="l">
                        <a:defRPr sz="1000">
                          <a:solidFill>
                            <a:srgbClr val="242424"/>
                          </a:solidFill>
                        </a:defRPr>
                      </a:pPr>
                      <a:r>
                        <a:t>1</a:t>
                      </a:r>
                    </a:p>
                  </a:txBody>
                  <a:tcPr>
                    <a:solidFill>
                      <a:srgbClr val="FFFFFF"/>
                    </a:solidFill>
                  </a:tcPr>
                </a:tc>
                <a:tc>
                  <a:txBody>
                    <a:bodyPr/>
                    <a:lstStyle/>
                    <a:p>
                      <a:pPr algn="l">
                        <a:defRPr sz="1000">
                          <a:solidFill>
                            <a:srgbClr val="242424"/>
                          </a:solidFill>
                        </a:defRPr>
                      </a:pPr>
                      <a:r>
                        <a:t>APRL-OPE-8BB4A57B</a:t>
                      </a:r>
                    </a:p>
                  </a:txBody>
                  <a:tcPr>
                    <a:solidFill>
                      <a:srgbClr val="FFFFFF"/>
                    </a:solidFill>
                  </a:tcPr>
                </a:tc>
                <a:tc>
                  <a:txBody>
                    <a:bodyPr/>
                    <a:lstStyle/>
                    <a:p>
                      <a:pPr algn="l">
                        <a:defRPr sz="1000" b="1">
                          <a:solidFill>
                            <a:srgbClr val="FFFFFF"/>
                          </a:solidFill>
                        </a:defRPr>
                      </a:pPr>
                      <a:r>
                        <a:t>Low</a:t>
                      </a:r>
                    </a:p>
                  </a:txBody>
                  <a:tcPr>
                    <a:solidFill>
                      <a:srgbClr val="3366CC"/>
                    </a:solidFill>
                  </a:tcPr>
                </a:tc>
                <a:tc>
                  <a:txBody>
                    <a:bodyPr/>
                    <a:lstStyle/>
                    <a:p>
                      <a:pPr algn="l">
                        <a:defRPr sz="1000">
                          <a:solidFill>
                            <a:srgbClr val="242424"/>
                          </a:solidFill>
                        </a:defRPr>
                      </a:pPr>
                      <a:r>
                        <a:t>Monitor changes in Network Security Groups with Azure Monitor (networkSecurityGroups)</a:t>
                      </a:r>
                    </a:p>
                  </a:txBody>
                  <a:tcPr>
                    <a:solidFill>
                      <a:srgbClr val="FFFFFF"/>
                    </a:solidFill>
                  </a:tcPr>
                </a:tc>
                <a:tc>
                  <a:txBody>
                    <a:bodyPr/>
                    <a:lstStyle/>
                    <a:p>
                      <a:pPr algn="l">
                        <a:defRPr sz="1000">
                          <a:solidFill>
                            <a:srgbClr val="242424"/>
                          </a:solidFill>
                        </a:defRPr>
                      </a:pPr>
                      <a:r>
                        <a:t>Create Alerts with Azure Monitor for operations like creating or updating Network Security Group rules to catch unauthorized/undesired changes to resources and spot attempts to bypass firewalls or access resources from the outside.</a:t>
                      </a:r>
                    </a:p>
                  </a:txBody>
                  <a:tcPr>
                    <a:solidFill>
                      <a:srgbClr val="FFFFFF"/>
                    </a:solidFill>
                  </a:tcPr>
                </a:tc>
              </a:tr>
              <a:tr h="605790">
                <a:tc>
                  <a:txBody>
                    <a:bodyPr/>
                    <a:lstStyle/>
                    <a:p>
                      <a:pPr algn="l">
                        <a:defRPr sz="1000">
                          <a:solidFill>
                            <a:srgbClr val="242424"/>
                          </a:solidFill>
                        </a:defRPr>
                      </a:pPr>
                      <a:r>
                        <a:t>2</a:t>
                      </a:r>
                    </a:p>
                  </a:txBody>
                  <a:tcPr>
                    <a:solidFill>
                      <a:srgbClr val="FFFFFF"/>
                    </a:solidFill>
                  </a:tcPr>
                </a:tc>
                <a:tc>
                  <a:txBody>
                    <a:bodyPr/>
                    <a:lstStyle/>
                    <a:p>
                      <a:pPr algn="l">
                        <a:defRPr sz="1000">
                          <a:solidFill>
                            <a:srgbClr val="242424"/>
                          </a:solidFill>
                        </a:defRPr>
                      </a:pPr>
                      <a:r>
                        <a:t>APRL-OPE-4E133BD0</a:t>
                      </a:r>
                    </a:p>
                  </a:txBody>
                  <a:tcPr>
                    <a:solidFill>
                      <a:srgbClr val="FFFFFF"/>
                    </a:solidFill>
                  </a:tcPr>
                </a:tc>
                <a:tc>
                  <a:txBody>
                    <a:bodyPr/>
                    <a:lstStyle/>
                    <a:p>
                      <a:pPr algn="l">
                        <a:defRPr sz="1000" b="1">
                          <a:solidFill>
                            <a:srgbClr val="FFFFFF"/>
                          </a:solidFill>
                        </a:defRPr>
                      </a:pPr>
                      <a:r>
                        <a:t>Low</a:t>
                      </a:r>
                    </a:p>
                  </a:txBody>
                  <a:tcPr>
                    <a:solidFill>
                      <a:srgbClr val="3366CC"/>
                    </a:solidFill>
                  </a:tcPr>
                </a:tc>
                <a:tc>
                  <a:txBody>
                    <a:bodyPr/>
                    <a:lstStyle/>
                    <a:p>
                      <a:pPr algn="l">
                        <a:defRPr sz="1000">
                          <a:solidFill>
                            <a:srgbClr val="242424"/>
                          </a:solidFill>
                        </a:defRPr>
                      </a:pPr>
                      <a:r>
                        <a:t>Deploy Network Watcher in all regions where you have networking services (networkWatchers)</a:t>
                      </a:r>
                    </a:p>
                  </a:txBody>
                  <a:tcPr>
                    <a:solidFill>
                      <a:srgbClr val="FFFFFF"/>
                    </a:solidFill>
                  </a:tcPr>
                </a:tc>
                <a:tc>
                  <a:txBody>
                    <a:bodyPr/>
                    <a:lstStyle/>
                    <a:p>
                      <a:pPr algn="l">
                        <a:defRPr sz="1000">
                          <a:solidFill>
                            <a:srgbClr val="242424"/>
                          </a:solidFill>
                        </a:defRPr>
                      </a:pPr>
                      <a:r>
                        <a:t>Azure Network Watcher offers tools for monitoring, diagnosing, viewing metrics, and managing logs for IaaS resources. It helps maintain the health of VMs, VNets, application gateways, load balancers, but not for PaaS or Web analytics.</a:t>
                      </a:r>
                    </a:p>
                  </a:txBody>
                  <a:tcPr>
                    <a:solidFill>
                      <a:srgbClr val="FFFFFF"/>
                    </a:solidFill>
                  </a:tcPr>
                </a:tc>
              </a:tr>
              <a:tr h="605790">
                <a:tc>
                  <a:txBody>
                    <a:bodyPr/>
                    <a:lstStyle/>
                    <a:p>
                      <a:pPr algn="l">
                        <a:defRPr sz="1000">
                          <a:solidFill>
                            <a:srgbClr val="242424"/>
                          </a:solidFill>
                        </a:defRPr>
                      </a:pPr>
                      <a:r>
                        <a:t>3</a:t>
                      </a:r>
                    </a:p>
                  </a:txBody>
                  <a:tcPr>
                    <a:solidFill>
                      <a:srgbClr val="FFFFFF"/>
                    </a:solidFill>
                  </a:tcPr>
                </a:tc>
                <a:tc>
                  <a:txBody>
                    <a:bodyPr/>
                    <a:lstStyle/>
                    <a:p>
                      <a:pPr algn="l">
                        <a:defRPr sz="1000">
                          <a:solidFill>
                            <a:srgbClr val="242424"/>
                          </a:solidFill>
                        </a:defRPr>
                      </a:pPr>
                      <a:r>
                        <a:t>APRL-OPE-73D1BB04</a:t>
                      </a:r>
                    </a:p>
                  </a:txBody>
                  <a:tcPr>
                    <a:solidFill>
                      <a:srgbClr val="FFFFFF"/>
                    </a:solidFill>
                  </a:tcPr>
                </a:tc>
                <a:tc>
                  <a:txBody>
                    <a:bodyPr/>
                    <a:lstStyle/>
                    <a:p>
                      <a:pPr algn="l">
                        <a:defRPr sz="1000" b="1">
                          <a:solidFill>
                            <a:srgbClr val="FFFFFF"/>
                          </a:solidFill>
                        </a:defRPr>
                      </a:pPr>
                      <a:r>
                        <a:t>Low</a:t>
                      </a:r>
                    </a:p>
                  </a:txBody>
                  <a:tcPr>
                    <a:solidFill>
                      <a:srgbClr val="3366CC"/>
                    </a:solidFill>
                  </a:tcPr>
                </a:tc>
                <a:tc>
                  <a:txBody>
                    <a:bodyPr/>
                    <a:lstStyle/>
                    <a:p>
                      <a:pPr algn="l">
                        <a:defRPr sz="1000">
                          <a:solidFill>
                            <a:srgbClr val="242424"/>
                          </a:solidFill>
                        </a:defRPr>
                      </a:pPr>
                      <a:r>
                        <a:t>When AccelNet is enabled, you must manually update the GuestOS NIC driver (virtualMachines)</a:t>
                      </a:r>
                    </a:p>
                  </a:txBody>
                  <a:tcPr>
                    <a:solidFill>
                      <a:srgbClr val="FFFFFF"/>
                    </a:solidFill>
                  </a:tcPr>
                </a:tc>
                <a:tc>
                  <a:txBody>
                    <a:bodyPr/>
                    <a:lstStyle/>
                    <a:p>
                      <a:pPr algn="l">
                        <a:defRPr sz="1000">
                          <a:solidFill>
                            <a:srgbClr val="242424"/>
                          </a:solidFill>
                        </a:defRPr>
                      </a:pPr>
                      <a:r>
                        <a:t>When Accelerated Networking is enabled, the default Azure VNet interface in GuestOS is swapped for a Mellanox, and its driver comes from a 3rd party. Marketplace images have the latest Mellanox drivers, but post-deployment, updating the driver is the user's responsibility.</a:t>
                      </a:r>
                    </a:p>
                  </a:txBody>
                  <a:tcPr>
                    <a:solidFill>
                      <a:srgbClr val="FFFFFF"/>
                    </a:solidFill>
                  </a:tcPr>
                </a:tc>
              </a:tr>
              <a:tr h="605790">
                <a:tc>
                  <a:txBody>
                    <a:bodyPr/>
                    <a:lstStyle/>
                    <a:p>
                      <a:pPr algn="l">
                        <a:defRPr sz="1000">
                          <a:solidFill>
                            <a:srgbClr val="242424"/>
                          </a:solidFill>
                        </a:defRPr>
                      </a:pPr>
                      <a:r>
                        <a:t>4</a:t>
                      </a:r>
                    </a:p>
                  </a:txBody>
                  <a:tcPr>
                    <a:solidFill>
                      <a:srgbClr val="FFFFFF"/>
                    </a:solidFill>
                  </a:tcPr>
                </a:tc>
                <a:tc>
                  <a:txBody>
                    <a:bodyPr/>
                    <a:lstStyle/>
                    <a:p>
                      <a:pPr algn="l">
                        <a:defRPr sz="1000">
                          <a:solidFill>
                            <a:srgbClr val="242424"/>
                          </a:solidFill>
                        </a:defRPr>
                      </a:pPr>
                      <a:r>
                        <a:t>APRL-OPE-B72214BB</a:t>
                      </a:r>
                    </a:p>
                  </a:txBody>
                  <a:tcPr>
                    <a:solidFill>
                      <a:srgbClr val="FFFFFF"/>
                    </a:solidFill>
                  </a:tcPr>
                </a:tc>
                <a:tc>
                  <a:txBody>
                    <a:bodyPr/>
                    <a:lstStyle/>
                    <a:p>
                      <a:pPr algn="l">
                        <a:defRPr sz="1000" b="1">
                          <a:solidFill>
                            <a:srgbClr val="FFFFFF"/>
                          </a:solidFill>
                        </a:defRPr>
                      </a:pPr>
                      <a:r>
                        <a:t>Low</a:t>
                      </a:r>
                    </a:p>
                  </a:txBody>
                  <a:tcPr>
                    <a:solidFill>
                      <a:srgbClr val="3366CC"/>
                    </a:solidFill>
                  </a:tcPr>
                </a:tc>
                <a:tc>
                  <a:txBody>
                    <a:bodyPr/>
                    <a:lstStyle/>
                    <a:p>
                      <a:pPr algn="l">
                        <a:defRPr sz="1000">
                          <a:solidFill>
                            <a:srgbClr val="242424"/>
                          </a:solidFill>
                        </a:defRPr>
                      </a:pPr>
                      <a:r>
                        <a:t>Enable VM Insights (virtualMachines)</a:t>
                      </a:r>
                    </a:p>
                  </a:txBody>
                  <a:tcPr>
                    <a:solidFill>
                      <a:srgbClr val="FFFFFF"/>
                    </a:solidFill>
                  </a:tcPr>
                </a:tc>
                <a:tc>
                  <a:txBody>
                    <a:bodyPr/>
                    <a:lstStyle/>
                    <a:p>
                      <a:pPr algn="l">
                        <a:defRPr sz="1000">
                          <a:solidFill>
                            <a:srgbClr val="242424"/>
                          </a:solidFill>
                        </a:defRPr>
                      </a:pPr>
                      <a:r>
                        <a:t>VM Insights monitors VM and scale set performance, health, running processes, and dependencies. It enhances the predictability of application performance and availability by pinpointing performance bottlenecks and network issues, and it clarifies if problems are related to other dependencies.</a:t>
                      </a:r>
                    </a:p>
                  </a:txBody>
                  <a:tcPr>
                    <a:solidFill>
                      <a:srgbClr val="FFFFFF"/>
                    </a:solidFill>
                  </a:tcPr>
                </a:tc>
              </a:tr>
              <a:tr h="605790">
                <a:tc>
                  <a:txBody>
                    <a:bodyPr/>
                    <a:lstStyle/>
                    <a:p>
                      <a:pPr algn="l">
                        <a:defRPr sz="1000">
                          <a:solidFill>
                            <a:srgbClr val="242424"/>
                          </a:solidFill>
                        </a:defRPr>
                      </a:pPr>
                      <a:r>
                        <a:t>5</a:t>
                      </a:r>
                    </a:p>
                  </a:txBody>
                  <a:tcPr>
                    <a:solidFill>
                      <a:srgbClr val="FFFFFF"/>
                    </a:solidFill>
                  </a:tcPr>
                </a:tc>
                <a:tc>
                  <a:txBody>
                    <a:bodyPr/>
                    <a:lstStyle/>
                    <a:p>
                      <a:pPr algn="l">
                        <a:defRPr sz="1000">
                          <a:solidFill>
                            <a:srgbClr val="242424"/>
                          </a:solidFill>
                        </a:defRPr>
                      </a:pPr>
                      <a:r>
                        <a:t>COS-028</a:t>
                      </a:r>
                    </a:p>
                  </a:txBody>
                  <a:tcPr>
                    <a:solidFill>
                      <a:srgbClr val="FFFFFF"/>
                    </a:solidFill>
                  </a:tcPr>
                </a:tc>
                <a:tc>
                  <a:txBody>
                    <a:bodyPr/>
                    <a:lstStyle/>
                    <a:p>
                      <a:pPr algn="l">
                        <a:defRPr sz="1000" b="1">
                          <a:solidFill>
                            <a:srgbClr val="FFFFFF"/>
                          </a:solidFill>
                        </a:defRPr>
                      </a:pPr>
                      <a:r>
                        <a:t>Low</a:t>
                      </a:r>
                    </a:p>
                  </a:txBody>
                  <a:tcPr>
                    <a:solidFill>
                      <a:srgbClr val="3366CC"/>
                    </a:solidFill>
                  </a:tcPr>
                </a:tc>
                <a:tc>
                  <a:txBody>
                    <a:bodyPr/>
                    <a:lstStyle/>
                    <a:p>
                      <a:pPr algn="l">
                        <a:defRPr sz="1000">
                          <a:solidFill>
                            <a:srgbClr val="242424"/>
                          </a:solidFill>
                        </a:defRPr>
                      </a:pPr>
                      <a:r>
                        <a:t>Idle network interfaces</a:t>
                      </a:r>
                    </a:p>
                  </a:txBody>
                  <a:tcPr>
                    <a:solidFill>
                      <a:srgbClr val="FFFFFF"/>
                    </a:solidFill>
                  </a:tcPr>
                </a:tc>
                <a:tc>
                  <a:txBody>
                    <a:bodyPr/>
                    <a:lstStyle/>
                    <a:p>
                      <a:pPr algn="l">
                        <a:defRPr sz="1000">
                          <a:solidFill>
                            <a:srgbClr val="242424"/>
                          </a:solidFill>
                        </a:defRPr>
                      </a:pPr>
                      <a:r>
                        <a:t>Delete unused network interfaces that are no longer attached to virtual machines.</a:t>
                      </a:r>
                    </a:p>
                  </a:txBody>
                  <a:tcPr>
                    <a:solidFill>
                      <a:srgbClr val="FFFFFF"/>
                    </a:solidFill>
                  </a:tcPr>
                </a:tc>
              </a:tr>
              <a:tr h="605790">
                <a:tc>
                  <a:txBody>
                    <a:bodyPr/>
                    <a:lstStyle/>
                    <a:p>
                      <a:pPr algn="l">
                        <a:defRPr sz="1000">
                          <a:solidFill>
                            <a:srgbClr val="242424"/>
                          </a:solidFill>
                        </a:defRPr>
                      </a:pPr>
                      <a:r>
                        <a:t>6</a:t>
                      </a:r>
                    </a:p>
                  </a:txBody>
                  <a:tcPr>
                    <a:solidFill>
                      <a:srgbClr val="FFFFFF"/>
                    </a:solidFill>
                  </a:tcPr>
                </a:tc>
                <a:tc>
                  <a:txBody>
                    <a:bodyPr/>
                    <a:lstStyle/>
                    <a:p>
                      <a:pPr algn="l">
                        <a:defRPr sz="1000">
                          <a:solidFill>
                            <a:srgbClr val="242424"/>
                          </a:solidFill>
                        </a:defRPr>
                      </a:pPr>
                      <a:r>
                        <a:t>OPE-013</a:t>
                      </a:r>
                    </a:p>
                  </a:txBody>
                  <a:tcPr>
                    <a:solidFill>
                      <a:srgbClr val="FFFFFF"/>
                    </a:solidFill>
                  </a:tcPr>
                </a:tc>
                <a:tc>
                  <a:txBody>
                    <a:bodyPr/>
                    <a:lstStyle/>
                    <a:p>
                      <a:pPr algn="l">
                        <a:defRPr sz="1000" b="1">
                          <a:solidFill>
                            <a:srgbClr val="FFFFFF"/>
                          </a:solidFill>
                        </a:defRPr>
                      </a:pPr>
                      <a:r>
                        <a:t>Low</a:t>
                      </a:r>
                    </a:p>
                  </a:txBody>
                  <a:tcPr>
                    <a:solidFill>
                      <a:srgbClr val="3366CC"/>
                    </a:solidFill>
                  </a:tcPr>
                </a:tc>
                <a:tc>
                  <a:txBody>
                    <a:bodyPr/>
                    <a:lstStyle/>
                    <a:p>
                      <a:pPr algn="l">
                        <a:defRPr sz="1000">
                          <a:solidFill>
                            <a:srgbClr val="242424"/>
                          </a:solidFill>
                        </a:defRPr>
                      </a:pPr>
                      <a:r>
                        <a:t>Storage accounts without diagnostic logging</a:t>
                      </a:r>
                    </a:p>
                  </a:txBody>
                  <a:tcPr>
                    <a:solidFill>
                      <a:srgbClr val="FFFFFF"/>
                    </a:solidFill>
                  </a:tcPr>
                </a:tc>
                <a:tc>
                  <a:txBody>
                    <a:bodyPr/>
                    <a:lstStyle/>
                    <a:p>
                      <a:pPr algn="l">
                        <a:defRPr sz="1000">
                          <a:solidFill>
                            <a:srgbClr val="242424"/>
                          </a:solidFill>
                        </a:defRPr>
                      </a:pPr>
                      <a:r>
                        <a:t>Configure storage account diagnostic settings to forward logs and metrics for operations and investigations.</a:t>
                      </a:r>
                    </a:p>
                  </a:txBody>
                  <a:tcPr>
                    <a:solidFill>
                      <a:srgbClr val="FFFFFF"/>
                    </a:solidFill>
                  </a:tcPr>
                </a:tc>
              </a:tr>
              <a:tr h="605790">
                <a:tc>
                  <a:txBody>
                    <a:bodyPr/>
                    <a:lstStyle/>
                    <a:p>
                      <a:pPr algn="l">
                        <a:defRPr sz="1000">
                          <a:solidFill>
                            <a:srgbClr val="242424"/>
                          </a:solidFill>
                        </a:defRPr>
                      </a:pPr>
                      <a:r>
                        <a:t>7</a:t>
                      </a:r>
                    </a:p>
                  </a:txBody>
                  <a:tcPr>
                    <a:solidFill>
                      <a:srgbClr val="FFFFFF"/>
                    </a:solidFill>
                  </a:tcPr>
                </a:tc>
                <a:tc>
                  <a:txBody>
                    <a:bodyPr/>
                    <a:lstStyle/>
                    <a:p>
                      <a:pPr algn="l">
                        <a:defRPr sz="1000">
                          <a:solidFill>
                            <a:srgbClr val="242424"/>
                          </a:solidFill>
                        </a:defRPr>
                      </a:pPr>
                      <a:r>
                        <a:t>PER-001</a:t>
                      </a:r>
                    </a:p>
                  </a:txBody>
                  <a:tcPr>
                    <a:solidFill>
                      <a:srgbClr val="FFFFFF"/>
                    </a:solidFill>
                  </a:tcPr>
                </a:tc>
                <a:tc>
                  <a:txBody>
                    <a:bodyPr/>
                    <a:lstStyle/>
                    <a:p>
                      <a:pPr algn="l">
                        <a:defRPr sz="1000" b="1">
                          <a:solidFill>
                            <a:srgbClr val="FFFFFF"/>
                          </a:solidFill>
                        </a:defRPr>
                      </a:pPr>
                      <a:r>
                        <a:t>Low</a:t>
                      </a:r>
                    </a:p>
                  </a:txBody>
                  <a:tcPr>
                    <a:solidFill>
                      <a:srgbClr val="3366CC"/>
                    </a:solidFill>
                  </a:tcPr>
                </a:tc>
                <a:tc>
                  <a:txBody>
                    <a:bodyPr/>
                    <a:lstStyle/>
                    <a:p>
                      <a:pPr algn="l">
                        <a:defRPr sz="1000">
                          <a:solidFill>
                            <a:srgbClr val="242424"/>
                          </a:solidFill>
                        </a:defRPr>
                      </a:pPr>
                      <a:r>
                        <a:t>Storage accounts using legacy SKU</a:t>
                      </a:r>
                    </a:p>
                  </a:txBody>
                  <a:tcPr>
                    <a:solidFill>
                      <a:srgbClr val="FFFFFF"/>
                    </a:solidFill>
                  </a:tcPr>
                </a:tc>
                <a:tc>
                  <a:txBody>
                    <a:bodyPr/>
                    <a:lstStyle/>
                    <a:p>
                      <a:pPr algn="l">
                        <a:defRPr sz="1000">
                          <a:solidFill>
                            <a:srgbClr val="242424"/>
                          </a:solidFill>
                        </a:defRPr>
                      </a:pPr>
                      <a:r>
                        <a:t>Evaluate if ZRS or GRS replication is appropriate for production workloads.</a:t>
                      </a:r>
                    </a:p>
                  </a:txBody>
                  <a:tcPr>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972800" cy="731520"/>
          </a:xfrm>
          <a:prstGeom prst="rect">
            <a:avLst/>
          </a:prstGeom>
          <a:noFill/>
        </p:spPr>
        <p:txBody>
          <a:bodyPr wrap="none">
            <a:spAutoFit/>
          </a:bodyPr>
          <a:lstStyle/>
          <a:p>
            <a:pPr algn="l">
              <a:defRPr sz="2800" b="1">
                <a:solidFill>
                  <a:srgbClr val="242424"/>
                </a:solidFill>
              </a:defRPr>
            </a:pPr>
            <a:r>
              <a:t>Remediation Roadmap</a:t>
            </a:r>
          </a:p>
        </p:txBody>
      </p:sp>
      <p:sp>
        <p:nvSpPr>
          <p:cNvPr id="3" name="TextBox 2"/>
          <p:cNvSpPr txBox="1"/>
          <p:nvPr/>
        </p:nvSpPr>
        <p:spPr>
          <a:xfrm>
            <a:off x="8686800" y="6400800"/>
            <a:ext cx="2926080" cy="228600"/>
          </a:xfrm>
          <a:prstGeom prst="rect">
            <a:avLst/>
          </a:prstGeom>
          <a:noFill/>
        </p:spPr>
        <p:txBody>
          <a:bodyPr wrap="none">
            <a:spAutoFit/>
          </a:bodyPr>
          <a:lstStyle/>
          <a:p>
            <a:pPr algn="r">
              <a:defRPr sz="800">
                <a:solidFill>
                  <a:srgbClr val="999999"/>
                </a:solidFill>
                <a:latin typeface="Segoe UI"/>
              </a:defRPr>
            </a:pPr>
            <a:r>
              <a:t>AUTOMATICALLY GENERATED — Please Review</a:t>
            </a:r>
          </a:p>
        </p:txBody>
      </p:sp>
      <p:graphicFrame>
        <p:nvGraphicFramePr>
          <p:cNvPr id="4" name="Table 3"/>
          <p:cNvGraphicFramePr>
            <a:graphicFrameLocks noGrp="1"/>
          </p:cNvGraphicFramePr>
          <p:nvPr/>
        </p:nvGraphicFramePr>
        <p:xfrm>
          <a:off x="457200" y="1371600"/>
          <a:ext cx="10972800" cy="4572000"/>
        </p:xfrm>
        <a:graphic>
          <a:graphicData uri="http://schemas.openxmlformats.org/drawingml/2006/table">
            <a:tbl>
              <a:tblPr firstRow="1" bandRow="1">
                <a:tableStyleId>{5C22544A-7EE6-4342-B048-85BDC9FD1C3A}</a:tableStyleId>
              </a:tblPr>
              <a:tblGrid>
                <a:gridCol w="731520"/>
                <a:gridCol w="1097280"/>
                <a:gridCol w="1097280"/>
                <a:gridCol w="3657600"/>
                <a:gridCol w="4389120"/>
              </a:tblGrid>
              <a:tr h="415636">
                <a:tc>
                  <a:txBody>
                    <a:bodyPr/>
                    <a:lstStyle/>
                    <a:p>
                      <a:pPr algn="l">
                        <a:defRPr sz="1200" b="1">
                          <a:solidFill>
                            <a:srgbClr val="FFFFFF"/>
                          </a:solidFill>
                        </a:defRPr>
                      </a:pPr>
                      <a:r>
                        <a:t>Priority</a:t>
                      </a:r>
                    </a:p>
                  </a:txBody>
                  <a:tcPr>
                    <a:solidFill>
                      <a:srgbClr val="0078D4"/>
                    </a:solidFill>
                  </a:tcPr>
                </a:tc>
                <a:tc>
                  <a:txBody>
                    <a:bodyPr/>
                    <a:lstStyle/>
                    <a:p>
                      <a:pPr algn="l">
                        <a:defRPr sz="1200" b="1">
                          <a:solidFill>
                            <a:srgbClr val="FFFFFF"/>
                          </a:solidFill>
                        </a:defRPr>
                      </a:pPr>
                      <a:r>
                        <a:t>Rule ID</a:t>
                      </a:r>
                    </a:p>
                  </a:txBody>
                  <a:tcPr>
                    <a:solidFill>
                      <a:srgbClr val="0078D4"/>
                    </a:solidFill>
                  </a:tcPr>
                </a:tc>
                <a:tc>
                  <a:txBody>
                    <a:bodyPr/>
                    <a:lstStyle/>
                    <a:p>
                      <a:pPr algn="l">
                        <a:defRPr sz="1200" b="1">
                          <a:solidFill>
                            <a:srgbClr val="FFFFFF"/>
                          </a:solidFill>
                        </a:defRPr>
                      </a:pPr>
                      <a:r>
                        <a:t>Severity</a:t>
                      </a:r>
                    </a:p>
                  </a:txBody>
                  <a:tcPr>
                    <a:solidFill>
                      <a:srgbClr val="0078D4"/>
                    </a:solidFill>
                  </a:tcPr>
                </a:tc>
                <a:tc>
                  <a:txBody>
                    <a:bodyPr/>
                    <a:lstStyle/>
                    <a:p>
                      <a:pPr algn="l">
                        <a:defRPr sz="1200" b="1">
                          <a:solidFill>
                            <a:srgbClr val="FFFFFF"/>
                          </a:solidFill>
                        </a:defRPr>
                      </a:pPr>
                      <a:r>
                        <a:t>Title</a:t>
                      </a:r>
                    </a:p>
                  </a:txBody>
                  <a:tcPr>
                    <a:solidFill>
                      <a:srgbClr val="0078D4"/>
                    </a:solidFill>
                  </a:tcPr>
                </a:tc>
                <a:tc>
                  <a:txBody>
                    <a:bodyPr/>
                    <a:lstStyle/>
                    <a:p>
                      <a:pPr algn="l">
                        <a:defRPr sz="1200" b="1">
                          <a:solidFill>
                            <a:srgbClr val="FFFFFF"/>
                          </a:solidFill>
                        </a:defRPr>
                      </a:pPr>
                      <a:r>
                        <a:t>Recommendation</a:t>
                      </a:r>
                    </a:p>
                  </a:txBody>
                  <a:tcPr>
                    <a:solidFill>
                      <a:srgbClr val="0078D4"/>
                    </a:solidFill>
                  </a:tcPr>
                </a:tc>
              </a:tr>
              <a:tr h="415636">
                <a:tc>
                  <a:txBody>
                    <a:bodyPr/>
                    <a:lstStyle/>
                    <a:p>
                      <a:pPr algn="l">
                        <a:defRPr sz="1000">
                          <a:solidFill>
                            <a:srgbClr val="242424"/>
                          </a:solidFill>
                        </a:defRPr>
                      </a:pPr>
                      <a:r>
                        <a:t>1</a:t>
                      </a:r>
                    </a:p>
                  </a:txBody>
                  <a:tcPr>
                    <a:solidFill>
                      <a:srgbClr val="FFFFFF"/>
                    </a:solidFill>
                  </a:tcPr>
                </a:tc>
                <a:tc>
                  <a:txBody>
                    <a:bodyPr/>
                    <a:lstStyle/>
                    <a:p>
                      <a:pPr algn="l">
                        <a:defRPr sz="1000">
                          <a:solidFill>
                            <a:srgbClr val="242424"/>
                          </a:solidFill>
                        </a:defRPr>
                      </a:pPr>
                      <a:r>
                        <a:t>SEC-010</a:t>
                      </a:r>
                    </a:p>
                  </a:txBody>
                  <a:tcPr>
                    <a:solidFill>
                      <a:srgbClr val="FFFFFF"/>
                    </a:solidFill>
                  </a:tcPr>
                </a:tc>
                <a:tc>
                  <a:txBody>
                    <a:bodyPr/>
                    <a:lstStyle/>
                    <a:p>
                      <a:pPr algn="l">
                        <a:defRPr sz="1000" b="1">
                          <a:solidFill>
                            <a:srgbClr val="FFFFFF"/>
                          </a:solidFill>
                        </a:defRPr>
                      </a:pPr>
                      <a:r>
                        <a:t>Critical</a:t>
                      </a:r>
                    </a:p>
                  </a:txBody>
                  <a:tcPr>
                    <a:solidFill>
                      <a:srgbClr val="CC0000"/>
                    </a:solidFill>
                  </a:tcPr>
                </a:tc>
                <a:tc>
                  <a:txBody>
                    <a:bodyPr/>
                    <a:lstStyle/>
                    <a:p>
                      <a:pPr algn="l">
                        <a:defRPr sz="1000">
                          <a:solidFill>
                            <a:srgbClr val="242424"/>
                          </a:solidFill>
                        </a:defRPr>
                      </a:pPr>
                      <a:r>
                        <a:t>Defender for Cloud enabled on subscriptions</a:t>
                      </a:r>
                    </a:p>
                  </a:txBody>
                  <a:tcPr>
                    <a:solidFill>
                      <a:srgbClr val="FFFFFF"/>
                    </a:solidFill>
                  </a:tcPr>
                </a:tc>
                <a:tc>
                  <a:txBody>
                    <a:bodyPr/>
                    <a:lstStyle/>
                    <a:p>
                      <a:pPr algn="l">
                        <a:defRPr sz="1000">
                          <a:solidFill>
                            <a:srgbClr val="242424"/>
                          </a:solidFill>
                        </a:defRPr>
                      </a:pPr>
                      <a:r>
                        <a:t>Enable Defender for Cloud Standard tier on all subscriptions.</a:t>
                      </a:r>
                    </a:p>
                  </a:txBody>
                  <a:tcPr>
                    <a:solidFill>
                      <a:srgbClr val="FFFFFF"/>
                    </a:solidFill>
                  </a:tcPr>
                </a:tc>
              </a:tr>
              <a:tr h="415636">
                <a:tc>
                  <a:txBody>
                    <a:bodyPr/>
                    <a:lstStyle/>
                    <a:p>
                      <a:pPr algn="l">
                        <a:defRPr sz="1000">
                          <a:solidFill>
                            <a:srgbClr val="242424"/>
                          </a:solidFill>
                        </a:defRPr>
                      </a:pPr>
                      <a:r>
                        <a:t>2</a:t>
                      </a:r>
                    </a:p>
                  </a:txBody>
                  <a:tcPr>
                    <a:solidFill>
                      <a:srgbClr val="FFFFFF"/>
                    </a:solidFill>
                  </a:tcPr>
                </a:tc>
                <a:tc>
                  <a:txBody>
                    <a:bodyPr/>
                    <a:lstStyle/>
                    <a:p>
                      <a:pPr algn="l">
                        <a:defRPr sz="1000">
                          <a:solidFill>
                            <a:srgbClr val="242424"/>
                          </a:solidFill>
                        </a:defRPr>
                      </a:pPr>
                      <a:r>
                        <a:t>APRL-PER-DF0FF862</a:t>
                      </a:r>
                    </a:p>
                  </a:txBody>
                  <a:tcPr>
                    <a:solidFill>
                      <a:srgbClr val="FFFFFF"/>
                    </a:solidFill>
                  </a:tcPr>
                </a:tc>
                <a:tc>
                  <a:txBody>
                    <a:bodyPr/>
                    <a:lstStyle/>
                    <a:p>
                      <a:pPr algn="l">
                        <a:defRPr sz="1000" b="1">
                          <a:solidFill>
                            <a:srgbClr val="FFFFFF"/>
                          </a:solidFill>
                        </a:defRPr>
                      </a:pPr>
                      <a:r>
                        <a:t>High</a:t>
                      </a:r>
                    </a:p>
                  </a:txBody>
                  <a:tcPr>
                    <a:solidFill>
                      <a:srgbClr val="E67300"/>
                    </a:solidFill>
                  </a:tcPr>
                </a:tc>
                <a:tc>
                  <a:txBody>
                    <a:bodyPr/>
                    <a:lstStyle/>
                    <a:p>
                      <a:pPr algn="l">
                        <a:defRPr sz="1000">
                          <a:solidFill>
                            <a:srgbClr val="242424"/>
                          </a:solidFill>
                        </a:defRPr>
                      </a:pPr>
                      <a:r>
                        <a:t>Mission Critical Workloads should consider using Premium or Ultra Disks (virtualMachines)</a:t>
                      </a:r>
                    </a:p>
                  </a:txBody>
                  <a:tcPr>
                    <a:solidFill>
                      <a:srgbClr val="FFFFFF"/>
                    </a:solidFill>
                  </a:tcPr>
                </a:tc>
                <a:tc>
                  <a:txBody>
                    <a:bodyPr/>
                    <a:lstStyle/>
                    <a:p>
                      <a:pPr algn="l">
                        <a:defRPr sz="1000">
                          <a:solidFill>
                            <a:srgbClr val="242424"/>
                          </a:solidFill>
                        </a:defRPr>
                      </a:pPr>
                      <a:r>
                        <a:t>Compared to Standard HDD and SSD, Premium SSD, SSD v2, and Ultra Disks offer improved performance, configurability, and higher single-instance VM uptime SLAs. The lowest SLA of all disks on a VM applies, so it is best to use Premium or Ultra Disks for the highest uptime SLA.</a:t>
                      </a:r>
                    </a:p>
                  </a:txBody>
                  <a:tcPr>
                    <a:solidFill>
                      <a:srgbClr val="FFFFFF"/>
                    </a:solidFill>
                  </a:tcPr>
                </a:tc>
              </a:tr>
              <a:tr h="415636">
                <a:tc>
                  <a:txBody>
                    <a:bodyPr/>
                    <a:lstStyle/>
                    <a:p>
                      <a:pPr algn="l">
                        <a:defRPr sz="1000">
                          <a:solidFill>
                            <a:srgbClr val="242424"/>
                          </a:solidFill>
                        </a:defRPr>
                      </a:pPr>
                      <a:r>
                        <a:t>3</a:t>
                      </a:r>
                    </a:p>
                  </a:txBody>
                  <a:tcPr>
                    <a:solidFill>
                      <a:srgbClr val="FFFFFF"/>
                    </a:solidFill>
                  </a:tcPr>
                </a:tc>
                <a:tc>
                  <a:txBody>
                    <a:bodyPr/>
                    <a:lstStyle/>
                    <a:p>
                      <a:pPr algn="l">
                        <a:defRPr sz="1000">
                          <a:solidFill>
                            <a:srgbClr val="242424"/>
                          </a:solidFill>
                        </a:defRPr>
                      </a:pPr>
                      <a:r>
                        <a:t>APRL-REL-273F6B30</a:t>
                      </a:r>
                    </a:p>
                  </a:txBody>
                  <a:tcPr>
                    <a:solidFill>
                      <a:srgbClr val="FFFFFF"/>
                    </a:solidFill>
                  </a:tcPr>
                </a:tc>
                <a:tc>
                  <a:txBody>
                    <a:bodyPr/>
                    <a:lstStyle/>
                    <a:p>
                      <a:pPr algn="l">
                        <a:defRPr sz="1000" b="1">
                          <a:solidFill>
                            <a:srgbClr val="FFFFFF"/>
                          </a:solidFill>
                        </a:defRPr>
                      </a:pPr>
                      <a:r>
                        <a:t>High</a:t>
                      </a:r>
                    </a:p>
                  </a:txBody>
                  <a:tcPr>
                    <a:solidFill>
                      <a:srgbClr val="E67300"/>
                    </a:solidFill>
                  </a:tcPr>
                </a:tc>
                <a:tc>
                  <a:txBody>
                    <a:bodyPr/>
                    <a:lstStyle/>
                    <a:p>
                      <a:pPr algn="l">
                        <a:defRPr sz="1000">
                          <a:solidFill>
                            <a:srgbClr val="242424"/>
                          </a:solidFill>
                        </a:defRPr>
                      </a:pPr>
                      <a:r>
                        <a:t>Run production workloads on two or more VMs using VMSS Flex (virtualMachines)</a:t>
                      </a:r>
                    </a:p>
                  </a:txBody>
                  <a:tcPr>
                    <a:solidFill>
                      <a:srgbClr val="FFFFFF"/>
                    </a:solidFill>
                  </a:tcPr>
                </a:tc>
                <a:tc>
                  <a:txBody>
                    <a:bodyPr/>
                    <a:lstStyle/>
                    <a:p>
                      <a:pPr algn="l">
                        <a:defRPr sz="1000">
                          <a:solidFill>
                            <a:srgbClr val="242424"/>
                          </a:solidFill>
                        </a:defRPr>
                      </a:pPr>
                      <a:r>
                        <a:t>Production VM workloads should be deployed on multiple VMs and grouped in a VMSS Flex instance to intelligently distribute across the platform, minimizing the impact of platform faults and updates.</a:t>
                      </a:r>
                    </a:p>
                  </a:txBody>
                  <a:tcPr>
                    <a:solidFill>
                      <a:srgbClr val="FFFFFF"/>
                    </a:solidFill>
                  </a:tcPr>
                </a:tc>
              </a:tr>
              <a:tr h="415636">
                <a:tc>
                  <a:txBody>
                    <a:bodyPr/>
                    <a:lstStyle/>
                    <a:p>
                      <a:pPr algn="l">
                        <a:defRPr sz="1000">
                          <a:solidFill>
                            <a:srgbClr val="242424"/>
                          </a:solidFill>
                        </a:defRPr>
                      </a:pPr>
                      <a:r>
                        <a:t>4</a:t>
                      </a:r>
                    </a:p>
                  </a:txBody>
                  <a:tcPr>
                    <a:solidFill>
                      <a:srgbClr val="FFFFFF"/>
                    </a:solidFill>
                  </a:tcPr>
                </a:tc>
                <a:tc>
                  <a:txBody>
                    <a:bodyPr/>
                    <a:lstStyle/>
                    <a:p>
                      <a:pPr algn="l">
                        <a:defRPr sz="1000">
                          <a:solidFill>
                            <a:srgbClr val="242424"/>
                          </a:solidFill>
                        </a:defRPr>
                      </a:pPr>
                      <a:r>
                        <a:t>APRL-REL-2BD0BE95</a:t>
                      </a:r>
                    </a:p>
                  </a:txBody>
                  <a:tcPr>
                    <a:solidFill>
                      <a:srgbClr val="FFFFFF"/>
                    </a:solidFill>
                  </a:tcPr>
                </a:tc>
                <a:tc>
                  <a:txBody>
                    <a:bodyPr/>
                    <a:lstStyle/>
                    <a:p>
                      <a:pPr algn="l">
                        <a:defRPr sz="1000" b="1">
                          <a:solidFill>
                            <a:srgbClr val="FFFFFF"/>
                          </a:solidFill>
                        </a:defRPr>
                      </a:pPr>
                      <a:r>
                        <a:t>High</a:t>
                      </a:r>
                    </a:p>
                  </a:txBody>
                  <a:tcPr>
                    <a:solidFill>
                      <a:srgbClr val="E67300"/>
                    </a:solidFill>
                  </a:tcPr>
                </a:tc>
                <a:tc>
                  <a:txBody>
                    <a:bodyPr/>
                    <a:lstStyle/>
                    <a:p>
                      <a:pPr algn="l">
                        <a:defRPr sz="1000">
                          <a:solidFill>
                            <a:srgbClr val="242424"/>
                          </a:solidFill>
                        </a:defRPr>
                      </a:pPr>
                      <a:r>
                        <a:t>Deploy VMs across Availability Zones (virtualMachines)</a:t>
                      </a:r>
                    </a:p>
                  </a:txBody>
                  <a:tcPr>
                    <a:solidFill>
                      <a:srgbClr val="FFFFFF"/>
                    </a:solidFill>
                  </a:tcPr>
                </a:tc>
                <a:tc>
                  <a:txBody>
                    <a:bodyPr/>
                    <a:lstStyle/>
                    <a:p>
                      <a:pPr algn="l">
                        <a:defRPr sz="1000">
                          <a:solidFill>
                            <a:srgbClr val="242424"/>
                          </a:solidFill>
                        </a:defRPr>
                      </a:pPr>
                      <a:r>
                        <a:t>Azure Availability Zones, within each Azure region, are tolerant to local failures, protecting applications and data against unlikely Datacenter failures by being physically separate.</a:t>
                      </a:r>
                    </a:p>
                  </a:txBody>
                  <a:tcPr>
                    <a:solidFill>
                      <a:srgbClr val="FFFFFF"/>
                    </a:solidFill>
                  </a:tcPr>
                </a:tc>
              </a:tr>
              <a:tr h="415636">
                <a:tc>
                  <a:txBody>
                    <a:bodyPr/>
                    <a:lstStyle/>
                    <a:p>
                      <a:pPr algn="l">
                        <a:defRPr sz="1000">
                          <a:solidFill>
                            <a:srgbClr val="242424"/>
                          </a:solidFill>
                        </a:defRPr>
                      </a:pPr>
                      <a:r>
                        <a:t>5</a:t>
                      </a:r>
                    </a:p>
                  </a:txBody>
                  <a:tcPr>
                    <a:solidFill>
                      <a:srgbClr val="FFFFFF"/>
                    </a:solidFill>
                  </a:tcPr>
                </a:tc>
                <a:tc>
                  <a:txBody>
                    <a:bodyPr/>
                    <a:lstStyle/>
                    <a:p>
                      <a:pPr algn="l">
                        <a:defRPr sz="1000">
                          <a:solidFill>
                            <a:srgbClr val="242424"/>
                          </a:solidFill>
                        </a:defRPr>
                      </a:pPr>
                      <a:r>
                        <a:t>APRL-REL-C63B81FB</a:t>
                      </a:r>
                    </a:p>
                  </a:txBody>
                  <a:tcPr>
                    <a:solidFill>
                      <a:srgbClr val="FFFFFF"/>
                    </a:solidFill>
                  </a:tcPr>
                </a:tc>
                <a:tc>
                  <a:txBody>
                    <a:bodyPr/>
                    <a:lstStyle/>
                    <a:p>
                      <a:pPr algn="l">
                        <a:defRPr sz="1000" b="1">
                          <a:solidFill>
                            <a:srgbClr val="FFFFFF"/>
                          </a:solidFill>
                        </a:defRPr>
                      </a:pPr>
                      <a:r>
                        <a:t>High</a:t>
                      </a:r>
                    </a:p>
                  </a:txBody>
                  <a:tcPr>
                    <a:solidFill>
                      <a:srgbClr val="E67300"/>
                    </a:solidFill>
                  </a:tcPr>
                </a:tc>
                <a:tc>
                  <a:txBody>
                    <a:bodyPr/>
                    <a:lstStyle/>
                    <a:p>
                      <a:pPr algn="l">
                        <a:defRPr sz="1000">
                          <a:solidFill>
                            <a:srgbClr val="242424"/>
                          </a:solidFill>
                        </a:defRPr>
                      </a:pPr>
                      <a:r>
                        <a:t>Use Standard SKU and Zone-Redundant IPs when applicable (publicIPAddresses)</a:t>
                      </a:r>
                    </a:p>
                  </a:txBody>
                  <a:tcPr>
                    <a:solidFill>
                      <a:srgbClr val="FFFFFF"/>
                    </a:solidFill>
                  </a:tcPr>
                </a:tc>
                <a:tc>
                  <a:txBody>
                    <a:bodyPr/>
                    <a:lstStyle/>
                    <a:p>
                      <a:pPr algn="l">
                        <a:defRPr sz="1000">
                          <a:solidFill>
                            <a:srgbClr val="242424"/>
                          </a:solidFill>
                        </a:defRPr>
                      </a:pPr>
                      <a:r>
                        <a:t>Public IP addresses in Azure can be of standard SKU, available as non-zonal, zonal, or zone-redundant. Zone-redundant IPs are accessible across all zones, resisting any single zone failure, thereby providing higher resilience.</a:t>
                      </a:r>
                    </a:p>
                  </a:txBody>
                  <a:tcPr>
                    <a:solidFill>
                      <a:srgbClr val="FFFFFF"/>
                    </a:solidFill>
                  </a:tcPr>
                </a:tc>
              </a:tr>
              <a:tr h="415636">
                <a:tc>
                  <a:txBody>
                    <a:bodyPr/>
                    <a:lstStyle/>
                    <a:p>
                      <a:pPr algn="l">
                        <a:defRPr sz="1000">
                          <a:solidFill>
                            <a:srgbClr val="242424"/>
                          </a:solidFill>
                        </a:defRPr>
                      </a:pPr>
                      <a:r>
                        <a:t>6</a:t>
                      </a:r>
                    </a:p>
                  </a:txBody>
                  <a:tcPr>
                    <a:solidFill>
                      <a:srgbClr val="FFFFFF"/>
                    </a:solidFill>
                  </a:tcPr>
                </a:tc>
                <a:tc>
                  <a:txBody>
                    <a:bodyPr/>
                    <a:lstStyle/>
                    <a:p>
                      <a:pPr algn="l">
                        <a:defRPr sz="1000">
                          <a:solidFill>
                            <a:srgbClr val="242424"/>
                          </a:solidFill>
                        </a:defRPr>
                      </a:pPr>
                      <a:r>
                        <a:t>APRL-REL-E6C7E1CC</a:t>
                      </a:r>
                    </a:p>
                  </a:txBody>
                  <a:tcPr>
                    <a:solidFill>
                      <a:srgbClr val="FFFFFF"/>
                    </a:solidFill>
                  </a:tcPr>
                </a:tc>
                <a:tc>
                  <a:txBody>
                    <a:bodyPr/>
                    <a:lstStyle/>
                    <a:p>
                      <a:pPr algn="l">
                        <a:defRPr sz="1000" b="1">
                          <a:solidFill>
                            <a:srgbClr val="FFFFFF"/>
                          </a:solidFill>
                        </a:defRPr>
                      </a:pPr>
                      <a:r>
                        <a:t>High</a:t>
                      </a:r>
                    </a:p>
                  </a:txBody>
                  <a:tcPr>
                    <a:solidFill>
                      <a:srgbClr val="E67300"/>
                    </a:solidFill>
                  </a:tcPr>
                </a:tc>
                <a:tc>
                  <a:txBody>
                    <a:bodyPr/>
                    <a:lstStyle/>
                    <a:p>
                      <a:pPr algn="l">
                        <a:defRPr sz="1000">
                          <a:solidFill>
                            <a:srgbClr val="242424"/>
                          </a:solidFill>
                        </a:defRPr>
                      </a:pPr>
                      <a:r>
                        <a:t>Ensure that storage accounts are zone or region redundant (storageAccounts)</a:t>
                      </a:r>
                    </a:p>
                  </a:txBody>
                  <a:tcPr>
                    <a:solidFill>
                      <a:srgbClr val="FFFFFF"/>
                    </a:solidFill>
                  </a:tcPr>
                </a:tc>
                <a:tc>
                  <a:txBody>
                    <a:bodyPr/>
                    <a:lstStyle/>
                    <a:p>
                      <a:pPr algn="l">
                        <a:defRPr sz="1000">
                          <a:solidFill>
                            <a:srgbClr val="242424"/>
                          </a:solidFill>
                        </a:defRPr>
                      </a:pPr>
                      <a:r>
                        <a:t>Redundancy ensures storage accounts meet availability and durability targets amidst failures, weighing lower costs against higher availability. Locally redundant storage offers the least durability at the lowest cost.</a:t>
                      </a:r>
                    </a:p>
                  </a:txBody>
                  <a:tcPr>
                    <a:solidFill>
                      <a:srgbClr val="FFFFFF"/>
                    </a:solidFill>
                  </a:tcPr>
                </a:tc>
              </a:tr>
              <a:tr h="415636">
                <a:tc>
                  <a:txBody>
                    <a:bodyPr/>
                    <a:lstStyle/>
                    <a:p>
                      <a:pPr algn="l">
                        <a:defRPr sz="1000">
                          <a:solidFill>
                            <a:srgbClr val="242424"/>
                          </a:solidFill>
                        </a:defRPr>
                      </a:pPr>
                      <a:r>
                        <a:t>7</a:t>
                      </a:r>
                    </a:p>
                  </a:txBody>
                  <a:tcPr>
                    <a:solidFill>
                      <a:srgbClr val="FFFFFF"/>
                    </a:solidFill>
                  </a:tcPr>
                </a:tc>
                <a:tc>
                  <a:txBody>
                    <a:bodyPr/>
                    <a:lstStyle/>
                    <a:p>
                      <a:pPr algn="l">
                        <a:defRPr sz="1000">
                          <a:solidFill>
                            <a:srgbClr val="242424"/>
                          </a:solidFill>
                        </a:defRPr>
                      </a:pPr>
                      <a:r>
                        <a:t>COS-001</a:t>
                      </a:r>
                    </a:p>
                  </a:txBody>
                  <a:tcPr>
                    <a:solidFill>
                      <a:srgbClr val="FFFFFF"/>
                    </a:solidFill>
                  </a:tcPr>
                </a:tc>
                <a:tc>
                  <a:txBody>
                    <a:bodyPr/>
                    <a:lstStyle/>
                    <a:p>
                      <a:pPr algn="l">
                        <a:defRPr sz="1000" b="1">
                          <a:solidFill>
                            <a:srgbClr val="FFFFFF"/>
                          </a:solidFill>
                        </a:defRPr>
                      </a:pPr>
                      <a:r>
                        <a:t>High</a:t>
                      </a:r>
                    </a:p>
                  </a:txBody>
                  <a:tcPr>
                    <a:solidFill>
                      <a:srgbClr val="E67300"/>
                    </a:solidFill>
                  </a:tcPr>
                </a:tc>
                <a:tc>
                  <a:txBody>
                    <a:bodyPr/>
                    <a:lstStyle/>
                    <a:p>
                      <a:pPr algn="l">
                        <a:defRPr sz="1000">
                          <a:solidFill>
                            <a:srgbClr val="242424"/>
                          </a:solidFill>
                        </a:defRPr>
                      </a:pPr>
                      <a:r>
                        <a:t>No budget resources found</a:t>
                      </a:r>
                    </a:p>
                  </a:txBody>
                  <a:tcPr>
                    <a:solidFill>
                      <a:srgbClr val="FFFFFF"/>
                    </a:solidFill>
                  </a:tcPr>
                </a:tc>
                <a:tc>
                  <a:txBody>
                    <a:bodyPr/>
                    <a:lstStyle/>
                    <a:p>
                      <a:pPr algn="l">
                        <a:defRPr sz="1000">
                          <a:solidFill>
                            <a:srgbClr val="242424"/>
                          </a:solidFill>
                        </a:defRPr>
                      </a:pPr>
                      <a:r>
                        <a:t>Create budget resources with 80/100/120% forecast alerts.</a:t>
                      </a:r>
                    </a:p>
                  </a:txBody>
                  <a:tcPr>
                    <a:solidFill>
                      <a:srgbClr val="FFFFFF"/>
                    </a:solidFill>
                  </a:tcPr>
                </a:tc>
              </a:tr>
              <a:tr h="415636">
                <a:tc>
                  <a:txBody>
                    <a:bodyPr/>
                    <a:lstStyle/>
                    <a:p>
                      <a:pPr algn="l">
                        <a:defRPr sz="1000">
                          <a:solidFill>
                            <a:srgbClr val="242424"/>
                          </a:solidFill>
                        </a:defRPr>
                      </a:pPr>
                      <a:r>
                        <a:t>8</a:t>
                      </a:r>
                    </a:p>
                  </a:txBody>
                  <a:tcPr>
                    <a:solidFill>
                      <a:srgbClr val="FFFFFF"/>
                    </a:solidFill>
                  </a:tcPr>
                </a:tc>
                <a:tc>
                  <a:txBody>
                    <a:bodyPr/>
                    <a:lstStyle/>
                    <a:p>
                      <a:pPr algn="l">
                        <a:defRPr sz="1000">
                          <a:solidFill>
                            <a:srgbClr val="242424"/>
                          </a:solidFill>
                        </a:defRPr>
                      </a:pPr>
                      <a:r>
                        <a:t>COS-009</a:t>
                      </a:r>
                    </a:p>
                  </a:txBody>
                  <a:tcPr>
                    <a:solidFill>
                      <a:srgbClr val="FFFFFF"/>
                    </a:solidFill>
                  </a:tcPr>
                </a:tc>
                <a:tc>
                  <a:txBody>
                    <a:bodyPr/>
                    <a:lstStyle/>
                    <a:p>
                      <a:pPr algn="l">
                        <a:defRPr sz="1000" b="1">
                          <a:solidFill>
                            <a:srgbClr val="FFFFFF"/>
                          </a:solidFill>
                        </a:defRPr>
                      </a:pPr>
                      <a:r>
                        <a:t>High</a:t>
                      </a:r>
                    </a:p>
                  </a:txBody>
                  <a:tcPr>
                    <a:solidFill>
                      <a:srgbClr val="E67300"/>
                    </a:solidFill>
                  </a:tcPr>
                </a:tc>
                <a:tc>
                  <a:txBody>
                    <a:bodyPr/>
                    <a:lstStyle/>
                    <a:p>
                      <a:pPr algn="l">
                        <a:defRPr sz="1000">
                          <a:solidFill>
                            <a:srgbClr val="242424"/>
                          </a:solidFill>
                        </a:defRPr>
                      </a:pPr>
                      <a:r>
                        <a:t>Long-running VMs without Reserved Instances</a:t>
                      </a:r>
                    </a:p>
                  </a:txBody>
                  <a:tcPr>
                    <a:solidFill>
                      <a:srgbClr val="FFFFFF"/>
                    </a:solidFill>
                  </a:tcPr>
                </a:tc>
                <a:tc>
                  <a:txBody>
                    <a:bodyPr/>
                    <a:lstStyle/>
                    <a:p>
                      <a:pPr algn="l">
                        <a:defRPr sz="1000">
                          <a:solidFill>
                            <a:srgbClr val="242424"/>
                          </a:solidFill>
                        </a:defRPr>
                      </a:pPr>
                      <a:r>
                        <a:t>Purchase Reserved Instances for VMs running 24/7 to save up to 72% vs pay-as-you-go.</a:t>
                      </a:r>
                    </a:p>
                  </a:txBody>
                  <a:tcPr>
                    <a:solidFill>
                      <a:srgbClr val="FFFFFF"/>
                    </a:solidFill>
                  </a:tcPr>
                </a:tc>
              </a:tr>
              <a:tr h="415636">
                <a:tc>
                  <a:txBody>
                    <a:bodyPr/>
                    <a:lstStyle/>
                    <a:p>
                      <a:pPr algn="l">
                        <a:defRPr sz="1000">
                          <a:solidFill>
                            <a:srgbClr val="242424"/>
                          </a:solidFill>
                        </a:defRPr>
                      </a:pPr>
                      <a:r>
                        <a:t>9</a:t>
                      </a:r>
                    </a:p>
                  </a:txBody>
                  <a:tcPr>
                    <a:solidFill>
                      <a:srgbClr val="FFFFFF"/>
                    </a:solidFill>
                  </a:tcPr>
                </a:tc>
                <a:tc>
                  <a:txBody>
                    <a:bodyPr/>
                    <a:lstStyle/>
                    <a:p>
                      <a:pPr algn="l">
                        <a:defRPr sz="1000">
                          <a:solidFill>
                            <a:srgbClr val="242424"/>
                          </a:solidFill>
                        </a:defRPr>
                      </a:pPr>
                      <a:r>
                        <a:t>COS-014</a:t>
                      </a:r>
                    </a:p>
                  </a:txBody>
                  <a:tcPr>
                    <a:solidFill>
                      <a:srgbClr val="FFFFFF"/>
                    </a:solidFill>
                  </a:tcPr>
                </a:tc>
                <a:tc>
                  <a:txBody>
                    <a:bodyPr/>
                    <a:lstStyle/>
                    <a:p>
                      <a:pPr algn="l">
                        <a:defRPr sz="1000" b="1">
                          <a:solidFill>
                            <a:srgbClr val="FFFFFF"/>
                          </a:solidFill>
                        </a:defRPr>
                      </a:pPr>
                      <a:r>
                        <a:t>High</a:t>
                      </a:r>
                    </a:p>
                  </a:txBody>
                  <a:tcPr>
                    <a:solidFill>
                      <a:srgbClr val="E67300"/>
                    </a:solidFill>
                  </a:tcPr>
                </a:tc>
                <a:tc>
                  <a:txBody>
                    <a:bodyPr/>
                    <a:lstStyle/>
                    <a:p>
                      <a:pPr algn="l">
                        <a:defRPr sz="1000">
                          <a:solidFill>
                            <a:srgbClr val="242424"/>
                          </a:solidFill>
                        </a:defRPr>
                      </a:pPr>
                      <a:r>
                        <a:t>Azure Advisor cost recommendations pending</a:t>
                      </a:r>
                    </a:p>
                  </a:txBody>
                  <a:tcPr>
                    <a:solidFill>
                      <a:srgbClr val="FFFFFF"/>
                    </a:solidFill>
                  </a:tcPr>
                </a:tc>
                <a:tc>
                  <a:txBody>
                    <a:bodyPr/>
                    <a:lstStyle/>
                    <a:p>
                      <a:pPr algn="l">
                        <a:defRPr sz="1000">
                          <a:solidFill>
                            <a:srgbClr val="242424"/>
                          </a:solidFill>
                        </a:defRPr>
                      </a:pPr>
                      <a:r>
                        <a:t>Review and act on Azure Advisor cost recommendations to reduce waste.</a:t>
                      </a:r>
                    </a:p>
                  </a:txBody>
                  <a:tcPr>
                    <a:solidFill>
                      <a:srgbClr val="FFFFFF"/>
                    </a:solidFill>
                  </a:tcPr>
                </a:tc>
              </a:tr>
              <a:tr h="415640">
                <a:tc>
                  <a:txBody>
                    <a:bodyPr/>
                    <a:lstStyle/>
                    <a:p>
                      <a:pPr algn="l">
                        <a:defRPr sz="1000">
                          <a:solidFill>
                            <a:srgbClr val="242424"/>
                          </a:solidFill>
                        </a:defRPr>
                      </a:pPr>
                      <a:r>
                        <a:t>10</a:t>
                      </a:r>
                    </a:p>
                  </a:txBody>
                  <a:tcPr>
                    <a:solidFill>
                      <a:srgbClr val="FFFFFF"/>
                    </a:solidFill>
                  </a:tcPr>
                </a:tc>
                <a:tc>
                  <a:txBody>
                    <a:bodyPr/>
                    <a:lstStyle/>
                    <a:p>
                      <a:pPr algn="l">
                        <a:defRPr sz="1000">
                          <a:solidFill>
                            <a:srgbClr val="242424"/>
                          </a:solidFill>
                        </a:defRPr>
                      </a:pPr>
                      <a:r>
                        <a:t>COS-017</a:t>
                      </a:r>
                    </a:p>
                  </a:txBody>
                  <a:tcPr>
                    <a:solidFill>
                      <a:srgbClr val="FFFFFF"/>
                    </a:solidFill>
                  </a:tcPr>
                </a:tc>
                <a:tc>
                  <a:txBody>
                    <a:bodyPr/>
                    <a:lstStyle/>
                    <a:p>
                      <a:pPr algn="l">
                        <a:defRPr sz="1000" b="1">
                          <a:solidFill>
                            <a:srgbClr val="FFFFFF"/>
                          </a:solidFill>
                        </a:defRPr>
                      </a:pPr>
                      <a:r>
                        <a:t>High</a:t>
                      </a:r>
                    </a:p>
                  </a:txBody>
                  <a:tcPr>
                    <a:solidFill>
                      <a:srgbClr val="E67300"/>
                    </a:solidFill>
                  </a:tcPr>
                </a:tc>
                <a:tc>
                  <a:txBody>
                    <a:bodyPr/>
                    <a:lstStyle/>
                    <a:p>
                      <a:pPr algn="l">
                        <a:defRPr sz="1000">
                          <a:solidFill>
                            <a:srgbClr val="242424"/>
                          </a:solidFill>
                        </a:defRPr>
                      </a:pPr>
                      <a:r>
                        <a:t>Resource groups missing CostCenter tag</a:t>
                      </a:r>
                    </a:p>
                  </a:txBody>
                  <a:tcPr>
                    <a:solidFill>
                      <a:srgbClr val="FFFFFF"/>
                    </a:solidFill>
                  </a:tcPr>
                </a:tc>
                <a:tc>
                  <a:txBody>
                    <a:bodyPr/>
                    <a:lstStyle/>
                    <a:p>
                      <a:pPr algn="l">
                        <a:defRPr sz="1000">
                          <a:solidFill>
                            <a:srgbClr val="242424"/>
                          </a:solidFill>
                        </a:defRPr>
                      </a:pPr>
                      <a:r>
                        <a:t>Apply CostCenter tag to all resource groups for cost allocation and chargeback.</a:t>
                      </a:r>
                    </a:p>
                  </a:txBody>
                  <a:tcPr>
                    <a:solidFill>
                      <a:srgbClr val="FFFFFF"/>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972800" cy="731520"/>
          </a:xfrm>
          <a:prstGeom prst="rect">
            <a:avLst/>
          </a:prstGeom>
          <a:noFill/>
        </p:spPr>
        <p:txBody>
          <a:bodyPr wrap="none">
            <a:spAutoFit/>
          </a:bodyPr>
          <a:lstStyle/>
          <a:p>
            <a:pPr algn="l">
              <a:defRPr sz="2800" b="1">
                <a:solidFill>
                  <a:srgbClr val="242424"/>
                </a:solidFill>
              </a:defRPr>
            </a:pPr>
            <a:r>
              <a:t>Appendix: Full Resource Inventory</a:t>
            </a:r>
          </a:p>
        </p:txBody>
      </p:sp>
      <p:sp>
        <p:nvSpPr>
          <p:cNvPr id="3" name="TextBox 2"/>
          <p:cNvSpPr txBox="1"/>
          <p:nvPr/>
        </p:nvSpPr>
        <p:spPr>
          <a:xfrm>
            <a:off x="8686800" y="6400800"/>
            <a:ext cx="2926080" cy="228600"/>
          </a:xfrm>
          <a:prstGeom prst="rect">
            <a:avLst/>
          </a:prstGeom>
          <a:noFill/>
        </p:spPr>
        <p:txBody>
          <a:bodyPr wrap="none">
            <a:spAutoFit/>
          </a:bodyPr>
          <a:lstStyle/>
          <a:p>
            <a:pPr algn="r">
              <a:defRPr sz="800">
                <a:solidFill>
                  <a:srgbClr val="999999"/>
                </a:solidFill>
                <a:latin typeface="Segoe UI"/>
              </a:defRPr>
            </a:pPr>
            <a:r>
              <a:t>AUTOMATICALLY GENERATED — Please Review</a:t>
            </a:r>
          </a:p>
        </p:txBody>
      </p:sp>
      <p:graphicFrame>
        <p:nvGraphicFramePr>
          <p:cNvPr id="4" name="Table 3"/>
          <p:cNvGraphicFramePr>
            <a:graphicFrameLocks noGrp="1"/>
          </p:cNvGraphicFramePr>
          <p:nvPr/>
        </p:nvGraphicFramePr>
        <p:xfrm>
          <a:off x="914400" y="1371600"/>
          <a:ext cx="7315200" cy="4389120"/>
        </p:xfrm>
        <a:graphic>
          <a:graphicData uri="http://schemas.openxmlformats.org/drawingml/2006/table">
            <a:tbl>
              <a:tblPr firstRow="1" bandRow="1">
                <a:tableStyleId>{5C22544A-7EE6-4342-B048-85BDC9FD1C3A}</a:tableStyleId>
              </a:tblPr>
              <a:tblGrid>
                <a:gridCol w="5486400"/>
                <a:gridCol w="1828800"/>
              </a:tblGrid>
              <a:tr h="274320">
                <a:tc>
                  <a:txBody>
                    <a:bodyPr/>
                    <a:lstStyle/>
                    <a:p>
                      <a:pPr algn="l">
                        <a:defRPr sz="1200" b="1">
                          <a:solidFill>
                            <a:srgbClr val="FFFFFF"/>
                          </a:solidFill>
                        </a:defRPr>
                      </a:pPr>
                      <a:r>
                        <a:t>Resource Type</a:t>
                      </a:r>
                    </a:p>
                  </a:txBody>
                  <a:tcPr>
                    <a:solidFill>
                      <a:srgbClr val="0078D4"/>
                    </a:solidFill>
                  </a:tcPr>
                </a:tc>
                <a:tc>
                  <a:txBody>
                    <a:bodyPr/>
                    <a:lstStyle/>
                    <a:p>
                      <a:pPr algn="l">
                        <a:defRPr sz="1200" b="1">
                          <a:solidFill>
                            <a:srgbClr val="FFFFFF"/>
                          </a:solidFill>
                        </a:defRPr>
                      </a:pPr>
                      <a:r>
                        <a:t>Count</a:t>
                      </a:r>
                    </a:p>
                  </a:txBody>
                  <a:tcPr>
                    <a:solidFill>
                      <a:srgbClr val="0078D4"/>
                    </a:solidFill>
                  </a:tcPr>
                </a:tc>
              </a:tr>
              <a:tr h="274320">
                <a:tc>
                  <a:txBody>
                    <a:bodyPr/>
                    <a:lstStyle/>
                    <a:p>
                      <a:pPr algn="l">
                        <a:defRPr sz="1100">
                          <a:solidFill>
                            <a:srgbClr val="242424"/>
                          </a:solidFill>
                        </a:defRPr>
                      </a:pPr>
                      <a:r>
                        <a:t>microsoft.network/networksecuritygroups</a:t>
                      </a:r>
                    </a:p>
                  </a:txBody>
                  <a:tcPr>
                    <a:solidFill>
                      <a:srgbClr val="FFFFFF"/>
                    </a:solidFill>
                  </a:tcPr>
                </a:tc>
                <a:tc>
                  <a:txBody>
                    <a:bodyPr/>
                    <a:lstStyle/>
                    <a:p>
                      <a:pPr algn="l">
                        <a:defRPr sz="1100">
                          <a:solidFill>
                            <a:srgbClr val="242424"/>
                          </a:solidFill>
                        </a:defRPr>
                      </a:pPr>
                      <a:r>
                        <a:t>15</a:t>
                      </a:r>
                    </a:p>
                  </a:txBody>
                  <a:tcPr>
                    <a:solidFill>
                      <a:srgbClr val="FFFFFF"/>
                    </a:solidFill>
                  </a:tcPr>
                </a:tc>
              </a:tr>
              <a:tr h="274320">
                <a:tc>
                  <a:txBody>
                    <a:bodyPr/>
                    <a:lstStyle/>
                    <a:p>
                      <a:pPr algn="l">
                        <a:defRPr sz="1100">
                          <a:solidFill>
                            <a:srgbClr val="242424"/>
                          </a:solidFill>
                        </a:defRPr>
                      </a:pPr>
                      <a:r>
                        <a:t>microsoft.network/privatednszones/virtualnetworklinks</a:t>
                      </a:r>
                    </a:p>
                  </a:txBody>
                  <a:tcPr>
                    <a:solidFill>
                      <a:srgbClr val="FFFFFF"/>
                    </a:solidFill>
                  </a:tcPr>
                </a:tc>
                <a:tc>
                  <a:txBody>
                    <a:bodyPr/>
                    <a:lstStyle/>
                    <a:p>
                      <a:pPr algn="l">
                        <a:defRPr sz="1100">
                          <a:solidFill>
                            <a:srgbClr val="242424"/>
                          </a:solidFill>
                        </a:defRPr>
                      </a:pPr>
                      <a:r>
                        <a:t>10</a:t>
                      </a:r>
                    </a:p>
                  </a:txBody>
                  <a:tcPr>
                    <a:solidFill>
                      <a:srgbClr val="FFFFFF"/>
                    </a:solidFill>
                  </a:tcPr>
                </a:tc>
              </a:tr>
              <a:tr h="274320">
                <a:tc>
                  <a:txBody>
                    <a:bodyPr/>
                    <a:lstStyle/>
                    <a:p>
                      <a:pPr algn="l">
                        <a:defRPr sz="1100">
                          <a:solidFill>
                            <a:srgbClr val="242424"/>
                          </a:solidFill>
                        </a:defRPr>
                      </a:pPr>
                      <a:r>
                        <a:t>microsoft.network/privatednszones</a:t>
                      </a:r>
                    </a:p>
                  </a:txBody>
                  <a:tcPr>
                    <a:solidFill>
                      <a:srgbClr val="FFFFFF"/>
                    </a:solidFill>
                  </a:tcPr>
                </a:tc>
                <a:tc>
                  <a:txBody>
                    <a:bodyPr/>
                    <a:lstStyle/>
                    <a:p>
                      <a:pPr algn="l">
                        <a:defRPr sz="1100">
                          <a:solidFill>
                            <a:srgbClr val="242424"/>
                          </a:solidFill>
                        </a:defRPr>
                      </a:pPr>
                      <a:r>
                        <a:t>10</a:t>
                      </a:r>
                    </a:p>
                  </a:txBody>
                  <a:tcPr>
                    <a:solidFill>
                      <a:srgbClr val="FFFFFF"/>
                    </a:solidFill>
                  </a:tcPr>
                </a:tc>
              </a:tr>
              <a:tr h="274320">
                <a:tc>
                  <a:txBody>
                    <a:bodyPr/>
                    <a:lstStyle/>
                    <a:p>
                      <a:pPr algn="l">
                        <a:defRPr sz="1100">
                          <a:solidFill>
                            <a:srgbClr val="242424"/>
                          </a:solidFill>
                        </a:defRPr>
                      </a:pPr>
                      <a:r>
                        <a:t>microsoft.network/networkwatchers</a:t>
                      </a:r>
                    </a:p>
                  </a:txBody>
                  <a:tcPr>
                    <a:solidFill>
                      <a:srgbClr val="FFFFFF"/>
                    </a:solidFill>
                  </a:tcPr>
                </a:tc>
                <a:tc>
                  <a:txBody>
                    <a:bodyPr/>
                    <a:lstStyle/>
                    <a:p>
                      <a:pPr algn="l">
                        <a:defRPr sz="1100">
                          <a:solidFill>
                            <a:srgbClr val="242424"/>
                          </a:solidFill>
                        </a:defRPr>
                      </a:pPr>
                      <a:r>
                        <a:t>7</a:t>
                      </a:r>
                    </a:p>
                  </a:txBody>
                  <a:tcPr>
                    <a:solidFill>
                      <a:srgbClr val="FFFFFF"/>
                    </a:solidFill>
                  </a:tcPr>
                </a:tc>
              </a:tr>
              <a:tr h="274320">
                <a:tc>
                  <a:txBody>
                    <a:bodyPr/>
                    <a:lstStyle/>
                    <a:p>
                      <a:pPr algn="l">
                        <a:defRPr sz="1100">
                          <a:solidFill>
                            <a:srgbClr val="242424"/>
                          </a:solidFill>
                        </a:defRPr>
                      </a:pPr>
                      <a:r>
                        <a:t>microsoft.network/virtualnetworks</a:t>
                      </a:r>
                    </a:p>
                  </a:txBody>
                  <a:tcPr>
                    <a:solidFill>
                      <a:srgbClr val="FFFFFF"/>
                    </a:solidFill>
                  </a:tcPr>
                </a:tc>
                <a:tc>
                  <a:txBody>
                    <a:bodyPr/>
                    <a:lstStyle/>
                    <a:p>
                      <a:pPr algn="l">
                        <a:defRPr sz="1100">
                          <a:solidFill>
                            <a:srgbClr val="242424"/>
                          </a:solidFill>
                        </a:defRPr>
                      </a:pPr>
                      <a:r>
                        <a:t>7</a:t>
                      </a:r>
                    </a:p>
                  </a:txBody>
                  <a:tcPr>
                    <a:solidFill>
                      <a:srgbClr val="FFFFFF"/>
                    </a:solidFill>
                  </a:tcPr>
                </a:tc>
              </a:tr>
              <a:tr h="274320">
                <a:tc>
                  <a:txBody>
                    <a:bodyPr/>
                    <a:lstStyle/>
                    <a:p>
                      <a:pPr algn="l">
                        <a:defRPr sz="1100">
                          <a:solidFill>
                            <a:srgbClr val="242424"/>
                          </a:solidFill>
                        </a:defRPr>
                      </a:pPr>
                      <a:r>
                        <a:t>microsoft.insights/actiongroups</a:t>
                      </a:r>
                    </a:p>
                  </a:txBody>
                  <a:tcPr>
                    <a:solidFill>
                      <a:srgbClr val="FFFFFF"/>
                    </a:solidFill>
                  </a:tcPr>
                </a:tc>
                <a:tc>
                  <a:txBody>
                    <a:bodyPr/>
                    <a:lstStyle/>
                    <a:p>
                      <a:pPr algn="l">
                        <a:defRPr sz="1100">
                          <a:solidFill>
                            <a:srgbClr val="242424"/>
                          </a:solidFill>
                        </a:defRPr>
                      </a:pPr>
                      <a:r>
                        <a:t>5</a:t>
                      </a:r>
                    </a:p>
                  </a:txBody>
                  <a:tcPr>
                    <a:solidFill>
                      <a:srgbClr val="FFFFFF"/>
                    </a:solidFill>
                  </a:tcPr>
                </a:tc>
              </a:tr>
              <a:tr h="274320">
                <a:tc>
                  <a:txBody>
                    <a:bodyPr/>
                    <a:lstStyle/>
                    <a:p>
                      <a:pPr algn="l">
                        <a:defRPr sz="1100">
                          <a:solidFill>
                            <a:srgbClr val="242424"/>
                          </a:solidFill>
                        </a:defRPr>
                      </a:pPr>
                      <a:r>
                        <a:t>microsoft.storage/storageaccounts</a:t>
                      </a:r>
                    </a:p>
                  </a:txBody>
                  <a:tcPr>
                    <a:solidFill>
                      <a:srgbClr val="FFFFFF"/>
                    </a:solidFill>
                  </a:tcPr>
                </a:tc>
                <a:tc>
                  <a:txBody>
                    <a:bodyPr/>
                    <a:lstStyle/>
                    <a:p>
                      <a:pPr algn="l">
                        <a:defRPr sz="1100">
                          <a:solidFill>
                            <a:srgbClr val="242424"/>
                          </a:solidFill>
                        </a:defRPr>
                      </a:pPr>
                      <a:r>
                        <a:t>5</a:t>
                      </a:r>
                    </a:p>
                  </a:txBody>
                  <a:tcPr>
                    <a:solidFill>
                      <a:srgbClr val="FFFFFF"/>
                    </a:solidFill>
                  </a:tcPr>
                </a:tc>
              </a:tr>
              <a:tr h="274320">
                <a:tc>
                  <a:txBody>
                    <a:bodyPr/>
                    <a:lstStyle/>
                    <a:p>
                      <a:pPr algn="l">
                        <a:defRPr sz="1100">
                          <a:solidFill>
                            <a:srgbClr val="242424"/>
                          </a:solidFill>
                        </a:defRPr>
                      </a:pPr>
                      <a:r>
                        <a:t>microsoft.eventgrid/systemtopics</a:t>
                      </a:r>
                    </a:p>
                  </a:txBody>
                  <a:tcPr>
                    <a:solidFill>
                      <a:srgbClr val="FFFFFF"/>
                    </a:solidFill>
                  </a:tcPr>
                </a:tc>
                <a:tc>
                  <a:txBody>
                    <a:bodyPr/>
                    <a:lstStyle/>
                    <a:p>
                      <a:pPr algn="l">
                        <a:defRPr sz="1100">
                          <a:solidFill>
                            <a:srgbClr val="242424"/>
                          </a:solidFill>
                        </a:defRPr>
                      </a:pPr>
                      <a:r>
                        <a:t>5</a:t>
                      </a:r>
                    </a:p>
                  </a:txBody>
                  <a:tcPr>
                    <a:solidFill>
                      <a:srgbClr val="FFFFFF"/>
                    </a:solidFill>
                  </a:tcPr>
                </a:tc>
              </a:tr>
              <a:tr h="274320">
                <a:tc>
                  <a:txBody>
                    <a:bodyPr/>
                    <a:lstStyle/>
                    <a:p>
                      <a:pPr algn="l">
                        <a:defRPr sz="1100">
                          <a:solidFill>
                            <a:srgbClr val="242424"/>
                          </a:solidFill>
                        </a:defRPr>
                      </a:pPr>
                      <a:r>
                        <a:t>microsoft.logic/workflows</a:t>
                      </a:r>
                    </a:p>
                  </a:txBody>
                  <a:tcPr>
                    <a:solidFill>
                      <a:srgbClr val="FFFFFF"/>
                    </a:solidFill>
                  </a:tcPr>
                </a:tc>
                <a:tc>
                  <a:txBody>
                    <a:bodyPr/>
                    <a:lstStyle/>
                    <a:p>
                      <a:pPr algn="l">
                        <a:defRPr sz="1100">
                          <a:solidFill>
                            <a:srgbClr val="242424"/>
                          </a:solidFill>
                        </a:defRPr>
                      </a:pPr>
                      <a:r>
                        <a:t>4</a:t>
                      </a:r>
                    </a:p>
                  </a:txBody>
                  <a:tcPr>
                    <a:solidFill>
                      <a:srgbClr val="FFFFFF"/>
                    </a:solidFill>
                  </a:tcPr>
                </a:tc>
              </a:tr>
              <a:tr h="274320">
                <a:tc>
                  <a:txBody>
                    <a:bodyPr/>
                    <a:lstStyle/>
                    <a:p>
                      <a:pPr algn="l">
                        <a:defRPr sz="1100">
                          <a:solidFill>
                            <a:srgbClr val="242424"/>
                          </a:solidFill>
                        </a:defRPr>
                      </a:pPr>
                      <a:r>
                        <a:t>microsoft.automation/automationaccounts</a:t>
                      </a:r>
                    </a:p>
                  </a:txBody>
                  <a:tcPr>
                    <a:solidFill>
                      <a:srgbClr val="FFFFFF"/>
                    </a:solidFill>
                  </a:tcPr>
                </a:tc>
                <a:tc>
                  <a:txBody>
                    <a:bodyPr/>
                    <a:lstStyle/>
                    <a:p>
                      <a:pPr algn="l">
                        <a:defRPr sz="1100">
                          <a:solidFill>
                            <a:srgbClr val="242424"/>
                          </a:solidFill>
                        </a:defRPr>
                      </a:pPr>
                      <a:r>
                        <a:t>3</a:t>
                      </a:r>
                    </a:p>
                  </a:txBody>
                  <a:tcPr>
                    <a:solidFill>
                      <a:srgbClr val="FFFFFF"/>
                    </a:solidFill>
                  </a:tcPr>
                </a:tc>
              </a:tr>
              <a:tr h="274320">
                <a:tc>
                  <a:txBody>
                    <a:bodyPr/>
                    <a:lstStyle/>
                    <a:p>
                      <a:pPr algn="l">
                        <a:defRPr sz="1100">
                          <a:solidFill>
                            <a:srgbClr val="242424"/>
                          </a:solidFill>
                        </a:defRPr>
                      </a:pPr>
                      <a:r>
                        <a:t>microsoft.managedidentity/userassignedidentities</a:t>
                      </a:r>
                    </a:p>
                  </a:txBody>
                  <a:tcPr>
                    <a:solidFill>
                      <a:srgbClr val="FFFFFF"/>
                    </a:solidFill>
                  </a:tcPr>
                </a:tc>
                <a:tc>
                  <a:txBody>
                    <a:bodyPr/>
                    <a:lstStyle/>
                    <a:p>
                      <a:pPr algn="l">
                        <a:defRPr sz="1100">
                          <a:solidFill>
                            <a:srgbClr val="242424"/>
                          </a:solidFill>
                        </a:defRPr>
                      </a:pPr>
                      <a:r>
                        <a:t>3</a:t>
                      </a:r>
                    </a:p>
                  </a:txBody>
                  <a:tcPr>
                    <a:solidFill>
                      <a:srgbClr val="FFFFFF"/>
                    </a:solidFill>
                  </a:tcPr>
                </a:tc>
              </a:tr>
              <a:tr h="274320">
                <a:tc>
                  <a:txBody>
                    <a:bodyPr/>
                    <a:lstStyle/>
                    <a:p>
                      <a:pPr algn="l">
                        <a:defRPr sz="1100">
                          <a:solidFill>
                            <a:srgbClr val="242424"/>
                          </a:solidFill>
                        </a:defRPr>
                      </a:pPr>
                      <a:r>
                        <a:t>microsoft.automation/automationaccounts/runbooks</a:t>
                      </a:r>
                    </a:p>
                  </a:txBody>
                  <a:tcPr>
                    <a:solidFill>
                      <a:srgbClr val="FFFFFF"/>
                    </a:solidFill>
                  </a:tcPr>
                </a:tc>
                <a:tc>
                  <a:txBody>
                    <a:bodyPr/>
                    <a:lstStyle/>
                    <a:p>
                      <a:pPr algn="l">
                        <a:defRPr sz="1100">
                          <a:solidFill>
                            <a:srgbClr val="242424"/>
                          </a:solidFill>
                        </a:defRPr>
                      </a:pPr>
                      <a:r>
                        <a:t>3</a:t>
                      </a:r>
                    </a:p>
                  </a:txBody>
                  <a:tcPr>
                    <a:solidFill>
                      <a:srgbClr val="FFFFFF"/>
                    </a:solidFill>
                  </a:tcPr>
                </a:tc>
              </a:tr>
              <a:tr h="274320">
                <a:tc>
                  <a:txBody>
                    <a:bodyPr/>
                    <a:lstStyle/>
                    <a:p>
                      <a:pPr algn="l">
                        <a:defRPr sz="1100">
                          <a:solidFill>
                            <a:srgbClr val="242424"/>
                          </a:solidFill>
                        </a:defRPr>
                      </a:pPr>
                      <a:r>
                        <a:t>microsoft.network/bastionhosts</a:t>
                      </a:r>
                    </a:p>
                  </a:txBody>
                  <a:tcPr>
                    <a:solidFill>
                      <a:srgbClr val="FFFFFF"/>
                    </a:solidFill>
                  </a:tcPr>
                </a:tc>
                <a:tc>
                  <a:txBody>
                    <a:bodyPr/>
                    <a:lstStyle/>
                    <a:p>
                      <a:pPr algn="l">
                        <a:defRPr sz="1100">
                          <a:solidFill>
                            <a:srgbClr val="242424"/>
                          </a:solidFill>
                        </a:defRPr>
                      </a:pPr>
                      <a:r>
                        <a:t>2</a:t>
                      </a:r>
                    </a:p>
                  </a:txBody>
                  <a:tcPr>
                    <a:solidFill>
                      <a:srgbClr val="FFFFFF"/>
                    </a:solidFill>
                  </a:tcPr>
                </a:tc>
              </a:tr>
              <a:tr h="274320">
                <a:tc>
                  <a:txBody>
                    <a:bodyPr/>
                    <a:lstStyle/>
                    <a:p>
                      <a:pPr algn="l">
                        <a:defRPr sz="1100">
                          <a:solidFill>
                            <a:srgbClr val="242424"/>
                          </a:solidFill>
                        </a:defRPr>
                      </a:pPr>
                      <a:r>
                        <a:t>microsoft.operationalinsights/workspaces</a:t>
                      </a:r>
                    </a:p>
                  </a:txBody>
                  <a:tcPr>
                    <a:solidFill>
                      <a:srgbClr val="FFFFFF"/>
                    </a:solidFill>
                  </a:tcPr>
                </a:tc>
                <a:tc>
                  <a:txBody>
                    <a:bodyPr/>
                    <a:lstStyle/>
                    <a:p>
                      <a:pPr algn="l">
                        <a:defRPr sz="1100">
                          <a:solidFill>
                            <a:srgbClr val="242424"/>
                          </a:solidFill>
                        </a:defRPr>
                      </a:pPr>
                      <a:r>
                        <a:t>2</a:t>
                      </a:r>
                    </a:p>
                  </a:txBody>
                  <a:tcPr>
                    <a:solidFill>
                      <a:srgbClr val="FFFFFF"/>
                    </a:solidFill>
                  </a:tcPr>
                </a:tc>
              </a:tr>
              <a:tr h="274320">
                <a:tc>
                  <a:txBody>
                    <a:bodyPr/>
                    <a:lstStyle/>
                    <a:p>
                      <a:pPr algn="l">
                        <a:defRPr sz="1100">
                          <a:solidFill>
                            <a:srgbClr val="242424"/>
                          </a:solidFill>
                        </a:defRPr>
                      </a:pPr>
                      <a:r>
                        <a:t>microsoft.network/networkinterfaces</a:t>
                      </a:r>
                    </a:p>
                  </a:txBody>
                  <a:tcPr>
                    <a:solidFill>
                      <a:srgbClr val="FFFFFF"/>
                    </a:solidFill>
                  </a:tcPr>
                </a:tc>
                <a:tc>
                  <a:txBody>
                    <a:bodyPr/>
                    <a:lstStyle/>
                    <a:p>
                      <a:pPr algn="l">
                        <a:defRPr sz="1100">
                          <a:solidFill>
                            <a:srgbClr val="242424"/>
                          </a:solidFill>
                        </a:defRPr>
                      </a:pPr>
                      <a:r>
                        <a:t>2</a:t>
                      </a:r>
                    </a:p>
                  </a:txBody>
                  <a:tcPr>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